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69" y="960120"/>
            <a:ext cx="6667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Helvetica Neue"/>
              </a:rPr>
              <a:t>ACON X DELL PRO MAX GB10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" y="1874519"/>
            <a:ext cx="853442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>
                <a:solidFill>
                  <a:srgbClr val="141413"/>
                </a:solidFill>
                <a:latin typeface="Helvetica Neue"/>
              </a:rPr>
              <a:t>Automated 3D building generation, entirely on-premises.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1969" y="4526280"/>
            <a:ext cx="2667007" cy="10972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1969" y="4800600"/>
            <a:ext cx="613411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>
                <a:solidFill>
                  <a:srgbClr val="77736C"/>
                </a:solidFill>
                <a:latin typeface="Helvetica Neue"/>
              </a:rPr>
              <a:t>Drawings in, measured 3D out. Qwen-VL running locally on Dell Pro Max with GB10 — no Gemini, no cloud.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" y="6035040"/>
            <a:ext cx="40005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77736C"/>
                </a:solidFill>
                <a:latin typeface="Helvetica Neue"/>
              </a:rPr>
              <a:t>Integration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2992" y="6035040"/>
            <a:ext cx="26670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77736C"/>
                </a:solidFill>
                <a:latin typeface="Helvetica Neue"/>
              </a:rP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69" y="6291072"/>
            <a:ext cx="533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77736C"/>
                </a:solidFill>
                <a:latin typeface="Helvetica Neue"/>
              </a:rPr>
              <a:t>Acon x Dell Pro Max GB10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96496" y="6291072"/>
            <a:ext cx="13335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77736C"/>
                </a:solidFill>
                <a:latin typeface="Helvetica Neue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" y="1828800"/>
            <a:ext cx="9334526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400" b="1">
                <a:solidFill>
                  <a:srgbClr val="141413"/>
                </a:solidFill>
                <a:latin typeface="Helvetica Neue"/>
              </a:rPr>
              <a:t>Nothing on the market does this without sending your drawings to someone else's cloud.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69" y="5806440"/>
            <a:ext cx="80010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77736C"/>
                </a:solidFill>
                <a:latin typeface="Helvetica Neue"/>
              </a:rPr>
              <a:t>Acon · automated document-to-3D · NVIDIA GB10 Grace Blackwell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69" y="6291072"/>
            <a:ext cx="533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77736C"/>
                </a:solidFill>
                <a:latin typeface="Helvetica Neue"/>
              </a:rPr>
              <a:t>Acon x Dell Pro Max GB10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96496" y="6291072"/>
            <a:ext cx="13335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77736C"/>
                </a:solidFill>
                <a:latin typeface="Helvetica Neue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" y="761969"/>
            <a:ext cx="6667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Helvetica Neue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69" y="1234440"/>
            <a:ext cx="53340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>
                <a:solidFill>
                  <a:srgbClr val="141413"/>
                </a:solidFill>
                <a:latin typeface="Helvetica Neue"/>
              </a:rPr>
              <a:t>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969" y="2002536"/>
            <a:ext cx="8801125" cy="10972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969" y="2148840"/>
            <a:ext cx="9334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Helvetica Neu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772" y="2121408"/>
            <a:ext cx="320040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1">
                <a:solidFill>
                  <a:srgbClr val="141413"/>
                </a:solidFill>
                <a:latin typeface="Helvetica Neue"/>
              </a:rPr>
              <a:t>The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95882" y="2148840"/>
            <a:ext cx="42672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77736C"/>
                </a:solidFill>
                <a:latin typeface="Helvetica Neue"/>
              </a:rPr>
              <a:t>What Acon does today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1969" y="2660904"/>
            <a:ext cx="8801125" cy="10972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1969" y="2807208"/>
            <a:ext cx="9334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Helvetica Neue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772" y="2779776"/>
            <a:ext cx="320040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1">
                <a:solidFill>
                  <a:srgbClr val="141413"/>
                </a:solidFill>
                <a:latin typeface="Helvetica Neue"/>
              </a:rPr>
              <a:t>The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95882" y="2807208"/>
            <a:ext cx="42672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77736C"/>
                </a:solidFill>
                <a:latin typeface="Helvetica Neue"/>
              </a:rPr>
              <a:t>Why this category is empty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1969" y="3319272"/>
            <a:ext cx="8801125" cy="10972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1969" y="3465576"/>
            <a:ext cx="9334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Helvetica Neue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772" y="3438144"/>
            <a:ext cx="320040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1">
                <a:solidFill>
                  <a:srgbClr val="141413"/>
                </a:solidFill>
                <a:latin typeface="Helvetica Neue"/>
              </a:rPr>
              <a:t>The constraint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95882" y="3465576"/>
            <a:ext cx="42672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77736C"/>
                </a:solidFill>
                <a:latin typeface="Helvetica Neue"/>
              </a:rPr>
              <a:t>Confidential drawings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1969" y="3977639"/>
            <a:ext cx="8801125" cy="10972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1969" y="4123944"/>
            <a:ext cx="9334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Helvetica Neue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772" y="4096511"/>
            <a:ext cx="320040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1">
                <a:solidFill>
                  <a:srgbClr val="141413"/>
                </a:solidFill>
                <a:latin typeface="Helvetica Neue"/>
              </a:rPr>
              <a:t>The machine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95882" y="4123944"/>
            <a:ext cx="42672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77736C"/>
                </a:solidFill>
                <a:latin typeface="Helvetica Neue"/>
              </a:rPr>
              <a:t>Dell Pro Max with GB10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1969" y="4636007"/>
            <a:ext cx="8801125" cy="10972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969" y="4782312"/>
            <a:ext cx="9334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Helvetica Neue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772" y="4754879"/>
            <a:ext cx="320040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1">
                <a:solidFill>
                  <a:srgbClr val="141413"/>
                </a:solidFill>
                <a:latin typeface="Helvetica Neue"/>
              </a:rPr>
              <a:t>The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95882" y="4782312"/>
            <a:ext cx="42672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77736C"/>
                </a:solidFill>
                <a:latin typeface="Helvetica Neue"/>
              </a:rPr>
              <a:t>Qwen-VL, running locally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1969" y="5294375"/>
            <a:ext cx="8801125" cy="10972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1969" y="5440679"/>
            <a:ext cx="9334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Helvetica Neue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772" y="5413247"/>
            <a:ext cx="320040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1">
                <a:solidFill>
                  <a:srgbClr val="141413"/>
                </a:solidFill>
                <a:latin typeface="Helvetica Neue"/>
              </a:rPr>
              <a:t>The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5882" y="5440679"/>
            <a:ext cx="42672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77736C"/>
                </a:solidFill>
                <a:latin typeface="Helvetica Neue"/>
              </a:rPr>
              <a:t>Ship path, risks, and the ask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69" y="6291072"/>
            <a:ext cx="533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8A867E"/>
                </a:solidFill>
                <a:latin typeface="Helvetica Neue"/>
              </a:rPr>
              <a:t>Acon x Dell Pro Max GB10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96496" y="6291072"/>
            <a:ext cx="13335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8A867E"/>
                </a:solidFill>
                <a:latin typeface="Helvetica Neue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" y="2377440"/>
            <a:ext cx="266700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6400" b="1">
                <a:solidFill>
                  <a:srgbClr val="F4F2ED"/>
                </a:solidFill>
                <a:latin typeface="Helvetica Neue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69" y="3794760"/>
            <a:ext cx="1600204" cy="2743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969" y="4114800"/>
            <a:ext cx="66675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600" b="1">
                <a:solidFill>
                  <a:srgbClr val="F4F2ED"/>
                </a:solidFill>
                <a:latin typeface="Helvetica Neue"/>
              </a:rPr>
              <a:t>The product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69" y="6291072"/>
            <a:ext cx="533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77736C"/>
                </a:solidFill>
                <a:latin typeface="Helvetica Neue"/>
              </a:rPr>
              <a:t>Acon x Dell Pro Max GB10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96496" y="6291072"/>
            <a:ext cx="13335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77736C"/>
                </a:solidFill>
                <a:latin typeface="Helvetica Neue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" y="761969"/>
            <a:ext cx="6667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Helvetica Neue"/>
              </a:rPr>
              <a:t>01 — 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69" y="1234440"/>
            <a:ext cx="586741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>
                <a:solidFill>
                  <a:srgbClr val="141413"/>
                </a:solidFill>
                <a:latin typeface="Helvetica Neue"/>
              </a:rPr>
              <a:t>A prompt or a drawing set becomes a measured building.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" y="2880360"/>
            <a:ext cx="533401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77736C"/>
                </a:solidFill>
                <a:latin typeface="Helvetica Neue"/>
              </a:rPr>
              <a:t>Acon is a construction orchestrator, not a CAD plugin. It reads intent — “a Walmart supercenter”, “a two-storey clinic” — or ingests uploaded sheets, and returns a strict JSON spec: footprint, massing bands, zones, storey heights, MEP runs. The scene compiles that spec into 3D. The model never authors geometry; it only ever emits the schema.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29488" y="1280160"/>
            <a:ext cx="4000511" cy="10972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29488" y="1463040"/>
            <a:ext cx="400051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141413"/>
                </a:solidFill>
                <a:latin typeface="Helvetica Neue"/>
              </a:rPr>
              <a:t>IN THE PRODUCT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488" y="1965960"/>
            <a:ext cx="400051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77736C"/>
                </a:solidFill>
                <a:latin typeface="Helvetica Neue"/>
              </a:rPr>
              <a:t>Construct — prompt to building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488" y="2532888"/>
            <a:ext cx="400051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77736C"/>
                </a:solidFill>
                <a:latin typeface="Helvetica Neue"/>
              </a:rPr>
              <a:t>Extract — PDF, DWG, or scan to draft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488" y="3099816"/>
            <a:ext cx="400051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77736C"/>
                </a:solidFill>
                <a:latin typeface="Helvetica Neue"/>
              </a:rPr>
              <a:t>Edit — natural-language changes on the live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488" y="3666744"/>
            <a:ext cx="400051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77736C"/>
                </a:solidFill>
                <a:latin typeface="Helvetica Neue"/>
              </a:rPr>
              <a:t>Explain — query the model on screen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488" y="4233672"/>
            <a:ext cx="400051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77736C"/>
                </a:solidFill>
                <a:latin typeface="Helvetica Neue"/>
              </a:rPr>
              <a:t>GIS — address to measured envelope, no LLM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69" y="6291072"/>
            <a:ext cx="533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77736C"/>
                </a:solidFill>
                <a:latin typeface="Helvetica Neue"/>
              </a:rPr>
              <a:t>Acon x Dell Pro Max GB10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96496" y="6291072"/>
            <a:ext cx="13335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77736C"/>
                </a:solidFill>
                <a:latin typeface="Helvetica Neue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" y="1828800"/>
            <a:ext cx="9334526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400" b="1">
                <a:solidFill>
                  <a:srgbClr val="141413"/>
                </a:solidFill>
                <a:latin typeface="Helvetica Neue"/>
              </a:rPr>
              <a:t>“Automated” is the word doing the 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69" y="4480560"/>
            <a:ext cx="1866905" cy="10972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969" y="4754880"/>
            <a:ext cx="58674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77736C"/>
                </a:solidFill>
                <a:latin typeface="Helvetica Neue"/>
              </a:rPr>
              <a:t>Not assisted. No modelling session, no template library, no drafter in the loop. One pass from document to dimensioned 3D — and the result is editable, not a render.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69" y="6291072"/>
            <a:ext cx="533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8A867E"/>
                </a:solidFill>
                <a:latin typeface="Helvetica Neue"/>
              </a:rPr>
              <a:t>Acon x Dell Pro Max GB10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96496" y="6291072"/>
            <a:ext cx="13335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8A867E"/>
                </a:solidFill>
                <a:latin typeface="Helvetica Neue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" y="2377440"/>
            <a:ext cx="266700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6400" b="1">
                <a:solidFill>
                  <a:srgbClr val="F4F2ED"/>
                </a:solidFill>
                <a:latin typeface="Helvetica Neue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69" y="3794760"/>
            <a:ext cx="1600204" cy="2743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969" y="4114800"/>
            <a:ext cx="66675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600" b="1">
                <a:solidFill>
                  <a:srgbClr val="F4F2ED"/>
                </a:solidFill>
                <a:latin typeface="Helvetica Neue"/>
              </a:rPr>
              <a:t>The gap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69" y="6291072"/>
            <a:ext cx="533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77736C"/>
                </a:solidFill>
                <a:latin typeface="Helvetica Neue"/>
              </a:rPr>
              <a:t>Acon x Dell Pro Max GB10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96496" y="6291072"/>
            <a:ext cx="13335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77736C"/>
                </a:solidFill>
                <a:latin typeface="Helvetica Neue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" y="761969"/>
            <a:ext cx="6667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Helvetica Neue"/>
              </a:rPr>
              <a:t>02 — THE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69" y="1188720"/>
            <a:ext cx="733427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>
                <a:solidFill>
                  <a:srgbClr val="141413"/>
                </a:solidFill>
                <a:latin typeface="Helvetica Neue"/>
              </a:rPr>
              <a:t>Nothing occupies this cell.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969" y="2468880"/>
            <a:ext cx="2190566" cy="201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969" y="2697480"/>
            <a:ext cx="21174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>
                <a:solidFill>
                  <a:srgbClr val="141413"/>
                </a:solidFill>
                <a:latin typeface="Helvetica Neue"/>
              </a:rPr>
              <a:t>01 · BIM authoring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69" y="3246120"/>
            <a:ext cx="207169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7736C"/>
                </a:solidFill>
                <a:latin typeface="Helvetica Neue"/>
              </a:rPr>
              <a:t>Revit, Archicad. Powerful and manual: a human models the building. The AI features that exist are cloud add-ons.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22284" y="2468880"/>
            <a:ext cx="2190566" cy="201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22284" y="2697480"/>
            <a:ext cx="21174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>
                <a:solidFill>
                  <a:srgbClr val="141413"/>
                </a:solidFill>
                <a:latin typeface="Helvetica Neue"/>
              </a:rPr>
              <a:t>02 · Generative site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2284" y="3246120"/>
            <a:ext cx="207169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7736C"/>
                </a:solidFill>
                <a:latin typeface="Helvetica Neue"/>
              </a:rPr>
              <a:t>TestFit, Autodesk Forma. Parametric massing for feasibility. They don't read your issued drawing set, and they run as SaaS.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82598" y="2468880"/>
            <a:ext cx="2190566" cy="201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82598" y="2697480"/>
            <a:ext cx="21174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>
                <a:solidFill>
                  <a:srgbClr val="141413"/>
                </a:solidFill>
                <a:latin typeface="Helvetica Neue"/>
              </a:rPr>
              <a:t>03 · LLM chat products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82598" y="3246120"/>
            <a:ext cx="207169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7736C"/>
                </a:solidFill>
                <a:latin typeface="Helvetica Neue"/>
              </a:rPr>
              <a:t>Will happily describe a building. Won't return a dimensioned, editable model — and the weights are always hosted.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42913" y="2468880"/>
            <a:ext cx="2190566" cy="201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2913" y="2697480"/>
            <a:ext cx="21174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>
                <a:solidFill>
                  <a:srgbClr val="141413"/>
                </a:solidFill>
                <a:latin typeface="Helvetica Neue"/>
              </a:rPr>
              <a:t>04 · Scan-to-BIM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2913" y="3246120"/>
            <a:ext cx="207169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7736C"/>
                </a:solidFill>
                <a:latin typeface="Helvetica Neue"/>
              </a:rPr>
              <a:t>Accurate, but a paid service with turnaround in days, and your files leave the firm to get there.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969" y="5760720"/>
            <a:ext cx="906782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77736C"/>
                </a:solidFill>
                <a:latin typeface="Helvetica Neue"/>
              </a:rPr>
              <a:t>The empty cell is ours: automated document-to-3D, executing on hardware the firm owns.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69" y="6291072"/>
            <a:ext cx="533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8A867E"/>
                </a:solidFill>
                <a:latin typeface="Helvetica Neue"/>
              </a:rPr>
              <a:t>Acon x Dell Pro Max GB10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96496" y="6291072"/>
            <a:ext cx="13335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8A867E"/>
                </a:solidFill>
                <a:latin typeface="Helvetica Neue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" y="2377440"/>
            <a:ext cx="266700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6400" b="1">
                <a:solidFill>
                  <a:srgbClr val="F4F2ED"/>
                </a:solidFill>
                <a:latin typeface="Helvetica Neue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69" y="3794760"/>
            <a:ext cx="1600204" cy="2743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969" y="4114800"/>
            <a:ext cx="66675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600" b="1">
                <a:solidFill>
                  <a:srgbClr val="F4F2ED"/>
                </a:solidFill>
                <a:latin typeface="Helvetica Neue"/>
              </a:rPr>
              <a:t>The constraint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69" y="6291072"/>
            <a:ext cx="533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77736C"/>
                </a:solidFill>
                <a:latin typeface="Helvetica Neue"/>
              </a:rPr>
              <a:t>Acon x Dell Pro Max GB10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96496" y="6291072"/>
            <a:ext cx="13335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77736C"/>
                </a:solidFill>
                <a:latin typeface="Helvetica Neue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" y="761969"/>
            <a:ext cx="6667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Helvetica Neue"/>
              </a:rPr>
              <a:t>03 — THE CONSTRAINT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69" y="1188720"/>
            <a:ext cx="733427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>
                <a:solidFill>
                  <a:srgbClr val="141413"/>
                </a:solidFill>
                <a:latin typeface="Helvetica Neue"/>
              </a:rPr>
              <a:t>Three reasons the cloud planner cannot stay.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969" y="2468880"/>
            <a:ext cx="2957330" cy="201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969" y="2697480"/>
            <a:ext cx="28841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>
                <a:solidFill>
                  <a:srgbClr val="141413"/>
                </a:solidFill>
                <a:latin typeface="Helvetica Neue"/>
              </a:rPr>
              <a:t>01 · The drawings are privileged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69" y="3246120"/>
            <a:ext cx="2838458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7736C"/>
                </a:solidFill>
                <a:latin typeface="Helvetica Neue"/>
              </a:rPr>
              <a:t>Blueprints, structural sets, tender documents, and client site data are contract-confidential. Many carry NDAs that prohibit third-party processing outright.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89048" y="2468880"/>
            <a:ext cx="2957330" cy="201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89048" y="2697480"/>
            <a:ext cx="28841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>
                <a:solidFill>
                  <a:srgbClr val="141413"/>
                </a:solidFill>
                <a:latin typeface="Helvetica Neue"/>
              </a:rPr>
              <a:t>02 · The planner is in someone else's cloud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89048" y="3246120"/>
            <a:ext cx="2838458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7736C"/>
                </a:solidFill>
                <a:latin typeface="Helvetica Neue"/>
              </a:rPr>
              <a:t>Acon's agent calls google/gemini-3.5-flash through Replicate. Every turn ships project context off-network.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16127" y="2468880"/>
            <a:ext cx="2957330" cy="201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16127" y="2697480"/>
            <a:ext cx="28841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>
                <a:solidFill>
                  <a:srgbClr val="141413"/>
                </a:solidFill>
                <a:latin typeface="Helvetica Neue"/>
              </a:rPr>
              <a:t>03 · Manual modelling is the bottleneck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6127" y="3246120"/>
            <a:ext cx="2838458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7736C"/>
                </a:solidFill>
                <a:latin typeface="Helvetica Neue"/>
              </a:rPr>
              <a:t>Turning a received sheet set into a workable 3D model is days of drafter time — and it repeats on every revision.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69" y="6291072"/>
            <a:ext cx="533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77736C"/>
                </a:solidFill>
                <a:latin typeface="Helvetica Neue"/>
              </a:rPr>
              <a:t>Acon x Dell Pro Max GB10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96496" y="6291072"/>
            <a:ext cx="13335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77736C"/>
                </a:solidFill>
                <a:latin typeface="Helvetica Neue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" y="761969"/>
            <a:ext cx="6667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Helvetica Neue"/>
              </a:rPr>
              <a:t>03 — THE CONSTRAINT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69" y="1188720"/>
            <a:ext cx="613411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>
                <a:solidFill>
                  <a:srgbClr val="141413"/>
                </a:solidFill>
                <a:latin typeface="Helvetica Neue"/>
              </a:rPr>
              <a:t>The software has to live inside the firm.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969" y="2478024"/>
            <a:ext cx="8801125" cy="10972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969" y="2606040"/>
            <a:ext cx="8534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77736C"/>
                </a:solidFill>
                <a:latin typeface="Helvetica Neue"/>
              </a:rPr>
              <a:t>No drawing, sheet, or site coordinate leaves the office network. Inference happens on a box in the building.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1969" y="3191256"/>
            <a:ext cx="8801125" cy="10972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1969" y="3319272"/>
            <a:ext cx="8534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77736C"/>
                </a:solidFill>
                <a:latin typeface="Helvetica Neue"/>
              </a:rPr>
              <a:t>No third-party processor to disclose in a client agreement. Nothing to add to a DPA, nothing to indemnify.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1969" y="3904488"/>
            <a:ext cx="8801125" cy="10972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1969" y="4032504"/>
            <a:ext cx="8534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77736C"/>
                </a:solidFill>
                <a:latin typeface="Helvetica Neue"/>
              </a:rPr>
              <a:t>Prompts and outputs are nobody's training data. There is no retention policy to take on trust.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1969" y="4617720"/>
            <a:ext cx="8801125" cy="10972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969" y="4745736"/>
            <a:ext cx="8534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77736C"/>
                </a:solidFill>
                <a:latin typeface="Helvetica Neue"/>
              </a:rPr>
              <a:t>It works when the network doesn't: site trailers, secure floors, air-gapped review sessions.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1969" y="5330952"/>
            <a:ext cx="8801125" cy="10972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1969" y="5458968"/>
            <a:ext cx="8534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77736C"/>
                </a:solidFill>
                <a:latin typeface="Helvetica Neue"/>
              </a:rPr>
              <a:t>Deployment stays internal — firm-issued machines talking to a firm-owned appliance. No per-seat licence, no per-revision invoice.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69" y="6291072"/>
            <a:ext cx="533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8A867E"/>
                </a:solidFill>
                <a:latin typeface="Helvetica Neue"/>
              </a:rPr>
              <a:t>Acon x Dell Pro Max GB10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96496" y="6291072"/>
            <a:ext cx="13335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8A867E"/>
                </a:solidFill>
                <a:latin typeface="Helvetica Neue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" y="2377440"/>
            <a:ext cx="266700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6400" b="1">
                <a:solidFill>
                  <a:srgbClr val="F4F2ED"/>
                </a:solidFill>
                <a:latin typeface="Helvetica Neue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69" y="3794760"/>
            <a:ext cx="1600204" cy="2743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969" y="4114800"/>
            <a:ext cx="66675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600" b="1">
                <a:solidFill>
                  <a:srgbClr val="F4F2ED"/>
                </a:solidFill>
                <a:latin typeface="Helvetica Neue"/>
              </a:rPr>
              <a:t>The approach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69" y="6291072"/>
            <a:ext cx="533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77736C"/>
                </a:solidFill>
                <a:latin typeface="Helvetica Neue"/>
              </a:rPr>
              <a:t>Acon x Dell Pro Max GB10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96496" y="6291072"/>
            <a:ext cx="13335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77736C"/>
                </a:solidFill>
                <a:latin typeface="Helvetica Neue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" y="761969"/>
            <a:ext cx="6667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Helvetica Neue"/>
              </a:rPr>
              <a:t>04 — THE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69" y="1234440"/>
            <a:ext cx="586741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>
                <a:solidFill>
                  <a:srgbClr val="141413"/>
                </a:solidFill>
                <a:latin typeface="Helvetica Neue"/>
              </a:rPr>
              <a:t>Qwen-VL on Dell Pro Max with GB10.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" y="2880360"/>
            <a:ext cx="533401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77736C"/>
                </a:solidFill>
                <a:latin typeface="Helvetica Neue"/>
              </a:rPr>
              <a:t>Keep the entire product — chat, spec compiler, Three.js scene, GIS path. Replace exactly one hop: the planner. Gemini on Replicate comes out, and a local vision-language model on a desk-side Grace Blackwell appliance goes in. Same JSON contract, same system prompt, same schema validation.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29488" y="1280160"/>
            <a:ext cx="4000511" cy="10972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29488" y="1463040"/>
            <a:ext cx="400051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141413"/>
                </a:solidFill>
                <a:latin typeface="Helvetica Neue"/>
              </a:rPr>
              <a:t>THE WHOLE 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488" y="1965960"/>
            <a:ext cx="400051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77736C"/>
                </a:solidFill>
                <a:latin typeface="Helvetica Neue"/>
              </a:rPr>
              <a:t>Same contract.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488" y="2532888"/>
            <a:ext cx="400051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77736C"/>
                </a:solidFill>
                <a:latin typeface="Helvetica Neue"/>
              </a:rPr>
              <a:t>Different machine.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488" y="3099816"/>
            <a:ext cx="400051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77736C"/>
                </a:solidFill>
                <a:latin typeface="Helvetica Neue"/>
              </a:rPr>
              <a:t>Nothing leaves the building.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69" y="6291072"/>
            <a:ext cx="533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77736C"/>
                </a:solidFill>
                <a:latin typeface="Helvetica Neue"/>
              </a:rPr>
              <a:t>Acon x Dell Pro Max GB10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96496" y="6291072"/>
            <a:ext cx="13335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77736C"/>
                </a:solidFill>
                <a:latin typeface="Helvetica Neue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" y="761969"/>
            <a:ext cx="6667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Helvetica Neue"/>
              </a:rPr>
              <a:t>04 —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69" y="1188720"/>
            <a:ext cx="733427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>
                <a:solidFill>
                  <a:srgbClr val="141413"/>
                </a:solidFill>
                <a:latin typeface="Helvetica Neue"/>
              </a:rPr>
              <a:t>Built for models this size.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969" y="2468880"/>
            <a:ext cx="2190566" cy="201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969" y="2697480"/>
            <a:ext cx="21174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>
                <a:solidFill>
                  <a:srgbClr val="141413"/>
                </a:solidFill>
                <a:latin typeface="Helvetica Neue"/>
              </a:rPr>
              <a:t>01 · Superchip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69" y="3246120"/>
            <a:ext cx="207169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7736C"/>
                </a:solidFill>
                <a:latin typeface="Helvetica Neue"/>
              </a:rPr>
              <a:t>NVIDIA GB10 Grace Blackwell. 20-core Arm CPU, Blackwell GPU, 5th-generation Tensor Cores.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22284" y="2468880"/>
            <a:ext cx="2190566" cy="201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22284" y="2697480"/>
            <a:ext cx="21174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>
                <a:solidFill>
                  <a:srgbClr val="141413"/>
                </a:solidFill>
                <a:latin typeface="Helvetica Neue"/>
              </a:rPr>
              <a:t>02 ·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2284" y="3246120"/>
            <a:ext cx="207169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7736C"/>
                </a:solidFill>
                <a:latin typeface="Helvetica Neue"/>
              </a:rPr>
              <a:t>128 GB coherent LPDDR5x at 273 GB/s. CPU and GPU share one pool, so weights and a large page of drawing tokens sit together.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82598" y="2468880"/>
            <a:ext cx="2190566" cy="201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82598" y="2697480"/>
            <a:ext cx="21174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>
                <a:solidFill>
                  <a:srgbClr val="141413"/>
                </a:solidFill>
                <a:latin typeface="Helvetica Neue"/>
              </a:rPr>
              <a:t>03 · Compute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82598" y="3246120"/>
            <a:ext cx="207169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7736C"/>
                </a:solidFill>
                <a:latin typeface="Helvetica Neue"/>
              </a:rPr>
              <a:t>Up to 1 petaFLOP of FP4. NVFP4 is the format we target for planner latency.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42913" y="2468880"/>
            <a:ext cx="2190566" cy="201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2913" y="2697480"/>
            <a:ext cx="21174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>
                <a:solidFill>
                  <a:srgbClr val="141413"/>
                </a:solidFill>
                <a:latin typeface="Helvetica Neue"/>
              </a:rPr>
              <a:t>04 · Ceiling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2913" y="3246120"/>
            <a:ext cx="207169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7736C"/>
                </a:solidFill>
                <a:latin typeface="Helvetica Neue"/>
              </a:rPr>
              <a:t>~200B parameters for inference on one unit, ~70B for fine-tuning, ~400B across two units over ConnectX-7.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969" y="5760720"/>
            <a:ext cx="906782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77736C"/>
                </a:solidFill>
                <a:latin typeface="Helvetica Neue"/>
              </a:rPr>
              <a:t>NVIDIA DGX OS (Ubuntu-based) · up to 4 TB NVMe · same platform as GB200/GB300, so the stack ports upward without a recode.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69" y="6291072"/>
            <a:ext cx="533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77736C"/>
                </a:solidFill>
                <a:latin typeface="Helvetica Neue"/>
              </a:rPr>
              <a:t>Acon x Dell Pro Max GB10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96496" y="6291072"/>
            <a:ext cx="13335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77736C"/>
                </a:solidFill>
                <a:latin typeface="Helvetica Neue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" y="761969"/>
            <a:ext cx="6667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Helvetica Neue"/>
              </a:rPr>
              <a:t>05 — THE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69" y="1188720"/>
            <a:ext cx="733427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>
                <a:solidFill>
                  <a:srgbClr val="141413"/>
                </a:solidFill>
                <a:latin typeface="Helvetica Neue"/>
              </a:rPr>
              <a:t>Vision-language, because the input is a drawing.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969" y="2468880"/>
            <a:ext cx="2957330" cy="201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969" y="2697480"/>
            <a:ext cx="28841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>
                <a:solidFill>
                  <a:srgbClr val="141413"/>
                </a:solidFill>
                <a:latin typeface="Helvetica Neue"/>
              </a:rPr>
              <a:t>Sheet reader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69" y="3246120"/>
            <a:ext cx="2838458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7736C"/>
                </a:solidFill>
                <a:latin typeface="Helvetica Neue"/>
              </a:rPr>
              <a:t>Qwen3-VL Instruct. Its document parsing returns text with layout position, so a title block, a dimension string, and a room tag stay spatially anchored. That is what turns a sheet into zones.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89048" y="2468880"/>
            <a:ext cx="2957330" cy="201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89048" y="2697480"/>
            <a:ext cx="28841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>
                <a:solidFill>
                  <a:srgbClr val="141413"/>
                </a:solidFill>
                <a:latin typeface="Helvetica Neue"/>
              </a:rPr>
              <a:t>Planner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89048" y="3246120"/>
            <a:ext cx="2838458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7736C"/>
                </a:solidFill>
                <a:latin typeface="Helvetica Neue"/>
              </a:rPr>
              <a:t>Qwen3-VL on the same endpoint, emitting Acon's construct / edit / extract JSON. One model serves both jobs, so there is no separate OCR stage to maintain.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16127" y="2468880"/>
            <a:ext cx="2957330" cy="201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16127" y="2697480"/>
            <a:ext cx="28841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>
                <a:solidFill>
                  <a:srgbClr val="141413"/>
                </a:solidFill>
                <a:latin typeface="Helvetica Neue"/>
              </a:rPr>
              <a:t>Sizing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6127" y="3246120"/>
            <a:ext cx="2838458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7736C"/>
                </a:solidFill>
                <a:latin typeface="Helvetica Neue"/>
              </a:rPr>
              <a:t>Start with a compact VL checkpoint in NVFP4 or FP8 to prove the wire, then move up if zone coverage misses. MoE checkpoints (~3B active) are the throughput pick; a dense 32B runs, but slower.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969" y="5760720"/>
            <a:ext cx="906782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77736C"/>
                </a:solidFill>
                <a:latin typeface="Helvetica Neue"/>
              </a:rPr>
              <a:t>vLLM ≥ 0.11 for Qwen3-VL · NVFP4 wants the marlin GEMM backend · FLASHINFER attention on Blackwell · out of the loop: Gemini 3.5 Flash, Replicate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69" y="6291072"/>
            <a:ext cx="533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77736C"/>
                </a:solidFill>
                <a:latin typeface="Helvetica Neue"/>
              </a:rPr>
              <a:t>Acon x Dell Pro Max GB10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96496" y="6291072"/>
            <a:ext cx="13335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77736C"/>
                </a:solidFill>
                <a:latin typeface="Helvetica Neue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" y="761969"/>
            <a:ext cx="6667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Helvetica Neue"/>
              </a:rPr>
              <a:t>05 —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69" y="1188720"/>
            <a:ext cx="66675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>
                <a:solidFill>
                  <a:srgbClr val="141413"/>
                </a:solidFill>
                <a:latin typeface="Helvetica Neue"/>
              </a:rPr>
              <a:t>Five steps, none of them off the 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" y="2377440"/>
            <a:ext cx="17030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000" b="1">
                <a:solidFill>
                  <a:srgbClr val="0F766E"/>
                </a:solidFill>
                <a:latin typeface="Helvetica Neue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761969" y="2880360"/>
            <a:ext cx="1703075" cy="10972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1969" y="3063240"/>
            <a:ext cx="16573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>
                <a:solidFill>
                  <a:srgbClr val="141413"/>
                </a:solidFill>
                <a:latin typeface="Helvetica Neue"/>
              </a:rPr>
              <a:t>Ingest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969" y="3566160"/>
            <a:ext cx="16116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77736C"/>
                </a:solidFill>
                <a:latin typeface="Helvetica Neue"/>
              </a:rPr>
              <a:t>Sheets, scans, or a photographed markup land in chat. Already accepted today: image/*, PDF, DWG.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35555" y="2377440"/>
            <a:ext cx="17030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000" b="1">
                <a:solidFill>
                  <a:srgbClr val="0F766E"/>
                </a:solidFill>
                <a:latin typeface="Helvetica Neue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35555" y="2880360"/>
            <a:ext cx="1703075" cy="10972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35555" y="3063240"/>
            <a:ext cx="16573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>
                <a:solidFill>
                  <a:srgbClr val="141413"/>
                </a:solidFill>
                <a:latin typeface="Helvetica Neue"/>
              </a:rPr>
              <a:t>See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35555" y="3566160"/>
            <a:ext cx="16116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77736C"/>
                </a:solidFill>
                <a:latin typeface="Helvetica Neue"/>
              </a:rPr>
              <a:t>Qwen-VL reads the sheet on the GB10: dimensions, grid lines, room names, level markers.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40" y="2377440"/>
            <a:ext cx="17030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000" b="1">
                <a:solidFill>
                  <a:srgbClr val="0F766E"/>
                </a:solidFill>
                <a:latin typeface="Helvetica Neue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40" y="2880360"/>
            <a:ext cx="1703075" cy="10972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40" y="3063240"/>
            <a:ext cx="16573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>
                <a:solidFill>
                  <a:srgbClr val="141413"/>
                </a:solidFill>
                <a:latin typeface="Helvetica Neue"/>
              </a:rPr>
              <a:t>Specify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40" y="3566160"/>
            <a:ext cx="16116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77736C"/>
                </a:solidFill>
                <a:latin typeface="Helvetica Neue"/>
              </a:rPr>
              <a:t>The model emits Acon's JSON only — footprint or width and depth, massing bands, zones, storey heights, MEP flags.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2726" y="2377440"/>
            <a:ext cx="17030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000" b="1">
                <a:solidFill>
                  <a:srgbClr val="0F766E"/>
                </a:solidFill>
                <a:latin typeface="Helvetica Neue"/>
              </a:rPr>
              <a:t>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82726" y="2880360"/>
            <a:ext cx="1703075" cy="10972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82726" y="3063240"/>
            <a:ext cx="16573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>
                <a:solidFill>
                  <a:srgbClr val="141413"/>
                </a:solidFill>
                <a:latin typeface="Helvetica Neue"/>
              </a:rPr>
              <a:t>Compile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82726" y="3566160"/>
            <a:ext cx="16116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77736C"/>
                </a:solidFill>
                <a:latin typeface="Helvetica Neue"/>
              </a:rPr>
              <a:t>compileSpec turns the schema into walls, slabs, openings, and runs. No model-authored geometry reaches the scene.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6312" y="2377440"/>
            <a:ext cx="17030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000" b="1">
                <a:solidFill>
                  <a:srgbClr val="0F766E"/>
                </a:solidFill>
                <a:latin typeface="Helvetica Neue"/>
              </a:rPr>
              <a:t>05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56312" y="2880360"/>
            <a:ext cx="1703075" cy="10972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56312" y="3063240"/>
            <a:ext cx="16573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>
                <a:solidFill>
                  <a:srgbClr val="141413"/>
                </a:solidFill>
                <a:latin typeface="Helvetica Neue"/>
              </a:rPr>
              <a:t>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56312" y="3566160"/>
            <a:ext cx="16116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77736C"/>
                </a:solidFill>
                <a:latin typeface="Helvetica Neue"/>
              </a:rPr>
              <a:t>The 3D model is live: resize a room, strip the roof, change a finish, all in natural language.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69" y="6291072"/>
            <a:ext cx="533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77736C"/>
                </a:solidFill>
                <a:latin typeface="Helvetica Neue"/>
              </a:rPr>
              <a:t>Acon x Dell Pro Max GB10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96496" y="6291072"/>
            <a:ext cx="13335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77736C"/>
                </a:solidFill>
                <a:latin typeface="Helvetica Neue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" y="761969"/>
            <a:ext cx="6667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Helvetica Neue"/>
              </a:rPr>
              <a:t>04 —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69" y="1188720"/>
            <a:ext cx="66675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>
                <a:solidFill>
                  <a:srgbClr val="141413"/>
                </a:solidFill>
                <a:latin typeface="Helvetica Neue"/>
              </a:rPr>
              <a:t>One hop changes. The product does not.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969" y="2286000"/>
            <a:ext cx="4267212" cy="20116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969" y="2487168"/>
            <a:ext cx="400051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141413"/>
                </a:solidFill>
                <a:latin typeface="Helvetica Neue"/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69" y="2926080"/>
            <a:ext cx="40005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77736C"/>
                </a:solidFill>
                <a:latin typeface="Helvetica Neue"/>
              </a:rPr>
              <a:t>Acon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969" y="3310128"/>
            <a:ext cx="40005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77736C"/>
                </a:solidFill>
                <a:latin typeface="Helvetica Neue"/>
              </a:rPr>
              <a:t>→ /api/agent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69" y="3694176"/>
            <a:ext cx="40005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77736C"/>
                </a:solidFill>
                <a:latin typeface="Helvetica Neue"/>
              </a:rPr>
              <a:t>→ Replicate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969" y="4078224"/>
            <a:ext cx="40005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77736C"/>
                </a:solidFill>
                <a:latin typeface="Helvetica Neue"/>
              </a:rPr>
              <a:t>→ google/gemini-3.5-flash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969" y="4462272"/>
            <a:ext cx="40005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77736C"/>
                </a:solidFill>
                <a:latin typeface="Helvetica Neue"/>
              </a:rPr>
              <a:t>→ JSON spec → compile → scene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969" y="4983480"/>
            <a:ext cx="40005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>
                <a:solidFill>
                  <a:srgbClr val="77736C"/>
                </a:solidFill>
                <a:latin typeface="Helvetica Neue"/>
              </a:rPr>
              <a:t>Drawings leave the network.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62583" y="2286000"/>
            <a:ext cx="4267212" cy="201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62583" y="2487168"/>
            <a:ext cx="400051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141413"/>
                </a:solidFill>
                <a:latin typeface="Helvetica Neue"/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62583" y="2926080"/>
            <a:ext cx="40005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77736C"/>
                </a:solidFill>
                <a:latin typeface="Helvetica Neue"/>
              </a:rPr>
              <a:t>Acon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62583" y="3310128"/>
            <a:ext cx="40005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77736C"/>
                </a:solidFill>
                <a:latin typeface="Helvetica Neue"/>
              </a:rPr>
              <a:t>→ /api/agent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62583" y="3694176"/>
            <a:ext cx="40005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77736C"/>
                </a:solidFill>
                <a:latin typeface="Helvetica Neue"/>
              </a:rPr>
              <a:t>→ GB10 on the 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62583" y="4078224"/>
            <a:ext cx="40005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77736C"/>
                </a:solidFill>
                <a:latin typeface="Helvetica Neue"/>
              </a:rPr>
              <a:t>→ Qwen-VL via vLLM or NIM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62583" y="4462272"/>
            <a:ext cx="40005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77736C"/>
                </a:solidFill>
                <a:latin typeface="Helvetica Neue"/>
              </a:rPr>
              <a:t>→ JSON spec → compile → scene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62583" y="4983480"/>
            <a:ext cx="40005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Helvetica Neue"/>
              </a:rPr>
              <a:t>Drawings stay on the LAN.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969" y="5806440"/>
            <a:ext cx="906782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77736C"/>
                </a:solidFill>
                <a:latin typeface="Helvetica Neue"/>
              </a:rPr>
              <a:t>GIS lookups still bypass the model. Locked workspaces still refuse a rebuild. Schema validation is unchanged.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69" y="6291072"/>
            <a:ext cx="533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77736C"/>
                </a:solidFill>
                <a:latin typeface="Helvetica Neue"/>
              </a:rPr>
              <a:t>Acon x Dell Pro Max GB10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96496" y="6291072"/>
            <a:ext cx="13335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77736C"/>
                </a:solidFill>
                <a:latin typeface="Helvetica Neue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" y="761969"/>
            <a:ext cx="6667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Helvetica Neue"/>
              </a:rPr>
              <a:t>04 — WHAT WE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69" y="1188720"/>
            <a:ext cx="66675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>
                <a:solidFill>
                  <a:srgbClr val="141413"/>
                </a:solidFill>
                <a:latin typeface="Helvetica Neue"/>
              </a:rPr>
              <a:t>A provider swap, not a new product.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969" y="2148840"/>
            <a:ext cx="4267212" cy="201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969" y="2350008"/>
            <a:ext cx="400051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141413"/>
                </a:solidFill>
                <a:latin typeface="Helvetica Neue"/>
              </a:rPr>
              <a:t>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69" y="2724912"/>
            <a:ext cx="4133861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77736C"/>
                </a:solidFill>
                <a:latin typeface="Helvetica Neue"/>
              </a:rPr>
              <a:t>Promote the local OpenAI-compatible provider to first choice; base URL becomes http://&lt;gb10&gt;:8000/v1.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969" y="3401568"/>
            <a:ext cx="4133861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77736C"/>
                </a:solidFill>
                <a:latin typeface="Helvetica Neue"/>
              </a:rPr>
              <a:t>Pin the served Qwen-VL model id as the default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69" y="4078224"/>
            <a:ext cx="4133861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77736C"/>
                </a:solidFill>
                <a:latin typeface="Helvetica Neue"/>
              </a:rPr>
              <a:t>Send attachments as image content parts. ChatAttachment carries only name, type, and size today — the pixels never reach the model. This is the one real code gap.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969" y="4754880"/>
            <a:ext cx="4133861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77736C"/>
                </a:solidFill>
                <a:latin typeface="Helvetica Neue"/>
              </a:rPr>
              <a:t>Health-check the GB10 the way probeOllama() already checks localhost.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969" y="5431536"/>
            <a:ext cx="4133861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77736C"/>
                </a:solidFill>
                <a:latin typeface="Helvetica Neue"/>
              </a:rPr>
              <a:t>Rewrite the system prompt, which currently announces “using Gemini 3.5 Flash on Replicate”.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62583" y="2148840"/>
            <a:ext cx="4267212" cy="20116"/>
          </a:xfrm>
          <a:prstGeom prst="rect">
            <a:avLst/>
          </a:prstGeom>
          <a:solidFill>
            <a:srgbClr val="777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62583" y="2350008"/>
            <a:ext cx="400051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141413"/>
                </a:solidFill>
                <a:latin typeface="Helvetica Neue"/>
              </a:rPr>
              <a:t>DO NOT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583" y="2724912"/>
            <a:ext cx="4133861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77736C"/>
                </a:solidFill>
                <a:latin typeface="Helvetica Neue"/>
              </a:rPr>
              <a:t>Touch compileSpec, the Three.js scene, the GIS path, or the JSON schema.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62583" y="3401568"/>
            <a:ext cx="4133861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77736C"/>
                </a:solidFill>
                <a:latin typeface="Helvetica Neue"/>
              </a:rPr>
              <a:t>Leave Gemini as a silent production fallback.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62583" y="4078224"/>
            <a:ext cx="4133861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77736C"/>
                </a:solidFill>
                <a:latin typeface="Helvetica Neue"/>
              </a:rPr>
              <a:t>Fine-tune anything before inference quality is measured.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69" y="6291072"/>
            <a:ext cx="533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77736C"/>
                </a:solidFill>
                <a:latin typeface="Helvetica Neue"/>
              </a:rPr>
              <a:t>Acon x Dell Pro Max GB10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96496" y="6291072"/>
            <a:ext cx="13335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77736C"/>
                </a:solidFill>
                <a:latin typeface="Helvetica Neue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" y="761969"/>
            <a:ext cx="6667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Helvetica Neue"/>
              </a:rPr>
              <a:t>05 — WHY LOCAL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69" y="1188720"/>
            <a:ext cx="6667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>
                <a:solidFill>
                  <a:srgbClr val="141413"/>
                </a:solidFill>
                <a:latin typeface="Helvetica Neue"/>
              </a:rPr>
              <a:t>Gemini off. GB10 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969" y="2194560"/>
            <a:ext cx="10267979" cy="12801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969" y="2331720"/>
            <a:ext cx="36004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>
                <a:solidFill>
                  <a:srgbClr val="141413"/>
                </a:solidFill>
                <a:latin typeface="Helvetica Neue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29130" y="2331720"/>
            <a:ext cx="29337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>
                <a:solidFill>
                  <a:srgbClr val="0F766E"/>
                </a:solidFill>
                <a:latin typeface="Helvetica Neue"/>
              </a:rPr>
              <a:t>GEMINI 3.5 FLASH (TODAY)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6189" y="2331720"/>
            <a:ext cx="33337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>
                <a:solidFill>
                  <a:srgbClr val="0F766E"/>
                </a:solidFill>
                <a:latin typeface="Helvetica Neue"/>
              </a:rPr>
              <a:t>QWEN-VL ON GB10 (TARGET)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69" y="2724912"/>
            <a:ext cx="36004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>
                <a:solidFill>
                  <a:srgbClr val="141413"/>
                </a:solidFill>
                <a:latin typeface="Helvetica Neue"/>
              </a:rPr>
              <a:t>Where inference runs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9130" y="2724912"/>
            <a:ext cx="29337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77736C"/>
                </a:solidFill>
                <a:latin typeface="Helvetica Neue"/>
              </a:rPr>
              <a:t>Replicate cloud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6189" y="2724912"/>
            <a:ext cx="3333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77736C"/>
                </a:solidFill>
                <a:latin typeface="Helvetica Neue"/>
              </a:rPr>
              <a:t>The firm's own appliance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1969" y="3017520"/>
            <a:ext cx="10267979" cy="10972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969" y="3145536"/>
            <a:ext cx="36004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>
                <a:solidFill>
                  <a:srgbClr val="141413"/>
                </a:solidFill>
                <a:latin typeface="Helvetica Neue"/>
              </a:rPr>
              <a:t>Drawings leave the firm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9130" y="3145536"/>
            <a:ext cx="29337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77736C"/>
                </a:solidFill>
                <a:latin typeface="Helvetica Neue"/>
              </a:rPr>
              <a:t>Yes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6189" y="3145536"/>
            <a:ext cx="3333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77736C"/>
                </a:solidFill>
                <a:latin typeface="Helvetica Neue"/>
              </a:rPr>
              <a:t>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1969" y="3438144"/>
            <a:ext cx="10267979" cy="10972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1969" y="3566160"/>
            <a:ext cx="36004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>
                <a:solidFill>
                  <a:srgbClr val="141413"/>
                </a:solidFill>
                <a:latin typeface="Helvetica Neue"/>
              </a:rPr>
              <a:t>Credentials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9130" y="3566160"/>
            <a:ext cx="29337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77736C"/>
                </a:solidFill>
                <a:latin typeface="Helvetica Neue"/>
              </a:rPr>
              <a:t>REPLICATE_API_TOKEN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6189" y="3566160"/>
            <a:ext cx="3333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77736C"/>
                </a:solidFill>
                <a:latin typeface="Helvetica Neue"/>
              </a:rPr>
              <a:t>None for 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1969" y="3858768"/>
            <a:ext cx="10267979" cy="10972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1969" y="3986784"/>
            <a:ext cx="36004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>
                <a:solidFill>
                  <a:srgbClr val="141413"/>
                </a:solidFill>
                <a:latin typeface="Helvetica Neue"/>
              </a:rPr>
              <a:t>Reads an issued sheet 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9130" y="3986784"/>
            <a:ext cx="29337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77736C"/>
                </a:solidFill>
                <a:latin typeface="Helvetica Neue"/>
              </a:rPr>
              <a:t>Text-first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6189" y="3986784"/>
            <a:ext cx="3333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77736C"/>
                </a:solidFill>
                <a:latin typeface="Helvetica Neue"/>
              </a:rPr>
              <a:t>Native vision with layout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1969" y="4279392"/>
            <a:ext cx="10267979" cy="10972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1969" y="4407408"/>
            <a:ext cx="36004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>
                <a:solidFill>
                  <a:srgbClr val="141413"/>
                </a:solidFill>
                <a:latin typeface="Helvetica Neue"/>
              </a:rPr>
              <a:t>Works offline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9130" y="4407408"/>
            <a:ext cx="29337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77736C"/>
                </a:solidFill>
                <a:latin typeface="Helvetica Neue"/>
              </a:rPr>
              <a:t>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6189" y="4407408"/>
            <a:ext cx="3333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77736C"/>
                </a:solidFill>
                <a:latin typeface="Helvetica Neue"/>
              </a:rPr>
              <a:t>Yes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1969" y="4700016"/>
            <a:ext cx="10267979" cy="10972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1969" y="4828032"/>
            <a:ext cx="36004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>
                <a:solidFill>
                  <a:srgbClr val="141413"/>
                </a:solidFill>
                <a:latin typeface="Helvetica Neue"/>
              </a:rPr>
              <a:t>Cost per revision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9130" y="4828032"/>
            <a:ext cx="29337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77736C"/>
                </a:solidFill>
                <a:latin typeface="Helvetica Neue"/>
              </a:rPr>
              <a:t>Metered per turn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6189" y="4828032"/>
            <a:ext cx="3333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77736C"/>
                </a:solidFill>
                <a:latin typeface="Helvetica Neue"/>
              </a:rPr>
              <a:t>Fixed hardware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1969" y="5120640"/>
            <a:ext cx="10267979" cy="10972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1969" y="5248656"/>
            <a:ext cx="36004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>
                <a:solidFill>
                  <a:srgbClr val="141413"/>
                </a:solidFill>
                <a:latin typeface="Helvetica Neue"/>
              </a:rPr>
              <a:t>Contractual exposure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29130" y="5248656"/>
            <a:ext cx="29337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77736C"/>
                </a:solidFill>
                <a:latin typeface="Helvetica Neue"/>
              </a:rPr>
              <a:t>Third-party processor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96189" y="5248656"/>
            <a:ext cx="3333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77736C"/>
                </a:solidFill>
                <a:latin typeface="Helvetica Neue"/>
              </a:rPr>
              <a:t>None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1969" y="5541264"/>
            <a:ext cx="10267979" cy="10972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1969" y="5669280"/>
            <a:ext cx="36004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>
                <a:solidFill>
                  <a:srgbClr val="141413"/>
                </a:solidFill>
                <a:latin typeface="Helvetica Neue"/>
              </a:rPr>
              <a:t>Default in Acon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29130" y="5669280"/>
            <a:ext cx="29337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77736C"/>
                </a:solidFill>
                <a:latin typeface="Helvetica Neue"/>
              </a:rPr>
              <a:t>Yes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96189" y="5669280"/>
            <a:ext cx="3333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77736C"/>
                </a:solidFill>
                <a:latin typeface="Helvetica Neue"/>
              </a:rPr>
              <a:t>Becomes yes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1969" y="5961888"/>
            <a:ext cx="10267979" cy="10972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69" y="6291072"/>
            <a:ext cx="533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77736C"/>
                </a:solidFill>
                <a:latin typeface="Helvetica Neue"/>
              </a:rPr>
              <a:t>Acon x Dell Pro Max GB10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96496" y="6291072"/>
            <a:ext cx="13335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77736C"/>
                </a:solidFill>
                <a:latin typeface="Helvetica Neue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" y="761969"/>
            <a:ext cx="6667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Helvetica Neue"/>
              </a:rPr>
              <a:t>CAPACITY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69" y="2377440"/>
            <a:ext cx="238411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>
                <a:solidFill>
                  <a:srgbClr val="141413"/>
                </a:solidFill>
                <a:latin typeface="Helvetica Neue"/>
              </a:rPr>
              <a:t>128 GB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969" y="3429000"/>
            <a:ext cx="2109794" cy="10972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969" y="3611880"/>
            <a:ext cx="224695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7736C"/>
                </a:solidFill>
                <a:latin typeface="Helvetica Neue"/>
              </a:rPr>
              <a:t>Unified coherent 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8964" y="2377440"/>
            <a:ext cx="238411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>
                <a:solidFill>
                  <a:srgbClr val="141413"/>
                </a:solidFill>
                <a:latin typeface="Helvetica Neue"/>
              </a:rPr>
              <a:t>1 PFLOP</a:t>
            </a:r>
          </a:p>
        </p:txBody>
      </p:sp>
      <p:sp>
        <p:nvSpPr>
          <p:cNvPr id="9" name="Rectangle 8"/>
          <p:cNvSpPr/>
          <p:nvPr/>
        </p:nvSpPr>
        <p:spPr>
          <a:xfrm>
            <a:off x="3328964" y="3429000"/>
            <a:ext cx="2109794" cy="10972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28964" y="3611880"/>
            <a:ext cx="224695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7736C"/>
                </a:solidFill>
                <a:latin typeface="Helvetica Neue"/>
              </a:rPr>
              <a:t>FP4 peak on Blackwell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5959" y="2377440"/>
            <a:ext cx="238411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>
                <a:solidFill>
                  <a:srgbClr val="141413"/>
                </a:solidFill>
                <a:latin typeface="Helvetica Neue"/>
              </a:rPr>
              <a:t>200B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5959" y="3429000"/>
            <a:ext cx="2109794" cy="10972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5959" y="3611880"/>
            <a:ext cx="224695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7736C"/>
                </a:solidFill>
                <a:latin typeface="Helvetica Neue"/>
              </a:rPr>
              <a:t>Parameter ceiling, single unit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2954" y="2377440"/>
            <a:ext cx="238411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>
                <a:solidFill>
                  <a:srgbClr val="141413"/>
                </a:solidFill>
                <a:latin typeface="Helvetica Neue"/>
              </a:rP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62954" y="3429000"/>
            <a:ext cx="2109794" cy="10972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2954" y="3611880"/>
            <a:ext cx="224695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7736C"/>
                </a:solidFill>
                <a:latin typeface="Helvetica Neue"/>
              </a:rPr>
              <a:t>Drawings leaving the 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969" y="5806440"/>
            <a:ext cx="906782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77736C"/>
                </a:solidFill>
                <a:latin typeface="Helvetica Neue"/>
              </a:rPr>
              <a:t>GB10 figures from Dell and NVIDIA published specifications.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69" y="6291072"/>
            <a:ext cx="533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77736C"/>
                </a:solidFill>
                <a:latin typeface="Helvetica Neue"/>
              </a:rPr>
              <a:t>Acon x Dell Pro Max GB10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96496" y="6291072"/>
            <a:ext cx="13335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77736C"/>
                </a:solidFill>
                <a:latin typeface="Helvetica Neue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" y="761969"/>
            <a:ext cx="6667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Helvetica Neue"/>
              </a:rPr>
              <a:t>06 — 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69" y="1188720"/>
            <a:ext cx="733427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>
                <a:solidFill>
                  <a:srgbClr val="141413"/>
                </a:solidFill>
                <a:latin typeface="Helvetica Neue"/>
              </a:rPr>
              <a:t>What this box is not.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969" y="2468880"/>
            <a:ext cx="2957330" cy="201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969" y="2697480"/>
            <a:ext cx="28841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>
                <a:solidFill>
                  <a:srgbClr val="141413"/>
                </a:solidFill>
                <a:latin typeface="Helvetica Neue"/>
              </a:rPr>
              <a:t>01 · Throughput, not capacity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69" y="3246120"/>
            <a:ext cx="2838458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7736C"/>
                </a:solidFill>
                <a:latin typeface="Helvetica Neue"/>
              </a:rPr>
              <a:t>128 GB will load large models; the token rate on a single GB10 is desk-scale, not fleet-scale. Checkpoint choice and MoE architecture matter more here than parameter count.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89048" y="2468880"/>
            <a:ext cx="2957330" cy="201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89048" y="2697480"/>
            <a:ext cx="28841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>
                <a:solidFill>
                  <a:srgbClr val="141413"/>
                </a:solidFill>
                <a:latin typeface="Helvetica Neue"/>
              </a:rPr>
              <a:t>02 · It is a Linux appliance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89048" y="3246120"/>
            <a:ext cx="2838458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7736C"/>
                </a:solidFill>
                <a:latin typeface="Helvetica Neue"/>
              </a:rPr>
              <a:t>DGX OS, container workflows, aarch64 builds. Not a Windows workstation. Setup time is real and should be budgeted.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16127" y="2468880"/>
            <a:ext cx="2957330" cy="201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16127" y="2697480"/>
            <a:ext cx="28841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>
                <a:solidFill>
                  <a:srgbClr val="141413"/>
                </a:solidFill>
                <a:latin typeface="Helvetica Neue"/>
              </a:rPr>
              <a:t>03 · Vision quality needs an eval 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6127" y="3246120"/>
            <a:ext cx="2838458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7736C"/>
                </a:solidFill>
                <a:latin typeface="Helvetica Neue"/>
              </a:rPr>
              <a:t>Dimension strings and messy scans are exactly where VL models fail. We need a fixed suite of sheets with hand-checked answers before this replaces drafter time.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69" y="6291072"/>
            <a:ext cx="533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77736C"/>
                </a:solidFill>
                <a:latin typeface="Helvetica Neue"/>
              </a:rPr>
              <a:t>Acon x Dell Pro Max GB10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96496" y="6291072"/>
            <a:ext cx="13335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77736C"/>
                </a:solidFill>
                <a:latin typeface="Helvetica Neue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" y="761969"/>
            <a:ext cx="6667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Helvetica Neue"/>
              </a:rPr>
              <a:t>06 —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69" y="1188720"/>
            <a:ext cx="613411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>
                <a:solidFill>
                  <a:srgbClr val="141413"/>
                </a:solidFill>
                <a:latin typeface="Helvetica Neue"/>
              </a:rPr>
              <a:t>What we measure before Gemini is switched off.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969" y="2478024"/>
            <a:ext cx="8801125" cy="10972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969" y="2606040"/>
            <a:ext cx="8534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77736C"/>
                </a:solidFill>
                <a:latin typeface="Helvetica Neue"/>
              </a:rPr>
              <a:t>Prompt suite — big-box retail, clinic, warehouse, office, tower, L-shaped plate. Compare specs against current Gemini output on identical prompts.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1969" y="3191256"/>
            <a:ext cx="8801125" cy="10972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1969" y="3319272"/>
            <a:ext cx="8534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77736C"/>
                </a:solidFill>
                <a:latin typeface="Helvetica Neue"/>
              </a:rPr>
              <a:t>Sheet suite — real drawing sets with hand-checked footprints and level heights. Score dimension accuracy and zone coverage.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1969" y="3904488"/>
            <a:ext cx="8801125" cy="10972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1969" y="4032504"/>
            <a:ext cx="8534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77736C"/>
                </a:solidFill>
                <a:latin typeface="Helvetica Neue"/>
              </a:rPr>
              <a:t>Latency — median time-to-spec per turn, and time-to-first-token on a long sheet.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1969" y="4617720"/>
            <a:ext cx="8801125" cy="10972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969" y="4745736"/>
            <a:ext cx="8534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77736C"/>
                </a:solidFill>
                <a:latin typeface="Helvetica Neue"/>
              </a:rPr>
              <a:t>Failure mode — how often the model returns non-schema output. Target after validation is zero.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69" y="6291072"/>
            <a:ext cx="533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77736C"/>
                </a:solidFill>
                <a:latin typeface="Helvetica Neue"/>
              </a:rPr>
              <a:t>Acon x Dell Pro Max GB10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96496" y="6291072"/>
            <a:ext cx="13335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77736C"/>
                </a:solidFill>
                <a:latin typeface="Helvetica Neue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" y="761969"/>
            <a:ext cx="6667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Helvetica Neue"/>
              </a:rPr>
              <a:t>06 — THE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69" y="1188720"/>
            <a:ext cx="66675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>
                <a:solidFill>
                  <a:srgbClr val="141413"/>
                </a:solidFill>
                <a:latin typeface="Helvetica Neue"/>
              </a:rPr>
              <a:t>Desk, then site.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969" y="2423160"/>
            <a:ext cx="10267979" cy="12801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969" y="2606040"/>
            <a:ext cx="233839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>
                <a:solidFill>
                  <a:srgbClr val="0F766E"/>
                </a:solidFill>
                <a:latin typeface="Helvetica Neue"/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69" y="2971800"/>
            <a:ext cx="233839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1">
                <a:solidFill>
                  <a:srgbClr val="141413"/>
                </a:solidFill>
                <a:latin typeface="Helvetica Neue"/>
              </a:rPr>
              <a:t>Wire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969" y="3566160"/>
            <a:ext cx="2246954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77736C"/>
                </a:solidFill>
                <a:latin typeface="Helvetica Neue"/>
              </a:rPr>
              <a:t>GB10 on the LAN, vLLM serving Qwen-VL on port 8000, one construct turn end to end with Gemini disabled.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28964" y="2606040"/>
            <a:ext cx="233839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>
                <a:solidFill>
                  <a:srgbClr val="0F766E"/>
                </a:solidFill>
                <a:latin typeface="Helvetica Neue"/>
              </a:rP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8964" y="2971800"/>
            <a:ext cx="233839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1">
                <a:solidFill>
                  <a:srgbClr val="141413"/>
                </a:solidFill>
                <a:latin typeface="Helvetica Neue"/>
              </a:rPr>
              <a:t>Default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8964" y="3566160"/>
            <a:ext cx="2246954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77736C"/>
                </a:solidFill>
                <a:latin typeface="Helvetica Neue"/>
              </a:rPr>
              <a:t>Local provider first. Attachments sent as real image parts. Replicate demoted to optional.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5959" y="2606040"/>
            <a:ext cx="233839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>
                <a:solidFill>
                  <a:srgbClr val="0F766E"/>
                </a:solidFill>
                <a:latin typeface="Helvetica Neue"/>
              </a:rPr>
              <a:t>THEN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5959" y="2971800"/>
            <a:ext cx="233839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1">
                <a:solidFill>
                  <a:srgbClr val="141413"/>
                </a:solidFill>
                <a:latin typeface="Helvetica Neue"/>
              </a:rPr>
              <a:t>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5959" y="3566160"/>
            <a:ext cx="2246954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77736C"/>
                </a:solidFill>
                <a:latin typeface="Helvetica Neue"/>
              </a:rPr>
              <a:t>A larger VL checkpoint if the eval set demands it. Sheet accuracy targets signed off by the modelling team.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2954" y="2606040"/>
            <a:ext cx="233839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>
                <a:solidFill>
                  <a:srgbClr val="0F766E"/>
                </a:solidFill>
                <a:latin typeface="Helvetica Neue"/>
              </a:rPr>
              <a:t>LATER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2954" y="2971800"/>
            <a:ext cx="233839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1">
                <a:solidFill>
                  <a:srgbClr val="141413"/>
                </a:solidFill>
                <a:latin typeface="Helvetica Neue"/>
              </a:rPr>
              <a:t>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2954" y="3566160"/>
            <a:ext cx="2246954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77736C"/>
                </a:solidFill>
                <a:latin typeface="Helvetica Neue"/>
              </a:rPr>
              <a:t>A second GB10 for larger checkpoints, or the same stack pushed to a firm server. No recode either way.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69" y="6291072"/>
            <a:ext cx="533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77736C"/>
                </a:solidFill>
                <a:latin typeface="Helvetica Neue"/>
              </a:rPr>
              <a:t>Acon x Dell Pro Max GB10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96496" y="6291072"/>
            <a:ext cx="13335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77736C"/>
                </a:solidFill>
                <a:latin typeface="Helvetica Neue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" y="761969"/>
            <a:ext cx="6667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Helvetica Neue"/>
              </a:rPr>
              <a:t>06 — 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69" y="1188720"/>
            <a:ext cx="733427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>
                <a:solidFill>
                  <a:srgbClr val="141413"/>
                </a:solidFill>
                <a:latin typeface="Helvetica Neue"/>
              </a:rPr>
              <a:t>We need the box on the network.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969" y="2468880"/>
            <a:ext cx="2190566" cy="201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969" y="2697480"/>
            <a:ext cx="21174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>
                <a:solidFill>
                  <a:srgbClr val="141413"/>
                </a:solidFill>
                <a:latin typeface="Helvetica Neue"/>
              </a:rPr>
              <a:t>01 Hardware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69" y="3246120"/>
            <a:ext cx="207169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7736C"/>
                </a:solidFill>
                <a:latin typeface="Helvetica Neue"/>
              </a:rPr>
              <a:t>One Dell Pro Max with GB10, 2 TB or more NVMe, on the office network at a static address.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22284" y="2468880"/>
            <a:ext cx="2190566" cy="201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22284" y="2697480"/>
            <a:ext cx="21174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>
                <a:solidFill>
                  <a:srgbClr val="141413"/>
                </a:solidFill>
                <a:latin typeface="Helvetica Neue"/>
              </a:rPr>
              <a:t>02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2284" y="3246120"/>
            <a:ext cx="207169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7736C"/>
                </a:solidFill>
                <a:latin typeface="Helvetica Neue"/>
              </a:rPr>
              <a:t>DGX OS ready, NGC key for NIM, Hugging Face token for NVFP4 checkpoints, Docker on the box.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82598" y="2468880"/>
            <a:ext cx="2190566" cy="201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82598" y="2697480"/>
            <a:ext cx="21174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>
                <a:solidFill>
                  <a:srgbClr val="141413"/>
                </a:solidFill>
                <a:latin typeface="Helvetica Neue"/>
              </a:rPr>
              <a:t>03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82598" y="3246120"/>
            <a:ext cx="207169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7736C"/>
                </a:solidFill>
                <a:latin typeface="Helvetica Neue"/>
              </a:rPr>
              <a:t>Ten real drawing sets, hand-checked, cleared for internal use as the evaluation corpus.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42913" y="2468880"/>
            <a:ext cx="2190566" cy="201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2913" y="2697480"/>
            <a:ext cx="21174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>
                <a:solidFill>
                  <a:srgbClr val="141413"/>
                </a:solidFill>
                <a:latin typeface="Helvetica Neue"/>
              </a:rPr>
              <a:t>04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2913" y="3246120"/>
            <a:ext cx="207169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7736C"/>
                </a:solidFill>
                <a:latin typeface="Helvetica Neue"/>
              </a:rPr>
              <a:t>Approval to make local inference the default and retire the Replicate key from production.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69" y="2468880"/>
            <a:ext cx="800102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6000" b="1">
                <a:solidFill>
                  <a:srgbClr val="F4F2ED"/>
                </a:solidFill>
                <a:latin typeface="Helvetica Neue"/>
              </a:rPr>
              <a:t>On-premises.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761969" y="3977639"/>
            <a:ext cx="1600204" cy="2743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1969" y="4297680"/>
            <a:ext cx="800102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A9A59C"/>
                </a:solidFill>
                <a:latin typeface="Helvetica Neue"/>
              </a:rPr>
              <a:t>Acon · Qwen-VL · Dell Pro Max with GB10 — no cloud, no Gemini.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
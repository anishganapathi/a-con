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TextBox 1"/>
          <p:cNvSpPr txBox="1"/>
          <p:nvPr/>
        </p:nvSpPr>
        <p:spPr>
          <a:xfrm>
            <a:off x="761969" y="960120"/>
            <a:ext cx="6667519" cy="274320"/>
          </a:xfrm>
          <a:prstGeom prst="rect">
            <a:avLst/>
          </a:prstGeom>
          <a:noFill/>
        </p:spPr>
        <p:txBody>
          <a:bodyPr wrap="square" anchor="t" lIns="0" rIns="0" tIns="0" bIns="0">
            <a:spAutoFit/>
          </a:bodyPr>
          <a:lstStyle/>
          <a:p>
            <a:pPr algn="l">
              <a:lnSpc>
                <a:spcPct val="120000"/>
              </a:lnSpc>
              <a:spcAft>
                <a:spcPts val="0"/>
              </a:spcAft>
            </a:pPr>
            <a:r>
              <a:rPr sz="950" b="1">
                <a:solidFill>
                  <a:srgbClr val="0F766E"/>
                </a:solidFill>
                <a:latin typeface="Helvetica Neue"/>
              </a:rPr>
              <a:t>ACON X DELL PRO MAX GB10</a:t>
            </a:r>
          </a:p>
        </p:txBody>
      </p:sp>
      <p:sp>
        <p:nvSpPr>
          <p:cNvPr id="3" name="TextBox 2"/>
          <p:cNvSpPr txBox="1"/>
          <p:nvPr/>
        </p:nvSpPr>
        <p:spPr>
          <a:xfrm>
            <a:off x="761969" y="1874519"/>
            <a:ext cx="8534424" cy="2377440"/>
          </a:xfrm>
          <a:prstGeom prst="rect">
            <a:avLst/>
          </a:prstGeom>
          <a:noFill/>
        </p:spPr>
        <p:txBody>
          <a:bodyPr wrap="square" anchor="t" lIns="0" rIns="0" tIns="0" bIns="0">
            <a:spAutoFit/>
          </a:bodyPr>
          <a:lstStyle/>
          <a:p>
            <a:pPr algn="l">
              <a:lnSpc>
                <a:spcPct val="102000"/>
              </a:lnSpc>
              <a:spcAft>
                <a:spcPts val="0"/>
              </a:spcAft>
            </a:pPr>
            <a:r>
              <a:rPr sz="4200" b="1">
                <a:solidFill>
                  <a:srgbClr val="141413"/>
                </a:solidFill>
                <a:latin typeface="Helvetica Neue"/>
              </a:rPr>
              <a:t>Buildings, generated automatically — inside your own office.</a:t>
            </a:r>
          </a:p>
        </p:txBody>
      </p:sp>
      <p:sp>
        <p:nvSpPr>
          <p:cNvPr id="4" name="Rectangle 3"/>
          <p:cNvSpPr/>
          <p:nvPr/>
        </p:nvSpPr>
        <p:spPr>
          <a:xfrm>
            <a:off x="761969" y="4526280"/>
            <a:ext cx="2667007"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1969" y="4800600"/>
            <a:ext cx="6934219" cy="1097280"/>
          </a:xfrm>
          <a:prstGeom prst="rect">
            <a:avLst/>
          </a:prstGeom>
          <a:noFill/>
        </p:spPr>
        <p:txBody>
          <a:bodyPr wrap="square" anchor="t" lIns="0" rIns="0" tIns="0" bIns="0">
            <a:spAutoFit/>
          </a:bodyPr>
          <a:lstStyle/>
          <a:p>
            <a:pPr algn="l">
              <a:lnSpc>
                <a:spcPct val="120000"/>
              </a:lnSpc>
              <a:spcAft>
                <a:spcPts val="0"/>
              </a:spcAft>
            </a:pPr>
            <a:r>
              <a:rPr sz="1350" b="0">
                <a:solidFill>
                  <a:srgbClr val="77736C"/>
                </a:solidFill>
                <a:latin typeface="Helvetica Neue"/>
              </a:rPr>
              <a:t>Acon turns a description, or a set of drawings, into a working 3D building. With Dell Pro Max GB10 it does that on our own hardware, and nothing ever leaves the building.</a:t>
            </a:r>
          </a:p>
        </p:txBody>
      </p:sp>
      <p:sp>
        <p:nvSpPr>
          <p:cNvPr id="6" name="TextBox 5"/>
          <p:cNvSpPr txBox="1"/>
          <p:nvPr/>
        </p:nvSpPr>
        <p:spPr>
          <a:xfrm>
            <a:off x="761969" y="6035040"/>
            <a:ext cx="4000511" cy="274320"/>
          </a:xfrm>
          <a:prstGeom prst="rect">
            <a:avLst/>
          </a:prstGeom>
          <a:noFill/>
        </p:spPr>
        <p:txBody>
          <a:bodyPr wrap="square" anchor="t" lIns="0" rIns="0" tIns="0" bIns="0">
            <a:spAutoFit/>
          </a:bodyPr>
          <a:lstStyle/>
          <a:p>
            <a:pPr algn="l">
              <a:lnSpc>
                <a:spcPct val="120000"/>
              </a:lnSpc>
              <a:spcAft>
                <a:spcPts val="0"/>
              </a:spcAft>
            </a:pPr>
            <a:r>
              <a:rPr sz="950" b="0">
                <a:solidFill>
                  <a:srgbClr val="77736C"/>
                </a:solidFill>
                <a:latin typeface="Helvetica Neue"/>
              </a:rPr>
              <a:t>Integration proposal</a:t>
            </a:r>
          </a:p>
        </p:txBody>
      </p:sp>
      <p:sp>
        <p:nvSpPr>
          <p:cNvPr id="7" name="TextBox 6"/>
          <p:cNvSpPr txBox="1"/>
          <p:nvPr/>
        </p:nvSpPr>
        <p:spPr>
          <a:xfrm>
            <a:off x="8762992" y="6035040"/>
            <a:ext cx="2667007" cy="274320"/>
          </a:xfrm>
          <a:prstGeom prst="rect">
            <a:avLst/>
          </a:prstGeom>
          <a:noFill/>
        </p:spPr>
        <p:txBody>
          <a:bodyPr wrap="square" anchor="t" lIns="0" rIns="0" tIns="0" bIns="0">
            <a:spAutoFit/>
          </a:bodyPr>
          <a:lstStyle/>
          <a:p>
            <a:pPr algn="r">
              <a:lnSpc>
                <a:spcPct val="120000"/>
              </a:lnSpc>
              <a:spcAft>
                <a:spcPts val="0"/>
              </a:spcAft>
            </a:pPr>
            <a:r>
              <a:rPr sz="950" b="0">
                <a:solidFill>
                  <a:srgbClr val="77736C"/>
                </a:solidFill>
                <a:latin typeface="Helvetica Neue"/>
              </a:rPr>
              <a:t>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TextBox 1"/>
          <p:cNvSpPr txBox="1"/>
          <p:nvPr/>
        </p:nvSpPr>
        <p:spPr>
          <a:xfrm>
            <a:off x="761969" y="6291072"/>
            <a:ext cx="5334015" cy="274320"/>
          </a:xfrm>
          <a:prstGeom prst="rect">
            <a:avLst/>
          </a:prstGeom>
          <a:noFill/>
        </p:spPr>
        <p:txBody>
          <a:bodyPr wrap="square" anchor="t" lIns="0" rIns="0" tIns="0" bIns="0">
            <a:spAutoFit/>
          </a:bodyPr>
          <a:lstStyle/>
          <a:p>
            <a:pPr algn="l">
              <a:lnSpc>
                <a:spcPct val="120000"/>
              </a:lnSpc>
              <a:spcAft>
                <a:spcPts val="0"/>
              </a:spcAft>
            </a:pPr>
            <a:r>
              <a:rPr sz="850" b="0">
                <a:solidFill>
                  <a:srgbClr val="77736C"/>
                </a:solidFill>
                <a:latin typeface="Helvetica Neue"/>
              </a:rPr>
              <a:t>Acon x Dell Pro Max GB10</a:t>
            </a:r>
          </a:p>
        </p:txBody>
      </p:sp>
      <p:sp>
        <p:nvSpPr>
          <p:cNvPr id="3" name="TextBox 2"/>
          <p:cNvSpPr txBox="1"/>
          <p:nvPr/>
        </p:nvSpPr>
        <p:spPr>
          <a:xfrm>
            <a:off x="10096496" y="6291072"/>
            <a:ext cx="1333503" cy="274320"/>
          </a:xfrm>
          <a:prstGeom prst="rect">
            <a:avLst/>
          </a:prstGeom>
          <a:noFill/>
        </p:spPr>
        <p:txBody>
          <a:bodyPr wrap="square" anchor="t" lIns="0" rIns="0" tIns="0" bIns="0">
            <a:spAutoFit/>
          </a:bodyPr>
          <a:lstStyle/>
          <a:p>
            <a:pPr algn="r">
              <a:lnSpc>
                <a:spcPct val="120000"/>
              </a:lnSpc>
              <a:spcAft>
                <a:spcPts val="0"/>
              </a:spcAft>
            </a:pPr>
            <a:r>
              <a:rPr sz="850" b="0">
                <a:solidFill>
                  <a:srgbClr val="77736C"/>
                </a:solidFill>
                <a:latin typeface="Helvetica Neue"/>
              </a:rPr>
              <a:t>02</a:t>
            </a:r>
          </a:p>
        </p:txBody>
      </p:sp>
      <p:sp>
        <p:nvSpPr>
          <p:cNvPr id="4" name="TextBox 3"/>
          <p:cNvSpPr txBox="1"/>
          <p:nvPr/>
        </p:nvSpPr>
        <p:spPr>
          <a:xfrm>
            <a:off x="761969" y="1600200"/>
            <a:ext cx="9334526" cy="2011680"/>
          </a:xfrm>
          <a:prstGeom prst="rect">
            <a:avLst/>
          </a:prstGeom>
          <a:noFill/>
        </p:spPr>
        <p:txBody>
          <a:bodyPr wrap="square" anchor="t" lIns="0" rIns="0" tIns="0" bIns="0">
            <a:spAutoFit/>
          </a:bodyPr>
          <a:lstStyle/>
          <a:p>
            <a:pPr algn="l">
              <a:lnSpc>
                <a:spcPct val="102000"/>
              </a:lnSpc>
              <a:spcAft>
                <a:spcPts val="0"/>
              </a:spcAft>
            </a:pPr>
            <a:r>
              <a:rPr sz="3200" b="1">
                <a:solidFill>
                  <a:srgbClr val="141413"/>
                </a:solidFill>
                <a:latin typeface="Helvetica Neue"/>
              </a:rPr>
              <a:t>Nothing on the market does this without sending your drawings to someone else's cloud.</a:t>
            </a:r>
          </a:p>
        </p:txBody>
      </p:sp>
      <p:sp>
        <p:nvSpPr>
          <p:cNvPr id="5" name="Rectangle 4"/>
          <p:cNvSpPr/>
          <p:nvPr/>
        </p:nvSpPr>
        <p:spPr>
          <a:xfrm>
            <a:off x="761969" y="3931920"/>
            <a:ext cx="1866905"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1969" y="4206240"/>
            <a:ext cx="8534424" cy="1554480"/>
          </a:xfrm>
          <a:prstGeom prst="rect">
            <a:avLst/>
          </a:prstGeom>
          <a:noFill/>
        </p:spPr>
        <p:txBody>
          <a:bodyPr wrap="square" anchor="t" lIns="0" rIns="0" tIns="0" bIns="0">
            <a:spAutoFit/>
          </a:bodyPr>
          <a:lstStyle/>
          <a:p>
            <a:pPr algn="l">
              <a:lnSpc>
                <a:spcPct val="120000"/>
              </a:lnSpc>
              <a:spcAft>
                <a:spcPts val="0"/>
              </a:spcAft>
            </a:pPr>
            <a:r>
              <a:rPr sz="1250" b="0">
                <a:solidFill>
                  <a:srgbClr val="77736C"/>
                </a:solidFill>
                <a:latin typeface="Helvetica Neue"/>
              </a:rPr>
              <a:t>Some tools produce a shape you cannot build from. Others wait for a person to model everything by hand. None of them will read the drawings you were actually issued. And every one of them runs on somebody else's servers. Acon reads the drawings, produces a building you can measure and change, and does it on a machine that sits in the office.</a:t>
            </a:r>
          </a:p>
        </p:txBody>
      </p:sp>
      <p:sp>
        <p:nvSpPr>
          <p:cNvPr id="7" name="TextBox 6"/>
          <p:cNvSpPr txBox="1"/>
          <p:nvPr/>
        </p:nvSpPr>
        <p:spPr>
          <a:xfrm>
            <a:off x="761969" y="5806440"/>
            <a:ext cx="9067825" cy="365760"/>
          </a:xfrm>
          <a:prstGeom prst="rect">
            <a:avLst/>
          </a:prstGeom>
          <a:noFill/>
        </p:spPr>
        <p:txBody>
          <a:bodyPr wrap="square" anchor="t" lIns="0" rIns="0" tIns="0" bIns="0">
            <a:spAutoFit/>
          </a:bodyPr>
          <a:lstStyle/>
          <a:p>
            <a:pPr algn="l">
              <a:lnSpc>
                <a:spcPct val="120000"/>
              </a:lnSpc>
              <a:spcAft>
                <a:spcPts val="0"/>
              </a:spcAft>
            </a:pPr>
            <a:r>
              <a:rPr sz="1000" b="0">
                <a:solidFill>
                  <a:srgbClr val="77736C"/>
                </a:solidFill>
                <a:latin typeface="Helvetica Neue"/>
              </a:rPr>
              <a:t>Acon · automatic building generation · Dell Pro Max with GB10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TextBox 1"/>
          <p:cNvSpPr txBox="1"/>
          <p:nvPr/>
        </p:nvSpPr>
        <p:spPr>
          <a:xfrm>
            <a:off x="761969" y="6291072"/>
            <a:ext cx="5334015" cy="274320"/>
          </a:xfrm>
          <a:prstGeom prst="rect">
            <a:avLst/>
          </a:prstGeom>
          <a:noFill/>
        </p:spPr>
        <p:txBody>
          <a:bodyPr wrap="square" anchor="t" lIns="0" rIns="0" tIns="0" bIns="0">
            <a:spAutoFit/>
          </a:bodyPr>
          <a:lstStyle/>
          <a:p>
            <a:pPr algn="l">
              <a:lnSpc>
                <a:spcPct val="120000"/>
              </a:lnSpc>
              <a:spcAft>
                <a:spcPts val="0"/>
              </a:spcAft>
            </a:pPr>
            <a:r>
              <a:rPr sz="850" b="0">
                <a:solidFill>
                  <a:srgbClr val="77736C"/>
                </a:solidFill>
                <a:latin typeface="Helvetica Neue"/>
              </a:rPr>
              <a:t>Acon x Dell Pro Max GB10</a:t>
            </a:r>
          </a:p>
        </p:txBody>
      </p:sp>
      <p:sp>
        <p:nvSpPr>
          <p:cNvPr id="3" name="TextBox 2"/>
          <p:cNvSpPr txBox="1"/>
          <p:nvPr/>
        </p:nvSpPr>
        <p:spPr>
          <a:xfrm>
            <a:off x="10096496" y="6291072"/>
            <a:ext cx="1333503" cy="274320"/>
          </a:xfrm>
          <a:prstGeom prst="rect">
            <a:avLst/>
          </a:prstGeom>
          <a:noFill/>
        </p:spPr>
        <p:txBody>
          <a:bodyPr wrap="square" anchor="t" lIns="0" rIns="0" tIns="0" bIns="0">
            <a:spAutoFit/>
          </a:bodyPr>
          <a:lstStyle/>
          <a:p>
            <a:pPr algn="r">
              <a:lnSpc>
                <a:spcPct val="120000"/>
              </a:lnSpc>
              <a:spcAft>
                <a:spcPts val="0"/>
              </a:spcAft>
            </a:pPr>
            <a:r>
              <a:rPr sz="850" b="0">
                <a:solidFill>
                  <a:srgbClr val="77736C"/>
                </a:solidFill>
                <a:latin typeface="Helvetica Neue"/>
              </a:rPr>
              <a:t>03</a:t>
            </a:r>
          </a:p>
        </p:txBody>
      </p:sp>
      <p:sp>
        <p:nvSpPr>
          <p:cNvPr id="4" name="TextBox 3"/>
          <p:cNvSpPr txBox="1"/>
          <p:nvPr/>
        </p:nvSpPr>
        <p:spPr>
          <a:xfrm>
            <a:off x="761969" y="761969"/>
            <a:ext cx="6667519" cy="274320"/>
          </a:xfrm>
          <a:prstGeom prst="rect">
            <a:avLst/>
          </a:prstGeom>
          <a:noFill/>
        </p:spPr>
        <p:txBody>
          <a:bodyPr wrap="square" anchor="t" lIns="0" rIns="0" tIns="0" bIns="0">
            <a:spAutoFit/>
          </a:bodyPr>
          <a:lstStyle/>
          <a:p>
            <a:pPr algn="l">
              <a:lnSpc>
                <a:spcPct val="120000"/>
              </a:lnSpc>
              <a:spcAft>
                <a:spcPts val="0"/>
              </a:spcAft>
            </a:pPr>
            <a:r>
              <a:rPr sz="950" b="1">
                <a:solidFill>
                  <a:srgbClr val="0F766E"/>
                </a:solidFill>
                <a:latin typeface="Helvetica Neue"/>
              </a:rPr>
              <a:t>AGENDA</a:t>
            </a:r>
          </a:p>
        </p:txBody>
      </p:sp>
      <p:sp>
        <p:nvSpPr>
          <p:cNvPr id="5" name="TextBox 4"/>
          <p:cNvSpPr txBox="1"/>
          <p:nvPr/>
        </p:nvSpPr>
        <p:spPr>
          <a:xfrm>
            <a:off x="761969" y="1234440"/>
            <a:ext cx="5334015" cy="640080"/>
          </a:xfrm>
          <a:prstGeom prst="rect">
            <a:avLst/>
          </a:prstGeom>
          <a:noFill/>
        </p:spPr>
        <p:txBody>
          <a:bodyPr wrap="square" anchor="t" lIns="0" rIns="0" tIns="0" bIns="0">
            <a:spAutoFit/>
          </a:bodyPr>
          <a:lstStyle/>
          <a:p>
            <a:pPr algn="l">
              <a:lnSpc>
                <a:spcPct val="102000"/>
              </a:lnSpc>
              <a:spcAft>
                <a:spcPts val="0"/>
              </a:spcAft>
            </a:pPr>
            <a:r>
              <a:rPr sz="3000" b="1">
                <a:solidFill>
                  <a:srgbClr val="141413"/>
                </a:solidFill>
                <a:latin typeface="Helvetica Neue"/>
              </a:rPr>
              <a:t>Contents</a:t>
            </a:r>
          </a:p>
        </p:txBody>
      </p:sp>
      <p:sp>
        <p:nvSpPr>
          <p:cNvPr id="6" name="Rectangle 5"/>
          <p:cNvSpPr/>
          <p:nvPr/>
        </p:nvSpPr>
        <p:spPr>
          <a:xfrm>
            <a:off x="761969" y="2002536"/>
            <a:ext cx="8801125"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1969" y="2148840"/>
            <a:ext cx="933452" cy="365760"/>
          </a:xfrm>
          <a:prstGeom prst="rect">
            <a:avLst/>
          </a:prstGeom>
          <a:noFill/>
        </p:spPr>
        <p:txBody>
          <a:bodyPr wrap="square" anchor="t" lIns="0" rIns="0" tIns="0" bIns="0">
            <a:spAutoFit/>
          </a:bodyPr>
          <a:lstStyle/>
          <a:p>
            <a:pPr algn="l">
              <a:lnSpc>
                <a:spcPct val="120000"/>
              </a:lnSpc>
              <a:spcAft>
                <a:spcPts val="0"/>
              </a:spcAft>
            </a:pPr>
            <a:r>
              <a:rPr sz="1100" b="1">
                <a:solidFill>
                  <a:srgbClr val="0F766E"/>
                </a:solidFill>
                <a:latin typeface="Helvetica Neue"/>
              </a:rPr>
              <a:t>01</a:t>
            </a:r>
          </a:p>
        </p:txBody>
      </p:sp>
      <p:sp>
        <p:nvSpPr>
          <p:cNvPr id="8" name="TextBox 7"/>
          <p:cNvSpPr txBox="1"/>
          <p:nvPr/>
        </p:nvSpPr>
        <p:spPr>
          <a:xfrm>
            <a:off x="1828772" y="2121408"/>
            <a:ext cx="3200409" cy="365760"/>
          </a:xfrm>
          <a:prstGeom prst="rect">
            <a:avLst/>
          </a:prstGeom>
          <a:noFill/>
        </p:spPr>
        <p:txBody>
          <a:bodyPr wrap="square" anchor="t" lIns="0" rIns="0" tIns="0" bIns="0">
            <a:spAutoFit/>
          </a:bodyPr>
          <a:lstStyle/>
          <a:p>
            <a:pPr algn="l">
              <a:lnSpc>
                <a:spcPct val="120000"/>
              </a:lnSpc>
              <a:spcAft>
                <a:spcPts val="0"/>
              </a:spcAft>
            </a:pPr>
            <a:r>
              <a:rPr sz="1400" b="1">
                <a:solidFill>
                  <a:srgbClr val="141413"/>
                </a:solidFill>
                <a:latin typeface="Helvetica Neue"/>
              </a:rPr>
              <a:t>The product</a:t>
            </a:r>
          </a:p>
        </p:txBody>
      </p:sp>
      <p:sp>
        <p:nvSpPr>
          <p:cNvPr id="9" name="TextBox 8"/>
          <p:cNvSpPr txBox="1"/>
          <p:nvPr/>
        </p:nvSpPr>
        <p:spPr>
          <a:xfrm>
            <a:off x="5295882" y="2148840"/>
            <a:ext cx="4267212" cy="365760"/>
          </a:xfrm>
          <a:prstGeom prst="rect">
            <a:avLst/>
          </a:prstGeom>
          <a:noFill/>
        </p:spPr>
        <p:txBody>
          <a:bodyPr wrap="square" anchor="t" lIns="0" rIns="0" tIns="0" bIns="0">
            <a:spAutoFit/>
          </a:bodyPr>
          <a:lstStyle/>
          <a:p>
            <a:pPr algn="l">
              <a:lnSpc>
                <a:spcPct val="120000"/>
              </a:lnSpc>
              <a:spcAft>
                <a:spcPts val="0"/>
              </a:spcAft>
            </a:pPr>
            <a:r>
              <a:rPr sz="1150" b="0">
                <a:solidFill>
                  <a:srgbClr val="77736C"/>
                </a:solidFill>
                <a:latin typeface="Helvetica Neue"/>
              </a:rPr>
              <a:t>What Acon does</a:t>
            </a:r>
          </a:p>
        </p:txBody>
      </p:sp>
      <p:sp>
        <p:nvSpPr>
          <p:cNvPr id="10" name="Rectangle 9"/>
          <p:cNvSpPr/>
          <p:nvPr/>
        </p:nvSpPr>
        <p:spPr>
          <a:xfrm>
            <a:off x="761969" y="2660904"/>
            <a:ext cx="8801125"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1969" y="2807208"/>
            <a:ext cx="933452" cy="365760"/>
          </a:xfrm>
          <a:prstGeom prst="rect">
            <a:avLst/>
          </a:prstGeom>
          <a:noFill/>
        </p:spPr>
        <p:txBody>
          <a:bodyPr wrap="square" anchor="t" lIns="0" rIns="0" tIns="0" bIns="0">
            <a:spAutoFit/>
          </a:bodyPr>
          <a:lstStyle/>
          <a:p>
            <a:pPr algn="l">
              <a:lnSpc>
                <a:spcPct val="120000"/>
              </a:lnSpc>
              <a:spcAft>
                <a:spcPts val="0"/>
              </a:spcAft>
            </a:pPr>
            <a:r>
              <a:rPr sz="1100" b="1">
                <a:solidFill>
                  <a:srgbClr val="0F766E"/>
                </a:solidFill>
                <a:latin typeface="Helvetica Neue"/>
              </a:rPr>
              <a:t>02</a:t>
            </a:r>
          </a:p>
        </p:txBody>
      </p:sp>
      <p:sp>
        <p:nvSpPr>
          <p:cNvPr id="12" name="TextBox 11"/>
          <p:cNvSpPr txBox="1"/>
          <p:nvPr/>
        </p:nvSpPr>
        <p:spPr>
          <a:xfrm>
            <a:off x="1828772" y="2779776"/>
            <a:ext cx="3200409" cy="365760"/>
          </a:xfrm>
          <a:prstGeom prst="rect">
            <a:avLst/>
          </a:prstGeom>
          <a:noFill/>
        </p:spPr>
        <p:txBody>
          <a:bodyPr wrap="square" anchor="t" lIns="0" rIns="0" tIns="0" bIns="0">
            <a:spAutoFit/>
          </a:bodyPr>
          <a:lstStyle/>
          <a:p>
            <a:pPr algn="l">
              <a:lnSpc>
                <a:spcPct val="120000"/>
              </a:lnSpc>
              <a:spcAft>
                <a:spcPts val="0"/>
              </a:spcAft>
            </a:pPr>
            <a:r>
              <a:rPr sz="1400" b="1">
                <a:solidFill>
                  <a:srgbClr val="141413"/>
                </a:solidFill>
                <a:latin typeface="Helvetica Neue"/>
              </a:rPr>
              <a:t>The difference</a:t>
            </a:r>
          </a:p>
        </p:txBody>
      </p:sp>
      <p:sp>
        <p:nvSpPr>
          <p:cNvPr id="13" name="TextBox 12"/>
          <p:cNvSpPr txBox="1"/>
          <p:nvPr/>
        </p:nvSpPr>
        <p:spPr>
          <a:xfrm>
            <a:off x="5295882" y="2807208"/>
            <a:ext cx="4267212" cy="365760"/>
          </a:xfrm>
          <a:prstGeom prst="rect">
            <a:avLst/>
          </a:prstGeom>
          <a:noFill/>
        </p:spPr>
        <p:txBody>
          <a:bodyPr wrap="square" anchor="t" lIns="0" rIns="0" tIns="0" bIns="0">
            <a:spAutoFit/>
          </a:bodyPr>
          <a:lstStyle/>
          <a:p>
            <a:pPr algn="l">
              <a:lnSpc>
                <a:spcPct val="120000"/>
              </a:lnSpc>
              <a:spcAft>
                <a:spcPts val="0"/>
              </a:spcAft>
            </a:pPr>
            <a:r>
              <a:rPr sz="1150" b="0">
                <a:solidFill>
                  <a:srgbClr val="77736C"/>
                </a:solidFill>
                <a:latin typeface="Helvetica Neue"/>
              </a:rPr>
              <a:t>Why nothing else does this</a:t>
            </a:r>
          </a:p>
        </p:txBody>
      </p:sp>
      <p:sp>
        <p:nvSpPr>
          <p:cNvPr id="14" name="Rectangle 13"/>
          <p:cNvSpPr/>
          <p:nvPr/>
        </p:nvSpPr>
        <p:spPr>
          <a:xfrm>
            <a:off x="761969" y="3319272"/>
            <a:ext cx="8801125"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1969" y="3465576"/>
            <a:ext cx="933452" cy="365760"/>
          </a:xfrm>
          <a:prstGeom prst="rect">
            <a:avLst/>
          </a:prstGeom>
          <a:noFill/>
        </p:spPr>
        <p:txBody>
          <a:bodyPr wrap="square" anchor="t" lIns="0" rIns="0" tIns="0" bIns="0">
            <a:spAutoFit/>
          </a:bodyPr>
          <a:lstStyle/>
          <a:p>
            <a:pPr algn="l">
              <a:lnSpc>
                <a:spcPct val="120000"/>
              </a:lnSpc>
              <a:spcAft>
                <a:spcPts val="0"/>
              </a:spcAft>
            </a:pPr>
            <a:r>
              <a:rPr sz="1100" b="1">
                <a:solidFill>
                  <a:srgbClr val="0F766E"/>
                </a:solidFill>
                <a:latin typeface="Helvetica Neue"/>
              </a:rPr>
              <a:t>03</a:t>
            </a:r>
          </a:p>
        </p:txBody>
      </p:sp>
      <p:sp>
        <p:nvSpPr>
          <p:cNvPr id="16" name="TextBox 15"/>
          <p:cNvSpPr txBox="1"/>
          <p:nvPr/>
        </p:nvSpPr>
        <p:spPr>
          <a:xfrm>
            <a:off x="1828772" y="3438144"/>
            <a:ext cx="3200409" cy="365760"/>
          </a:xfrm>
          <a:prstGeom prst="rect">
            <a:avLst/>
          </a:prstGeom>
          <a:noFill/>
        </p:spPr>
        <p:txBody>
          <a:bodyPr wrap="square" anchor="t" lIns="0" rIns="0" tIns="0" bIns="0">
            <a:spAutoFit/>
          </a:bodyPr>
          <a:lstStyle/>
          <a:p>
            <a:pPr algn="l">
              <a:lnSpc>
                <a:spcPct val="120000"/>
              </a:lnSpc>
              <a:spcAft>
                <a:spcPts val="0"/>
              </a:spcAft>
            </a:pPr>
            <a:r>
              <a:rPr sz="1400" b="1">
                <a:solidFill>
                  <a:srgbClr val="141413"/>
                </a:solidFill>
                <a:latin typeface="Helvetica Neue"/>
              </a:rPr>
              <a:t>The reason</a:t>
            </a:r>
          </a:p>
        </p:txBody>
      </p:sp>
      <p:sp>
        <p:nvSpPr>
          <p:cNvPr id="17" name="TextBox 16"/>
          <p:cNvSpPr txBox="1"/>
          <p:nvPr/>
        </p:nvSpPr>
        <p:spPr>
          <a:xfrm>
            <a:off x="5295882" y="3465576"/>
            <a:ext cx="4267212" cy="365760"/>
          </a:xfrm>
          <a:prstGeom prst="rect">
            <a:avLst/>
          </a:prstGeom>
          <a:noFill/>
        </p:spPr>
        <p:txBody>
          <a:bodyPr wrap="square" anchor="t" lIns="0" rIns="0" tIns="0" bIns="0">
            <a:spAutoFit/>
          </a:bodyPr>
          <a:lstStyle/>
          <a:p>
            <a:pPr algn="l">
              <a:lnSpc>
                <a:spcPct val="120000"/>
              </a:lnSpc>
              <a:spcAft>
                <a:spcPts val="0"/>
              </a:spcAft>
            </a:pPr>
            <a:r>
              <a:rPr sz="1150" b="0">
                <a:solidFill>
                  <a:srgbClr val="77736C"/>
                </a:solidFill>
                <a:latin typeface="Helvetica Neue"/>
              </a:rPr>
              <a:t>Why it has to stay in-house</a:t>
            </a:r>
          </a:p>
        </p:txBody>
      </p:sp>
      <p:sp>
        <p:nvSpPr>
          <p:cNvPr id="18" name="Rectangle 17"/>
          <p:cNvSpPr/>
          <p:nvPr/>
        </p:nvSpPr>
        <p:spPr>
          <a:xfrm>
            <a:off x="761969" y="3977639"/>
            <a:ext cx="8801125"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1969" y="4123944"/>
            <a:ext cx="933452" cy="365760"/>
          </a:xfrm>
          <a:prstGeom prst="rect">
            <a:avLst/>
          </a:prstGeom>
          <a:noFill/>
        </p:spPr>
        <p:txBody>
          <a:bodyPr wrap="square" anchor="t" lIns="0" rIns="0" tIns="0" bIns="0">
            <a:spAutoFit/>
          </a:bodyPr>
          <a:lstStyle/>
          <a:p>
            <a:pPr algn="l">
              <a:lnSpc>
                <a:spcPct val="120000"/>
              </a:lnSpc>
              <a:spcAft>
                <a:spcPts val="0"/>
              </a:spcAft>
            </a:pPr>
            <a:r>
              <a:rPr sz="1100" b="1">
                <a:solidFill>
                  <a:srgbClr val="0F766E"/>
                </a:solidFill>
                <a:latin typeface="Helvetica Neue"/>
              </a:rPr>
              <a:t>04</a:t>
            </a:r>
          </a:p>
        </p:txBody>
      </p:sp>
      <p:sp>
        <p:nvSpPr>
          <p:cNvPr id="20" name="TextBox 19"/>
          <p:cNvSpPr txBox="1"/>
          <p:nvPr/>
        </p:nvSpPr>
        <p:spPr>
          <a:xfrm>
            <a:off x="1828772" y="4096511"/>
            <a:ext cx="3200409" cy="365760"/>
          </a:xfrm>
          <a:prstGeom prst="rect">
            <a:avLst/>
          </a:prstGeom>
          <a:noFill/>
        </p:spPr>
        <p:txBody>
          <a:bodyPr wrap="square" anchor="t" lIns="0" rIns="0" tIns="0" bIns="0">
            <a:spAutoFit/>
          </a:bodyPr>
          <a:lstStyle/>
          <a:p>
            <a:pPr algn="l">
              <a:lnSpc>
                <a:spcPct val="120000"/>
              </a:lnSpc>
              <a:spcAft>
                <a:spcPts val="0"/>
              </a:spcAft>
            </a:pPr>
            <a:r>
              <a:rPr sz="1400" b="1">
                <a:solidFill>
                  <a:srgbClr val="141413"/>
                </a:solidFill>
                <a:latin typeface="Helvetica Neue"/>
              </a:rPr>
              <a:t>The machine</a:t>
            </a:r>
          </a:p>
        </p:txBody>
      </p:sp>
      <p:sp>
        <p:nvSpPr>
          <p:cNvPr id="21" name="TextBox 20"/>
          <p:cNvSpPr txBox="1"/>
          <p:nvPr/>
        </p:nvSpPr>
        <p:spPr>
          <a:xfrm>
            <a:off x="5295882" y="4123944"/>
            <a:ext cx="4267212" cy="365760"/>
          </a:xfrm>
          <a:prstGeom prst="rect">
            <a:avLst/>
          </a:prstGeom>
          <a:noFill/>
        </p:spPr>
        <p:txBody>
          <a:bodyPr wrap="square" anchor="t" lIns="0" rIns="0" tIns="0" bIns="0">
            <a:spAutoFit/>
          </a:bodyPr>
          <a:lstStyle/>
          <a:p>
            <a:pPr algn="l">
              <a:lnSpc>
                <a:spcPct val="120000"/>
              </a:lnSpc>
              <a:spcAft>
                <a:spcPts val="0"/>
              </a:spcAft>
            </a:pPr>
            <a:r>
              <a:rPr sz="1150" b="0">
                <a:solidFill>
                  <a:srgbClr val="77736C"/>
                </a:solidFill>
                <a:latin typeface="Helvetica Neue"/>
              </a:rPr>
              <a:t>Dell Pro Max with GB10</a:t>
            </a:r>
          </a:p>
        </p:txBody>
      </p:sp>
      <p:sp>
        <p:nvSpPr>
          <p:cNvPr id="22" name="Rectangle 21"/>
          <p:cNvSpPr/>
          <p:nvPr/>
        </p:nvSpPr>
        <p:spPr>
          <a:xfrm>
            <a:off x="761969" y="4636007"/>
            <a:ext cx="8801125"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1969" y="4782312"/>
            <a:ext cx="933452" cy="365760"/>
          </a:xfrm>
          <a:prstGeom prst="rect">
            <a:avLst/>
          </a:prstGeom>
          <a:noFill/>
        </p:spPr>
        <p:txBody>
          <a:bodyPr wrap="square" anchor="t" lIns="0" rIns="0" tIns="0" bIns="0">
            <a:spAutoFit/>
          </a:bodyPr>
          <a:lstStyle/>
          <a:p>
            <a:pPr algn="l">
              <a:lnSpc>
                <a:spcPct val="120000"/>
              </a:lnSpc>
              <a:spcAft>
                <a:spcPts val="0"/>
              </a:spcAft>
            </a:pPr>
            <a:r>
              <a:rPr sz="1100" b="1">
                <a:solidFill>
                  <a:srgbClr val="0F766E"/>
                </a:solidFill>
                <a:latin typeface="Helvetica Neue"/>
              </a:rPr>
              <a:t>05</a:t>
            </a:r>
          </a:p>
        </p:txBody>
      </p:sp>
      <p:sp>
        <p:nvSpPr>
          <p:cNvPr id="24" name="TextBox 23"/>
          <p:cNvSpPr txBox="1"/>
          <p:nvPr/>
        </p:nvSpPr>
        <p:spPr>
          <a:xfrm>
            <a:off x="1828772" y="4754879"/>
            <a:ext cx="3200409" cy="365760"/>
          </a:xfrm>
          <a:prstGeom prst="rect">
            <a:avLst/>
          </a:prstGeom>
          <a:noFill/>
        </p:spPr>
        <p:txBody>
          <a:bodyPr wrap="square" anchor="t" lIns="0" rIns="0" tIns="0" bIns="0">
            <a:spAutoFit/>
          </a:bodyPr>
          <a:lstStyle/>
          <a:p>
            <a:pPr algn="l">
              <a:lnSpc>
                <a:spcPct val="120000"/>
              </a:lnSpc>
              <a:spcAft>
                <a:spcPts val="0"/>
              </a:spcAft>
            </a:pPr>
            <a:r>
              <a:rPr sz="1400" b="1">
                <a:solidFill>
                  <a:srgbClr val="141413"/>
                </a:solidFill>
                <a:latin typeface="Helvetica Neue"/>
              </a:rPr>
              <a:t>The models</a:t>
            </a:r>
          </a:p>
        </p:txBody>
      </p:sp>
      <p:sp>
        <p:nvSpPr>
          <p:cNvPr id="25" name="TextBox 24"/>
          <p:cNvSpPr txBox="1"/>
          <p:nvPr/>
        </p:nvSpPr>
        <p:spPr>
          <a:xfrm>
            <a:off x="5295882" y="4782312"/>
            <a:ext cx="4267212" cy="365760"/>
          </a:xfrm>
          <a:prstGeom prst="rect">
            <a:avLst/>
          </a:prstGeom>
          <a:noFill/>
        </p:spPr>
        <p:txBody>
          <a:bodyPr wrap="square" anchor="t" lIns="0" rIns="0" tIns="0" bIns="0">
            <a:spAutoFit/>
          </a:bodyPr>
          <a:lstStyle/>
          <a:p>
            <a:pPr algn="l">
              <a:lnSpc>
                <a:spcPct val="120000"/>
              </a:lnSpc>
              <a:spcAft>
                <a:spcPts val="0"/>
              </a:spcAft>
            </a:pPr>
            <a:r>
              <a:rPr sz="1150" b="0">
                <a:solidFill>
                  <a:srgbClr val="77736C"/>
                </a:solidFill>
                <a:latin typeface="Helvetica Neue"/>
              </a:rPr>
              <a:t>Reading drawings, locally</a:t>
            </a:r>
          </a:p>
        </p:txBody>
      </p:sp>
      <p:sp>
        <p:nvSpPr>
          <p:cNvPr id="26" name="Rectangle 25"/>
          <p:cNvSpPr/>
          <p:nvPr/>
        </p:nvSpPr>
        <p:spPr>
          <a:xfrm>
            <a:off x="761969" y="5294375"/>
            <a:ext cx="8801125"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1969" y="5440679"/>
            <a:ext cx="933452" cy="365760"/>
          </a:xfrm>
          <a:prstGeom prst="rect">
            <a:avLst/>
          </a:prstGeom>
          <a:noFill/>
        </p:spPr>
        <p:txBody>
          <a:bodyPr wrap="square" anchor="t" lIns="0" rIns="0" tIns="0" bIns="0">
            <a:spAutoFit/>
          </a:bodyPr>
          <a:lstStyle/>
          <a:p>
            <a:pPr algn="l">
              <a:lnSpc>
                <a:spcPct val="120000"/>
              </a:lnSpc>
              <a:spcAft>
                <a:spcPts val="0"/>
              </a:spcAft>
            </a:pPr>
            <a:r>
              <a:rPr sz="1100" b="1">
                <a:solidFill>
                  <a:srgbClr val="0F766E"/>
                </a:solidFill>
                <a:latin typeface="Helvetica Neue"/>
              </a:rPr>
              <a:t>06</a:t>
            </a:r>
          </a:p>
        </p:txBody>
      </p:sp>
      <p:sp>
        <p:nvSpPr>
          <p:cNvPr id="28" name="TextBox 27"/>
          <p:cNvSpPr txBox="1"/>
          <p:nvPr/>
        </p:nvSpPr>
        <p:spPr>
          <a:xfrm>
            <a:off x="1828772" y="5413247"/>
            <a:ext cx="3200409" cy="365760"/>
          </a:xfrm>
          <a:prstGeom prst="rect">
            <a:avLst/>
          </a:prstGeom>
          <a:noFill/>
        </p:spPr>
        <p:txBody>
          <a:bodyPr wrap="square" anchor="t" lIns="0" rIns="0" tIns="0" bIns="0">
            <a:spAutoFit/>
          </a:bodyPr>
          <a:lstStyle/>
          <a:p>
            <a:pPr algn="l">
              <a:lnSpc>
                <a:spcPct val="120000"/>
              </a:lnSpc>
              <a:spcAft>
                <a:spcPts val="0"/>
              </a:spcAft>
            </a:pPr>
            <a:r>
              <a:rPr sz="1400" b="1">
                <a:solidFill>
                  <a:srgbClr val="141413"/>
                </a:solidFill>
                <a:latin typeface="Helvetica Neue"/>
              </a:rPr>
              <a:t>The plan</a:t>
            </a:r>
          </a:p>
        </p:txBody>
      </p:sp>
      <p:sp>
        <p:nvSpPr>
          <p:cNvPr id="29" name="TextBox 28"/>
          <p:cNvSpPr txBox="1"/>
          <p:nvPr/>
        </p:nvSpPr>
        <p:spPr>
          <a:xfrm>
            <a:off x="5295882" y="5440679"/>
            <a:ext cx="4267212" cy="365760"/>
          </a:xfrm>
          <a:prstGeom prst="rect">
            <a:avLst/>
          </a:prstGeom>
          <a:noFill/>
        </p:spPr>
        <p:txBody>
          <a:bodyPr wrap="square" anchor="t" lIns="0" rIns="0" tIns="0" bIns="0">
            <a:spAutoFit/>
          </a:bodyPr>
          <a:lstStyle/>
          <a:p>
            <a:pPr algn="l">
              <a:lnSpc>
                <a:spcPct val="120000"/>
              </a:lnSpc>
              <a:spcAft>
                <a:spcPts val="0"/>
              </a:spcAft>
            </a:pPr>
            <a:r>
              <a:rPr sz="1150" b="0">
                <a:solidFill>
                  <a:srgbClr val="77736C"/>
                </a:solidFill>
                <a:latin typeface="Helvetica Neue"/>
              </a:rPr>
              <a:t>What we need, and what happens next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1413"/>
        </a:solidFill>
        <a:effectLst/>
      </p:bgPr>
    </p:bg>
    <p:spTree>
      <p:nvGrpSpPr>
        <p:cNvPr id="1" name=""/>
        <p:cNvGrpSpPr/>
        <p:nvPr/>
      </p:nvGrpSpPr>
      <p:grpSpPr/>
      <p:sp>
        <p:nvSpPr>
          <p:cNvPr id="2" name="TextBox 1"/>
          <p:cNvSpPr txBox="1"/>
          <p:nvPr/>
        </p:nvSpPr>
        <p:spPr>
          <a:xfrm>
            <a:off x="761969" y="6291072"/>
            <a:ext cx="5334015" cy="274320"/>
          </a:xfrm>
          <a:prstGeom prst="rect">
            <a:avLst/>
          </a:prstGeom>
          <a:noFill/>
        </p:spPr>
        <p:txBody>
          <a:bodyPr wrap="square" anchor="t" lIns="0" rIns="0" tIns="0" bIns="0">
            <a:spAutoFit/>
          </a:bodyPr>
          <a:lstStyle/>
          <a:p>
            <a:pPr algn="l">
              <a:lnSpc>
                <a:spcPct val="120000"/>
              </a:lnSpc>
              <a:spcAft>
                <a:spcPts val="0"/>
              </a:spcAft>
            </a:pPr>
            <a:r>
              <a:rPr sz="850" b="0">
                <a:solidFill>
                  <a:srgbClr val="8A867E"/>
                </a:solidFill>
                <a:latin typeface="Helvetica Neue"/>
              </a:rPr>
              <a:t>Acon x Dell Pro Max GB10</a:t>
            </a:r>
          </a:p>
        </p:txBody>
      </p:sp>
      <p:sp>
        <p:nvSpPr>
          <p:cNvPr id="3" name="TextBox 2"/>
          <p:cNvSpPr txBox="1"/>
          <p:nvPr/>
        </p:nvSpPr>
        <p:spPr>
          <a:xfrm>
            <a:off x="10096496" y="6291072"/>
            <a:ext cx="1333503" cy="274320"/>
          </a:xfrm>
          <a:prstGeom prst="rect">
            <a:avLst/>
          </a:prstGeom>
          <a:noFill/>
        </p:spPr>
        <p:txBody>
          <a:bodyPr wrap="square" anchor="t" lIns="0" rIns="0" tIns="0" bIns="0">
            <a:spAutoFit/>
          </a:bodyPr>
          <a:lstStyle/>
          <a:p>
            <a:pPr algn="r">
              <a:lnSpc>
                <a:spcPct val="120000"/>
              </a:lnSpc>
              <a:spcAft>
                <a:spcPts val="0"/>
              </a:spcAft>
            </a:pPr>
            <a:r>
              <a:rPr sz="850" b="0">
                <a:solidFill>
                  <a:srgbClr val="8A867E"/>
                </a:solidFill>
                <a:latin typeface="Helvetica Neue"/>
              </a:rPr>
              <a:t>04</a:t>
            </a:r>
          </a:p>
        </p:txBody>
      </p:sp>
      <p:sp>
        <p:nvSpPr>
          <p:cNvPr id="4" name="TextBox 3"/>
          <p:cNvSpPr txBox="1"/>
          <p:nvPr/>
        </p:nvSpPr>
        <p:spPr>
          <a:xfrm>
            <a:off x="761969" y="2377440"/>
            <a:ext cx="2667007" cy="1097280"/>
          </a:xfrm>
          <a:prstGeom prst="rect">
            <a:avLst/>
          </a:prstGeom>
          <a:noFill/>
        </p:spPr>
        <p:txBody>
          <a:bodyPr wrap="square" anchor="t" lIns="0" rIns="0" tIns="0" bIns="0">
            <a:spAutoFit/>
          </a:bodyPr>
          <a:lstStyle/>
          <a:p>
            <a:pPr algn="l">
              <a:lnSpc>
                <a:spcPct val="102000"/>
              </a:lnSpc>
              <a:spcAft>
                <a:spcPts val="0"/>
              </a:spcAft>
            </a:pPr>
            <a:r>
              <a:rPr sz="6400" b="1">
                <a:solidFill>
                  <a:srgbClr val="F4F2ED"/>
                </a:solidFill>
                <a:latin typeface="Helvetica Neue"/>
              </a:rPr>
              <a:t>01</a:t>
            </a:r>
          </a:p>
        </p:txBody>
      </p:sp>
      <p:sp>
        <p:nvSpPr>
          <p:cNvPr id="5" name="Rectangle 4"/>
          <p:cNvSpPr/>
          <p:nvPr/>
        </p:nvSpPr>
        <p:spPr>
          <a:xfrm>
            <a:off x="761969" y="3794760"/>
            <a:ext cx="1600204" cy="2743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1969" y="4114800"/>
            <a:ext cx="6667519" cy="731520"/>
          </a:xfrm>
          <a:prstGeom prst="rect">
            <a:avLst/>
          </a:prstGeom>
          <a:noFill/>
        </p:spPr>
        <p:txBody>
          <a:bodyPr wrap="square" anchor="t" lIns="0" rIns="0" tIns="0" bIns="0">
            <a:spAutoFit/>
          </a:bodyPr>
          <a:lstStyle/>
          <a:p>
            <a:pPr algn="l">
              <a:lnSpc>
                <a:spcPct val="102000"/>
              </a:lnSpc>
              <a:spcAft>
                <a:spcPts val="0"/>
              </a:spcAft>
            </a:pPr>
            <a:r>
              <a:rPr sz="2600" b="1">
                <a:solidFill>
                  <a:srgbClr val="F4F2ED"/>
                </a:solidFill>
                <a:latin typeface="Helvetica Neue"/>
              </a:rPr>
              <a:t>The product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TextBox 1"/>
          <p:cNvSpPr txBox="1"/>
          <p:nvPr/>
        </p:nvSpPr>
        <p:spPr>
          <a:xfrm>
            <a:off x="761969" y="6291072"/>
            <a:ext cx="5334015" cy="274320"/>
          </a:xfrm>
          <a:prstGeom prst="rect">
            <a:avLst/>
          </a:prstGeom>
          <a:noFill/>
        </p:spPr>
        <p:txBody>
          <a:bodyPr wrap="square" anchor="t" lIns="0" rIns="0" tIns="0" bIns="0">
            <a:spAutoFit/>
          </a:bodyPr>
          <a:lstStyle/>
          <a:p>
            <a:pPr algn="l">
              <a:lnSpc>
                <a:spcPct val="120000"/>
              </a:lnSpc>
              <a:spcAft>
                <a:spcPts val="0"/>
              </a:spcAft>
            </a:pPr>
            <a:r>
              <a:rPr sz="850" b="0">
                <a:solidFill>
                  <a:srgbClr val="77736C"/>
                </a:solidFill>
                <a:latin typeface="Helvetica Neue"/>
              </a:rPr>
              <a:t>Acon x Dell Pro Max GB10</a:t>
            </a:r>
          </a:p>
        </p:txBody>
      </p:sp>
      <p:sp>
        <p:nvSpPr>
          <p:cNvPr id="3" name="TextBox 2"/>
          <p:cNvSpPr txBox="1"/>
          <p:nvPr/>
        </p:nvSpPr>
        <p:spPr>
          <a:xfrm>
            <a:off x="10096496" y="6291072"/>
            <a:ext cx="1333503" cy="274320"/>
          </a:xfrm>
          <a:prstGeom prst="rect">
            <a:avLst/>
          </a:prstGeom>
          <a:noFill/>
        </p:spPr>
        <p:txBody>
          <a:bodyPr wrap="square" anchor="t" lIns="0" rIns="0" tIns="0" bIns="0">
            <a:spAutoFit/>
          </a:bodyPr>
          <a:lstStyle/>
          <a:p>
            <a:pPr algn="r">
              <a:lnSpc>
                <a:spcPct val="120000"/>
              </a:lnSpc>
              <a:spcAft>
                <a:spcPts val="0"/>
              </a:spcAft>
            </a:pPr>
            <a:r>
              <a:rPr sz="850" b="0">
                <a:solidFill>
                  <a:srgbClr val="77736C"/>
                </a:solidFill>
                <a:latin typeface="Helvetica Neue"/>
              </a:rPr>
              <a:t>05</a:t>
            </a:r>
          </a:p>
        </p:txBody>
      </p:sp>
      <p:sp>
        <p:nvSpPr>
          <p:cNvPr id="4" name="TextBox 3"/>
          <p:cNvSpPr txBox="1"/>
          <p:nvPr/>
        </p:nvSpPr>
        <p:spPr>
          <a:xfrm>
            <a:off x="761969" y="761969"/>
            <a:ext cx="6667519" cy="274320"/>
          </a:xfrm>
          <a:prstGeom prst="rect">
            <a:avLst/>
          </a:prstGeom>
          <a:noFill/>
        </p:spPr>
        <p:txBody>
          <a:bodyPr wrap="square" anchor="t" lIns="0" rIns="0" tIns="0" bIns="0">
            <a:spAutoFit/>
          </a:bodyPr>
          <a:lstStyle/>
          <a:p>
            <a:pPr algn="l">
              <a:lnSpc>
                <a:spcPct val="120000"/>
              </a:lnSpc>
              <a:spcAft>
                <a:spcPts val="0"/>
              </a:spcAft>
            </a:pPr>
            <a:r>
              <a:rPr sz="950" b="1">
                <a:solidFill>
                  <a:srgbClr val="0F766E"/>
                </a:solidFill>
                <a:latin typeface="Helvetica Neue"/>
              </a:rPr>
              <a:t>01 — THE PRODUCT</a:t>
            </a:r>
          </a:p>
        </p:txBody>
      </p:sp>
      <p:sp>
        <p:nvSpPr>
          <p:cNvPr id="5" name="TextBox 4"/>
          <p:cNvSpPr txBox="1"/>
          <p:nvPr/>
        </p:nvSpPr>
        <p:spPr>
          <a:xfrm>
            <a:off x="761969" y="1234440"/>
            <a:ext cx="5867416" cy="1371600"/>
          </a:xfrm>
          <a:prstGeom prst="rect">
            <a:avLst/>
          </a:prstGeom>
          <a:noFill/>
        </p:spPr>
        <p:txBody>
          <a:bodyPr wrap="square" anchor="t" lIns="0" rIns="0" tIns="0" bIns="0">
            <a:spAutoFit/>
          </a:bodyPr>
          <a:lstStyle/>
          <a:p>
            <a:pPr algn="l">
              <a:lnSpc>
                <a:spcPct val="102000"/>
              </a:lnSpc>
              <a:spcAft>
                <a:spcPts val="0"/>
              </a:spcAft>
            </a:pPr>
            <a:r>
              <a:rPr sz="2600" b="1">
                <a:solidFill>
                  <a:srgbClr val="141413"/>
                </a:solidFill>
                <a:latin typeface="Helvetica Neue"/>
              </a:rPr>
              <a:t>Describe a building, or hand it a drawing set.</a:t>
            </a:r>
          </a:p>
        </p:txBody>
      </p:sp>
      <p:sp>
        <p:nvSpPr>
          <p:cNvPr id="6" name="TextBox 5"/>
          <p:cNvSpPr txBox="1"/>
          <p:nvPr/>
        </p:nvSpPr>
        <p:spPr>
          <a:xfrm>
            <a:off x="761969" y="2834640"/>
            <a:ext cx="5467365" cy="2560320"/>
          </a:xfrm>
          <a:prstGeom prst="rect">
            <a:avLst/>
          </a:prstGeom>
          <a:noFill/>
        </p:spPr>
        <p:txBody>
          <a:bodyPr wrap="square" anchor="t" lIns="0" rIns="0" tIns="0" bIns="0">
            <a:spAutoFit/>
          </a:bodyPr>
          <a:lstStyle/>
          <a:p>
            <a:pPr algn="l">
              <a:lnSpc>
                <a:spcPct val="120000"/>
              </a:lnSpc>
              <a:spcAft>
                <a:spcPts val="0"/>
              </a:spcAft>
            </a:pPr>
            <a:r>
              <a:rPr sz="1250" b="0">
                <a:solidFill>
                  <a:srgbClr val="77736C"/>
                </a:solidFill>
                <a:latin typeface="Helvetica Neue"/>
              </a:rPr>
              <a:t>Acon is an assistant that actually produces the model. Tell it what you want in plain words, or give it the drawings for a project, and it builds a complete 3D building: floors, rooms, walls, doors and windows, and the services running through them. Everything is dimensioned, so it can be measured and used — and anything can be changed afterwards just by asking.</a:t>
            </a:r>
          </a:p>
        </p:txBody>
      </p:sp>
      <p:sp>
        <p:nvSpPr>
          <p:cNvPr id="7" name="Rectangle 6"/>
          <p:cNvSpPr/>
          <p:nvPr/>
        </p:nvSpPr>
        <p:spPr>
          <a:xfrm>
            <a:off x="7429488" y="1280160"/>
            <a:ext cx="4000511"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29488" y="1463040"/>
            <a:ext cx="4000511" cy="320040"/>
          </a:xfrm>
          <a:prstGeom prst="rect">
            <a:avLst/>
          </a:prstGeom>
          <a:noFill/>
        </p:spPr>
        <p:txBody>
          <a:bodyPr wrap="square" anchor="t" lIns="0" rIns="0" tIns="0" bIns="0">
            <a:spAutoFit/>
          </a:bodyPr>
          <a:lstStyle/>
          <a:p>
            <a:pPr algn="l">
              <a:lnSpc>
                <a:spcPct val="120000"/>
              </a:lnSpc>
              <a:spcAft>
                <a:spcPts val="0"/>
              </a:spcAft>
            </a:pPr>
            <a:r>
              <a:rPr sz="950" b="1">
                <a:solidFill>
                  <a:srgbClr val="141413"/>
                </a:solidFill>
                <a:latin typeface="Helvetica Neue"/>
              </a:rPr>
              <a:t>WHAT YOU CAN ASK IT FOR</a:t>
            </a:r>
          </a:p>
        </p:txBody>
      </p:sp>
      <p:sp>
        <p:nvSpPr>
          <p:cNvPr id="9" name="TextBox 8"/>
          <p:cNvSpPr txBox="1"/>
          <p:nvPr/>
        </p:nvSpPr>
        <p:spPr>
          <a:xfrm>
            <a:off x="7429488" y="1965960"/>
            <a:ext cx="4000511" cy="502920"/>
          </a:xfrm>
          <a:prstGeom prst="rect">
            <a:avLst/>
          </a:prstGeom>
          <a:noFill/>
        </p:spPr>
        <p:txBody>
          <a:bodyPr wrap="square" anchor="t" lIns="0" rIns="0" tIns="0" bIns="0">
            <a:spAutoFit/>
          </a:bodyPr>
          <a:lstStyle/>
          <a:p>
            <a:pPr algn="l">
              <a:lnSpc>
                <a:spcPct val="120000"/>
              </a:lnSpc>
              <a:spcAft>
                <a:spcPts val="0"/>
              </a:spcAft>
            </a:pPr>
            <a:r>
              <a:rPr sz="1150" b="0">
                <a:solidFill>
                  <a:srgbClr val="77736C"/>
                </a:solidFill>
                <a:latin typeface="Helvetica Neue"/>
              </a:rPr>
              <a:t>Describe a building and get one</a:t>
            </a:r>
          </a:p>
        </p:txBody>
      </p:sp>
      <p:sp>
        <p:nvSpPr>
          <p:cNvPr id="10" name="TextBox 9"/>
          <p:cNvSpPr txBox="1"/>
          <p:nvPr/>
        </p:nvSpPr>
        <p:spPr>
          <a:xfrm>
            <a:off x="7429488" y="2532888"/>
            <a:ext cx="4000511" cy="502920"/>
          </a:xfrm>
          <a:prstGeom prst="rect">
            <a:avLst/>
          </a:prstGeom>
          <a:noFill/>
        </p:spPr>
        <p:txBody>
          <a:bodyPr wrap="square" anchor="t" lIns="0" rIns="0" tIns="0" bIns="0">
            <a:spAutoFit/>
          </a:bodyPr>
          <a:lstStyle/>
          <a:p>
            <a:pPr algn="l">
              <a:lnSpc>
                <a:spcPct val="120000"/>
              </a:lnSpc>
              <a:spcAft>
                <a:spcPts val="0"/>
              </a:spcAft>
            </a:pPr>
            <a:r>
              <a:rPr sz="1150" b="0">
                <a:solidFill>
                  <a:srgbClr val="77736C"/>
                </a:solidFill>
                <a:latin typeface="Helvetica Neue"/>
              </a:rPr>
              <a:t>Hand over drawings and get a model</a:t>
            </a:r>
          </a:p>
        </p:txBody>
      </p:sp>
      <p:sp>
        <p:nvSpPr>
          <p:cNvPr id="11" name="TextBox 10"/>
          <p:cNvSpPr txBox="1"/>
          <p:nvPr/>
        </p:nvSpPr>
        <p:spPr>
          <a:xfrm>
            <a:off x="7429488" y="3099816"/>
            <a:ext cx="4000511" cy="502920"/>
          </a:xfrm>
          <a:prstGeom prst="rect">
            <a:avLst/>
          </a:prstGeom>
          <a:noFill/>
        </p:spPr>
        <p:txBody>
          <a:bodyPr wrap="square" anchor="t" lIns="0" rIns="0" tIns="0" bIns="0">
            <a:spAutoFit/>
          </a:bodyPr>
          <a:lstStyle/>
          <a:p>
            <a:pPr algn="l">
              <a:lnSpc>
                <a:spcPct val="120000"/>
              </a:lnSpc>
              <a:spcAft>
                <a:spcPts val="0"/>
              </a:spcAft>
            </a:pPr>
            <a:r>
              <a:rPr sz="1150" b="0">
                <a:solidFill>
                  <a:srgbClr val="77736C"/>
                </a:solidFill>
                <a:latin typeface="Helvetica Neue"/>
              </a:rPr>
              <a:t>Change anything by asking</a:t>
            </a:r>
          </a:p>
        </p:txBody>
      </p:sp>
      <p:sp>
        <p:nvSpPr>
          <p:cNvPr id="12" name="TextBox 11"/>
          <p:cNvSpPr txBox="1"/>
          <p:nvPr/>
        </p:nvSpPr>
        <p:spPr>
          <a:xfrm>
            <a:off x="7429488" y="3666744"/>
            <a:ext cx="4000511" cy="502920"/>
          </a:xfrm>
          <a:prstGeom prst="rect">
            <a:avLst/>
          </a:prstGeom>
          <a:noFill/>
        </p:spPr>
        <p:txBody>
          <a:bodyPr wrap="square" anchor="t" lIns="0" rIns="0" tIns="0" bIns="0">
            <a:spAutoFit/>
          </a:bodyPr>
          <a:lstStyle/>
          <a:p>
            <a:pPr algn="l">
              <a:lnSpc>
                <a:spcPct val="120000"/>
              </a:lnSpc>
              <a:spcAft>
                <a:spcPts val="0"/>
              </a:spcAft>
            </a:pPr>
            <a:r>
              <a:rPr sz="1150" b="0">
                <a:solidFill>
                  <a:srgbClr val="77736C"/>
                </a:solidFill>
                <a:latin typeface="Helvetica Neue"/>
              </a:rPr>
              <a:t>Ask questions about what's on screen</a:t>
            </a:r>
          </a:p>
        </p:txBody>
      </p:sp>
      <p:sp>
        <p:nvSpPr>
          <p:cNvPr id="13" name="TextBox 12"/>
          <p:cNvSpPr txBox="1"/>
          <p:nvPr/>
        </p:nvSpPr>
        <p:spPr>
          <a:xfrm>
            <a:off x="7429488" y="4233672"/>
            <a:ext cx="4000511" cy="502920"/>
          </a:xfrm>
          <a:prstGeom prst="rect">
            <a:avLst/>
          </a:prstGeom>
          <a:noFill/>
        </p:spPr>
        <p:txBody>
          <a:bodyPr wrap="square" anchor="t" lIns="0" rIns="0" tIns="0" bIns="0">
            <a:spAutoFit/>
          </a:bodyPr>
          <a:lstStyle/>
          <a:p>
            <a:pPr algn="l">
              <a:lnSpc>
                <a:spcPct val="120000"/>
              </a:lnSpc>
              <a:spcAft>
                <a:spcPts val="0"/>
              </a:spcAft>
            </a:pPr>
            <a:r>
              <a:rPr sz="1150" b="0">
                <a:solidFill>
                  <a:srgbClr val="77736C"/>
                </a:solidFill>
                <a:latin typeface="Helvetica Neue"/>
              </a:rPr>
              <a:t>Look up a real address and get its outline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TextBox 1"/>
          <p:cNvSpPr txBox="1"/>
          <p:nvPr/>
        </p:nvSpPr>
        <p:spPr>
          <a:xfrm>
            <a:off x="761969" y="6291072"/>
            <a:ext cx="5334015" cy="274320"/>
          </a:xfrm>
          <a:prstGeom prst="rect">
            <a:avLst/>
          </a:prstGeom>
          <a:noFill/>
        </p:spPr>
        <p:txBody>
          <a:bodyPr wrap="square" anchor="t" lIns="0" rIns="0" tIns="0" bIns="0">
            <a:spAutoFit/>
          </a:bodyPr>
          <a:lstStyle/>
          <a:p>
            <a:pPr algn="l">
              <a:lnSpc>
                <a:spcPct val="120000"/>
              </a:lnSpc>
              <a:spcAft>
                <a:spcPts val="0"/>
              </a:spcAft>
            </a:pPr>
            <a:r>
              <a:rPr sz="850" b="0">
                <a:solidFill>
                  <a:srgbClr val="77736C"/>
                </a:solidFill>
                <a:latin typeface="Helvetica Neue"/>
              </a:rPr>
              <a:t>Acon x Dell Pro Max GB10</a:t>
            </a:r>
          </a:p>
        </p:txBody>
      </p:sp>
      <p:sp>
        <p:nvSpPr>
          <p:cNvPr id="3" name="TextBox 2"/>
          <p:cNvSpPr txBox="1"/>
          <p:nvPr/>
        </p:nvSpPr>
        <p:spPr>
          <a:xfrm>
            <a:off x="10096496" y="6291072"/>
            <a:ext cx="1333503" cy="274320"/>
          </a:xfrm>
          <a:prstGeom prst="rect">
            <a:avLst/>
          </a:prstGeom>
          <a:noFill/>
        </p:spPr>
        <p:txBody>
          <a:bodyPr wrap="square" anchor="t" lIns="0" rIns="0" tIns="0" bIns="0">
            <a:spAutoFit/>
          </a:bodyPr>
          <a:lstStyle/>
          <a:p>
            <a:pPr algn="r">
              <a:lnSpc>
                <a:spcPct val="120000"/>
              </a:lnSpc>
              <a:spcAft>
                <a:spcPts val="0"/>
              </a:spcAft>
            </a:pPr>
            <a:r>
              <a:rPr sz="850" b="0">
                <a:solidFill>
                  <a:srgbClr val="77736C"/>
                </a:solidFill>
                <a:latin typeface="Helvetica Neue"/>
              </a:rPr>
              <a:t>06</a:t>
            </a:r>
          </a:p>
        </p:txBody>
      </p:sp>
      <p:sp>
        <p:nvSpPr>
          <p:cNvPr id="4" name="TextBox 3"/>
          <p:cNvSpPr txBox="1"/>
          <p:nvPr/>
        </p:nvSpPr>
        <p:spPr>
          <a:xfrm>
            <a:off x="761969" y="1600200"/>
            <a:ext cx="9334526" cy="2011680"/>
          </a:xfrm>
          <a:prstGeom prst="rect">
            <a:avLst/>
          </a:prstGeom>
          <a:noFill/>
        </p:spPr>
        <p:txBody>
          <a:bodyPr wrap="square" anchor="t" lIns="0" rIns="0" tIns="0" bIns="0">
            <a:spAutoFit/>
          </a:bodyPr>
          <a:lstStyle/>
          <a:p>
            <a:pPr algn="l">
              <a:lnSpc>
                <a:spcPct val="102000"/>
              </a:lnSpc>
              <a:spcAft>
                <a:spcPts val="0"/>
              </a:spcAft>
            </a:pPr>
            <a:r>
              <a:rPr sz="3200" b="1">
                <a:solidFill>
                  <a:srgbClr val="141413"/>
                </a:solidFill>
                <a:latin typeface="Helvetica Neue"/>
              </a:rPr>
              <a:t>Automated means automated.</a:t>
            </a:r>
          </a:p>
        </p:txBody>
      </p:sp>
      <p:sp>
        <p:nvSpPr>
          <p:cNvPr id="5" name="Rectangle 4"/>
          <p:cNvSpPr/>
          <p:nvPr/>
        </p:nvSpPr>
        <p:spPr>
          <a:xfrm>
            <a:off x="761969" y="3931920"/>
            <a:ext cx="1866905"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1969" y="4206240"/>
            <a:ext cx="8534424" cy="1554480"/>
          </a:xfrm>
          <a:prstGeom prst="rect">
            <a:avLst/>
          </a:prstGeom>
          <a:noFill/>
        </p:spPr>
        <p:txBody>
          <a:bodyPr wrap="square" anchor="t" lIns="0" rIns="0" tIns="0" bIns="0">
            <a:spAutoFit/>
          </a:bodyPr>
          <a:lstStyle/>
          <a:p>
            <a:pPr algn="l">
              <a:lnSpc>
                <a:spcPct val="120000"/>
              </a:lnSpc>
              <a:spcAft>
                <a:spcPts val="0"/>
              </a:spcAft>
            </a:pPr>
            <a:r>
              <a:rPr sz="1250" b="0">
                <a:solidFill>
                  <a:srgbClr val="77736C"/>
                </a:solidFill>
                <a:latin typeface="Helvetica Neue"/>
              </a:rPr>
              <a:t>No modelling session. No template to choose from. No one working through the sheets by hand. One pass from the documents we already have to a building we can walk through — and it stays editable afterwards.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41413"/>
        </a:solidFill>
        <a:effectLst/>
      </p:bgPr>
    </p:bg>
    <p:spTree>
      <p:nvGrpSpPr>
        <p:cNvPr id="1" name=""/>
        <p:cNvGrpSpPr/>
        <p:nvPr/>
      </p:nvGrpSpPr>
      <p:grpSpPr/>
      <p:sp>
        <p:nvSpPr>
          <p:cNvPr id="2" name="TextBox 1"/>
          <p:cNvSpPr txBox="1"/>
          <p:nvPr/>
        </p:nvSpPr>
        <p:spPr>
          <a:xfrm>
            <a:off x="761969" y="6291072"/>
            <a:ext cx="5334015" cy="274320"/>
          </a:xfrm>
          <a:prstGeom prst="rect">
            <a:avLst/>
          </a:prstGeom>
          <a:noFill/>
        </p:spPr>
        <p:txBody>
          <a:bodyPr wrap="square" anchor="t" lIns="0" rIns="0" tIns="0" bIns="0">
            <a:spAutoFit/>
          </a:bodyPr>
          <a:lstStyle/>
          <a:p>
            <a:pPr algn="l">
              <a:lnSpc>
                <a:spcPct val="120000"/>
              </a:lnSpc>
              <a:spcAft>
                <a:spcPts val="0"/>
              </a:spcAft>
            </a:pPr>
            <a:r>
              <a:rPr sz="850" b="0">
                <a:solidFill>
                  <a:srgbClr val="8A867E"/>
                </a:solidFill>
                <a:latin typeface="Helvetica Neue"/>
              </a:rPr>
              <a:t>Acon x Dell Pro Max GB10</a:t>
            </a:r>
          </a:p>
        </p:txBody>
      </p:sp>
      <p:sp>
        <p:nvSpPr>
          <p:cNvPr id="3" name="TextBox 2"/>
          <p:cNvSpPr txBox="1"/>
          <p:nvPr/>
        </p:nvSpPr>
        <p:spPr>
          <a:xfrm>
            <a:off x="10096496" y="6291072"/>
            <a:ext cx="1333503" cy="274320"/>
          </a:xfrm>
          <a:prstGeom prst="rect">
            <a:avLst/>
          </a:prstGeom>
          <a:noFill/>
        </p:spPr>
        <p:txBody>
          <a:bodyPr wrap="square" anchor="t" lIns="0" rIns="0" tIns="0" bIns="0">
            <a:spAutoFit/>
          </a:bodyPr>
          <a:lstStyle/>
          <a:p>
            <a:pPr algn="r">
              <a:lnSpc>
                <a:spcPct val="120000"/>
              </a:lnSpc>
              <a:spcAft>
                <a:spcPts val="0"/>
              </a:spcAft>
            </a:pPr>
            <a:r>
              <a:rPr sz="850" b="0">
                <a:solidFill>
                  <a:srgbClr val="8A867E"/>
                </a:solidFill>
                <a:latin typeface="Helvetica Neue"/>
              </a:rPr>
              <a:t>07</a:t>
            </a:r>
          </a:p>
        </p:txBody>
      </p:sp>
      <p:sp>
        <p:nvSpPr>
          <p:cNvPr id="4" name="TextBox 3"/>
          <p:cNvSpPr txBox="1"/>
          <p:nvPr/>
        </p:nvSpPr>
        <p:spPr>
          <a:xfrm>
            <a:off x="761969" y="2377440"/>
            <a:ext cx="2667007" cy="1097280"/>
          </a:xfrm>
          <a:prstGeom prst="rect">
            <a:avLst/>
          </a:prstGeom>
          <a:noFill/>
        </p:spPr>
        <p:txBody>
          <a:bodyPr wrap="square" anchor="t" lIns="0" rIns="0" tIns="0" bIns="0">
            <a:spAutoFit/>
          </a:bodyPr>
          <a:lstStyle/>
          <a:p>
            <a:pPr algn="l">
              <a:lnSpc>
                <a:spcPct val="102000"/>
              </a:lnSpc>
              <a:spcAft>
                <a:spcPts val="0"/>
              </a:spcAft>
            </a:pPr>
            <a:r>
              <a:rPr sz="6400" b="1">
                <a:solidFill>
                  <a:srgbClr val="F4F2ED"/>
                </a:solidFill>
                <a:latin typeface="Helvetica Neue"/>
              </a:rPr>
              <a:t>02</a:t>
            </a:r>
          </a:p>
        </p:txBody>
      </p:sp>
      <p:sp>
        <p:nvSpPr>
          <p:cNvPr id="5" name="Rectangle 4"/>
          <p:cNvSpPr/>
          <p:nvPr/>
        </p:nvSpPr>
        <p:spPr>
          <a:xfrm>
            <a:off x="761969" y="3794760"/>
            <a:ext cx="1600204" cy="2743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1969" y="4114800"/>
            <a:ext cx="6667519" cy="731520"/>
          </a:xfrm>
          <a:prstGeom prst="rect">
            <a:avLst/>
          </a:prstGeom>
          <a:noFill/>
        </p:spPr>
        <p:txBody>
          <a:bodyPr wrap="square" anchor="t" lIns="0" rIns="0" tIns="0" bIns="0">
            <a:spAutoFit/>
          </a:bodyPr>
          <a:lstStyle/>
          <a:p>
            <a:pPr algn="l">
              <a:lnSpc>
                <a:spcPct val="102000"/>
              </a:lnSpc>
              <a:spcAft>
                <a:spcPts val="0"/>
              </a:spcAft>
            </a:pPr>
            <a:r>
              <a:rPr sz="2600" b="1">
                <a:solidFill>
                  <a:srgbClr val="F4F2ED"/>
                </a:solidFill>
                <a:latin typeface="Helvetica Neue"/>
              </a:rPr>
              <a:t>The difference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TextBox 1"/>
          <p:cNvSpPr txBox="1"/>
          <p:nvPr/>
        </p:nvSpPr>
        <p:spPr>
          <a:xfrm>
            <a:off x="761969" y="6291072"/>
            <a:ext cx="5334015" cy="274320"/>
          </a:xfrm>
          <a:prstGeom prst="rect">
            <a:avLst/>
          </a:prstGeom>
          <a:noFill/>
        </p:spPr>
        <p:txBody>
          <a:bodyPr wrap="square" anchor="t" lIns="0" rIns="0" tIns="0" bIns="0">
            <a:spAutoFit/>
          </a:bodyPr>
          <a:lstStyle/>
          <a:p>
            <a:pPr algn="l">
              <a:lnSpc>
                <a:spcPct val="120000"/>
              </a:lnSpc>
              <a:spcAft>
                <a:spcPts val="0"/>
              </a:spcAft>
            </a:pPr>
            <a:r>
              <a:rPr sz="850" b="0">
                <a:solidFill>
                  <a:srgbClr val="77736C"/>
                </a:solidFill>
                <a:latin typeface="Helvetica Neue"/>
              </a:rPr>
              <a:t>Acon x Dell Pro Max GB10</a:t>
            </a:r>
          </a:p>
        </p:txBody>
      </p:sp>
      <p:sp>
        <p:nvSpPr>
          <p:cNvPr id="3" name="TextBox 2"/>
          <p:cNvSpPr txBox="1"/>
          <p:nvPr/>
        </p:nvSpPr>
        <p:spPr>
          <a:xfrm>
            <a:off x="10096496" y="6291072"/>
            <a:ext cx="1333503" cy="274320"/>
          </a:xfrm>
          <a:prstGeom prst="rect">
            <a:avLst/>
          </a:prstGeom>
          <a:noFill/>
        </p:spPr>
        <p:txBody>
          <a:bodyPr wrap="square" anchor="t" lIns="0" rIns="0" tIns="0" bIns="0">
            <a:spAutoFit/>
          </a:bodyPr>
          <a:lstStyle/>
          <a:p>
            <a:pPr algn="r">
              <a:lnSpc>
                <a:spcPct val="120000"/>
              </a:lnSpc>
              <a:spcAft>
                <a:spcPts val="0"/>
              </a:spcAft>
            </a:pPr>
            <a:r>
              <a:rPr sz="850" b="0">
                <a:solidFill>
                  <a:srgbClr val="77736C"/>
                </a:solidFill>
                <a:latin typeface="Helvetica Neue"/>
              </a:rPr>
              <a:t>08</a:t>
            </a:r>
          </a:p>
        </p:txBody>
      </p:sp>
      <p:sp>
        <p:nvSpPr>
          <p:cNvPr id="4" name="TextBox 3"/>
          <p:cNvSpPr txBox="1"/>
          <p:nvPr/>
        </p:nvSpPr>
        <p:spPr>
          <a:xfrm>
            <a:off x="761969" y="761969"/>
            <a:ext cx="6667519" cy="274320"/>
          </a:xfrm>
          <a:prstGeom prst="rect">
            <a:avLst/>
          </a:prstGeom>
          <a:noFill/>
        </p:spPr>
        <p:txBody>
          <a:bodyPr wrap="square" anchor="t" lIns="0" rIns="0" tIns="0" bIns="0">
            <a:spAutoFit/>
          </a:bodyPr>
          <a:lstStyle/>
          <a:p>
            <a:pPr algn="l">
              <a:lnSpc>
                <a:spcPct val="120000"/>
              </a:lnSpc>
              <a:spcAft>
                <a:spcPts val="0"/>
              </a:spcAft>
            </a:pPr>
            <a:r>
              <a:rPr sz="950" b="1">
                <a:solidFill>
                  <a:srgbClr val="0F766E"/>
                </a:solidFill>
                <a:latin typeface="Helvetica Neue"/>
              </a:rPr>
              <a:t>02 — THE DIFFERENCE</a:t>
            </a:r>
          </a:p>
        </p:txBody>
      </p:sp>
      <p:sp>
        <p:nvSpPr>
          <p:cNvPr id="5" name="TextBox 4"/>
          <p:cNvSpPr txBox="1"/>
          <p:nvPr/>
        </p:nvSpPr>
        <p:spPr>
          <a:xfrm>
            <a:off x="761969" y="1188720"/>
            <a:ext cx="7334270" cy="822960"/>
          </a:xfrm>
          <a:prstGeom prst="rect">
            <a:avLst/>
          </a:prstGeom>
          <a:noFill/>
        </p:spPr>
        <p:txBody>
          <a:bodyPr wrap="square" anchor="t" lIns="0" rIns="0" tIns="0" bIns="0">
            <a:spAutoFit/>
          </a:bodyPr>
          <a:lstStyle/>
          <a:p>
            <a:pPr algn="l">
              <a:lnSpc>
                <a:spcPct val="102000"/>
              </a:lnSpc>
              <a:spcAft>
                <a:spcPts val="0"/>
              </a:spcAft>
            </a:pPr>
            <a:r>
              <a:rPr sz="2600" b="1">
                <a:solidFill>
                  <a:srgbClr val="141413"/>
                </a:solidFill>
                <a:latin typeface="Helvetica Neue"/>
              </a:rPr>
              <a:t>Why nothing else does this.</a:t>
            </a:r>
          </a:p>
        </p:txBody>
      </p:sp>
      <p:sp>
        <p:nvSpPr>
          <p:cNvPr id="6" name="Rectangle 5"/>
          <p:cNvSpPr/>
          <p:nvPr/>
        </p:nvSpPr>
        <p:spPr>
          <a:xfrm>
            <a:off x="761969" y="2468880"/>
            <a:ext cx="2190566" cy="201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1969" y="2697480"/>
            <a:ext cx="2117414" cy="457200"/>
          </a:xfrm>
          <a:prstGeom prst="rect">
            <a:avLst/>
          </a:prstGeom>
          <a:noFill/>
        </p:spPr>
        <p:txBody>
          <a:bodyPr wrap="square" anchor="t" lIns="0" rIns="0" tIns="0" bIns="0">
            <a:spAutoFit/>
          </a:bodyPr>
          <a:lstStyle/>
          <a:p>
            <a:pPr algn="l">
              <a:lnSpc>
                <a:spcPct val="120000"/>
              </a:lnSpc>
              <a:spcAft>
                <a:spcPts val="0"/>
              </a:spcAft>
            </a:pPr>
            <a:r>
              <a:rPr sz="1200" b="1">
                <a:solidFill>
                  <a:srgbClr val="141413"/>
                </a:solidFill>
                <a:latin typeface="Helvetica Neue"/>
              </a:rPr>
              <a:t>Design software</a:t>
            </a:r>
          </a:p>
        </p:txBody>
      </p:sp>
      <p:sp>
        <p:nvSpPr>
          <p:cNvPr id="8" name="TextBox 7"/>
          <p:cNvSpPr txBox="1"/>
          <p:nvPr/>
        </p:nvSpPr>
        <p:spPr>
          <a:xfrm>
            <a:off x="761969" y="3291840"/>
            <a:ext cx="2071694" cy="2194560"/>
          </a:xfrm>
          <a:prstGeom prst="rect">
            <a:avLst/>
          </a:prstGeom>
          <a:noFill/>
        </p:spPr>
        <p:txBody>
          <a:bodyPr wrap="square" anchor="t" lIns="0" rIns="0" tIns="0" bIns="0">
            <a:spAutoFit/>
          </a:bodyPr>
          <a:lstStyle/>
          <a:p>
            <a:pPr algn="l">
              <a:lnSpc>
                <a:spcPct val="120000"/>
              </a:lnSpc>
              <a:spcAft>
                <a:spcPts val="0"/>
              </a:spcAft>
            </a:pPr>
            <a:r>
              <a:rPr sz="1100" b="0">
                <a:solidFill>
                  <a:srgbClr val="77736C"/>
                </a:solidFill>
                <a:latin typeface="Helvetica Neue"/>
              </a:rPr>
              <a:t>Powerful, but somebody still has to draw the entire building. The AI features that exist run as online services.</a:t>
            </a:r>
          </a:p>
        </p:txBody>
      </p:sp>
      <p:sp>
        <p:nvSpPr>
          <p:cNvPr id="9" name="Rectangle 8"/>
          <p:cNvSpPr/>
          <p:nvPr/>
        </p:nvSpPr>
        <p:spPr>
          <a:xfrm>
            <a:off x="3222284" y="2468880"/>
            <a:ext cx="2190566" cy="201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22284" y="2697480"/>
            <a:ext cx="2117414" cy="457200"/>
          </a:xfrm>
          <a:prstGeom prst="rect">
            <a:avLst/>
          </a:prstGeom>
          <a:noFill/>
        </p:spPr>
        <p:txBody>
          <a:bodyPr wrap="square" anchor="t" lIns="0" rIns="0" tIns="0" bIns="0">
            <a:spAutoFit/>
          </a:bodyPr>
          <a:lstStyle/>
          <a:p>
            <a:pPr algn="l">
              <a:lnSpc>
                <a:spcPct val="120000"/>
              </a:lnSpc>
              <a:spcAft>
                <a:spcPts val="0"/>
              </a:spcAft>
            </a:pPr>
            <a:r>
              <a:rPr sz="1200" b="1">
                <a:solidFill>
                  <a:srgbClr val="141413"/>
                </a:solidFill>
                <a:latin typeface="Helvetica Neue"/>
              </a:rPr>
              <a:t>Early-stage layout tools</a:t>
            </a:r>
          </a:p>
        </p:txBody>
      </p:sp>
      <p:sp>
        <p:nvSpPr>
          <p:cNvPr id="11" name="TextBox 10"/>
          <p:cNvSpPr txBox="1"/>
          <p:nvPr/>
        </p:nvSpPr>
        <p:spPr>
          <a:xfrm>
            <a:off x="3222284" y="3291840"/>
            <a:ext cx="2071694" cy="2194560"/>
          </a:xfrm>
          <a:prstGeom prst="rect">
            <a:avLst/>
          </a:prstGeom>
          <a:noFill/>
        </p:spPr>
        <p:txBody>
          <a:bodyPr wrap="square" anchor="t" lIns="0" rIns="0" tIns="0" bIns="0">
            <a:spAutoFit/>
          </a:bodyPr>
          <a:lstStyle/>
          <a:p>
            <a:pPr algn="l">
              <a:lnSpc>
                <a:spcPct val="120000"/>
              </a:lnSpc>
              <a:spcAft>
                <a:spcPts val="0"/>
              </a:spcAft>
            </a:pPr>
            <a:r>
              <a:rPr sz="1100" b="0">
                <a:solidFill>
                  <a:srgbClr val="77736C"/>
                </a:solidFill>
                <a:latin typeface="Helvetica Neue"/>
              </a:rPr>
              <a:t>Useful for quick studies of what fits on a site. They won't read an issued drawing set, and they run in the cloud.</a:t>
            </a:r>
          </a:p>
        </p:txBody>
      </p:sp>
      <p:sp>
        <p:nvSpPr>
          <p:cNvPr id="12" name="Rectangle 11"/>
          <p:cNvSpPr/>
          <p:nvPr/>
        </p:nvSpPr>
        <p:spPr>
          <a:xfrm>
            <a:off x="5682598" y="2468880"/>
            <a:ext cx="2190566" cy="201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82598" y="2697480"/>
            <a:ext cx="2117414" cy="457200"/>
          </a:xfrm>
          <a:prstGeom prst="rect">
            <a:avLst/>
          </a:prstGeom>
          <a:noFill/>
        </p:spPr>
        <p:txBody>
          <a:bodyPr wrap="square" anchor="t" lIns="0" rIns="0" tIns="0" bIns="0">
            <a:spAutoFit/>
          </a:bodyPr>
          <a:lstStyle/>
          <a:p>
            <a:pPr algn="l">
              <a:lnSpc>
                <a:spcPct val="120000"/>
              </a:lnSpc>
              <a:spcAft>
                <a:spcPts val="0"/>
              </a:spcAft>
            </a:pPr>
            <a:r>
              <a:rPr sz="1200" b="1">
                <a:solidFill>
                  <a:srgbClr val="141413"/>
                </a:solidFill>
                <a:latin typeface="Helvetica Neue"/>
              </a:rPr>
              <a:t>AI chat products</a:t>
            </a:r>
          </a:p>
        </p:txBody>
      </p:sp>
      <p:sp>
        <p:nvSpPr>
          <p:cNvPr id="14" name="TextBox 13"/>
          <p:cNvSpPr txBox="1"/>
          <p:nvPr/>
        </p:nvSpPr>
        <p:spPr>
          <a:xfrm>
            <a:off x="5682598" y="3291840"/>
            <a:ext cx="2071694" cy="2194560"/>
          </a:xfrm>
          <a:prstGeom prst="rect">
            <a:avLst/>
          </a:prstGeom>
          <a:noFill/>
        </p:spPr>
        <p:txBody>
          <a:bodyPr wrap="square" anchor="t" lIns="0" rIns="0" tIns="0" bIns="0">
            <a:spAutoFit/>
          </a:bodyPr>
          <a:lstStyle/>
          <a:p>
            <a:pPr algn="l">
              <a:lnSpc>
                <a:spcPct val="120000"/>
              </a:lnSpc>
              <a:spcAft>
                <a:spcPts val="0"/>
              </a:spcAft>
            </a:pPr>
            <a:r>
              <a:rPr sz="1100" b="0">
                <a:solidFill>
                  <a:srgbClr val="77736C"/>
                </a:solidFill>
                <a:latin typeface="Helvetica Neue"/>
              </a:rPr>
              <a:t>They will happily describe a building. They can't hand you one you can measure, cost, or edit.</a:t>
            </a:r>
          </a:p>
        </p:txBody>
      </p:sp>
      <p:sp>
        <p:nvSpPr>
          <p:cNvPr id="15" name="Rectangle 14"/>
          <p:cNvSpPr/>
          <p:nvPr/>
        </p:nvSpPr>
        <p:spPr>
          <a:xfrm>
            <a:off x="8142913" y="2468880"/>
            <a:ext cx="2190566" cy="201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42913" y="2697480"/>
            <a:ext cx="2117414" cy="457200"/>
          </a:xfrm>
          <a:prstGeom prst="rect">
            <a:avLst/>
          </a:prstGeom>
          <a:noFill/>
        </p:spPr>
        <p:txBody>
          <a:bodyPr wrap="square" anchor="t" lIns="0" rIns="0" tIns="0" bIns="0">
            <a:spAutoFit/>
          </a:bodyPr>
          <a:lstStyle/>
          <a:p>
            <a:pPr algn="l">
              <a:lnSpc>
                <a:spcPct val="120000"/>
              </a:lnSpc>
              <a:spcAft>
                <a:spcPts val="0"/>
              </a:spcAft>
            </a:pPr>
            <a:r>
              <a:rPr sz="1200" b="1">
                <a:solidFill>
                  <a:srgbClr val="141413"/>
                </a:solidFill>
                <a:latin typeface="Helvetica Neue"/>
              </a:rPr>
              <a:t>Drawing-to-model services</a:t>
            </a:r>
          </a:p>
        </p:txBody>
      </p:sp>
      <p:sp>
        <p:nvSpPr>
          <p:cNvPr id="17" name="TextBox 16"/>
          <p:cNvSpPr txBox="1"/>
          <p:nvPr/>
        </p:nvSpPr>
        <p:spPr>
          <a:xfrm>
            <a:off x="8142913" y="3291840"/>
            <a:ext cx="2071694" cy="2194560"/>
          </a:xfrm>
          <a:prstGeom prst="rect">
            <a:avLst/>
          </a:prstGeom>
          <a:noFill/>
        </p:spPr>
        <p:txBody>
          <a:bodyPr wrap="square" anchor="t" lIns="0" rIns="0" tIns="0" bIns="0">
            <a:spAutoFit/>
          </a:bodyPr>
          <a:lstStyle/>
          <a:p>
            <a:pPr algn="l">
              <a:lnSpc>
                <a:spcPct val="120000"/>
              </a:lnSpc>
              <a:spcAft>
                <a:spcPts val="0"/>
              </a:spcAft>
            </a:pPr>
            <a:r>
              <a:rPr sz="1100" b="0">
                <a:solidFill>
                  <a:srgbClr val="77736C"/>
                </a:solidFill>
                <a:latin typeface="Helvetica Neue"/>
              </a:rPr>
              <a:t>Accurate, but the files are sent away to another company and the result comes back days later.</a:t>
            </a:r>
          </a:p>
        </p:txBody>
      </p:sp>
      <p:sp>
        <p:nvSpPr>
          <p:cNvPr id="18" name="TextBox 17"/>
          <p:cNvSpPr txBox="1"/>
          <p:nvPr/>
        </p:nvSpPr>
        <p:spPr>
          <a:xfrm>
            <a:off x="761969" y="5760720"/>
            <a:ext cx="9067825" cy="457200"/>
          </a:xfrm>
          <a:prstGeom prst="rect">
            <a:avLst/>
          </a:prstGeom>
          <a:noFill/>
        </p:spPr>
        <p:txBody>
          <a:bodyPr wrap="square" anchor="t" lIns="0" rIns="0" tIns="0" bIns="0">
            <a:spAutoFit/>
          </a:bodyPr>
          <a:lstStyle/>
          <a:p>
            <a:pPr algn="l">
              <a:lnSpc>
                <a:spcPct val="120000"/>
              </a:lnSpc>
              <a:spcAft>
                <a:spcPts val="0"/>
              </a:spcAft>
            </a:pPr>
            <a:r>
              <a:rPr sz="1000" b="0">
                <a:solidFill>
                  <a:srgbClr val="77736C"/>
                </a:solidFill>
                <a:latin typeface="Helvetica Neue"/>
              </a:rPr>
              <a:t>The gap: a building produced automatically, from our own documents, on our own equipment.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TextBox 1"/>
          <p:cNvSpPr txBox="1"/>
          <p:nvPr/>
        </p:nvSpPr>
        <p:spPr>
          <a:xfrm>
            <a:off x="761969" y="6291072"/>
            <a:ext cx="5334015" cy="274320"/>
          </a:xfrm>
          <a:prstGeom prst="rect">
            <a:avLst/>
          </a:prstGeom>
          <a:noFill/>
        </p:spPr>
        <p:txBody>
          <a:bodyPr wrap="square" anchor="t" lIns="0" rIns="0" tIns="0" bIns="0">
            <a:spAutoFit/>
          </a:bodyPr>
          <a:lstStyle/>
          <a:p>
            <a:pPr algn="l">
              <a:lnSpc>
                <a:spcPct val="120000"/>
              </a:lnSpc>
              <a:spcAft>
                <a:spcPts val="0"/>
              </a:spcAft>
            </a:pPr>
            <a:r>
              <a:rPr sz="850" b="0">
                <a:solidFill>
                  <a:srgbClr val="77736C"/>
                </a:solidFill>
                <a:latin typeface="Helvetica Neue"/>
              </a:rPr>
              <a:t>Acon x Dell Pro Max GB10</a:t>
            </a:r>
          </a:p>
        </p:txBody>
      </p:sp>
      <p:sp>
        <p:nvSpPr>
          <p:cNvPr id="3" name="TextBox 2"/>
          <p:cNvSpPr txBox="1"/>
          <p:nvPr/>
        </p:nvSpPr>
        <p:spPr>
          <a:xfrm>
            <a:off x="10096496" y="6291072"/>
            <a:ext cx="1333503" cy="274320"/>
          </a:xfrm>
          <a:prstGeom prst="rect">
            <a:avLst/>
          </a:prstGeom>
          <a:noFill/>
        </p:spPr>
        <p:txBody>
          <a:bodyPr wrap="square" anchor="t" lIns="0" rIns="0" tIns="0" bIns="0">
            <a:spAutoFit/>
          </a:bodyPr>
          <a:lstStyle/>
          <a:p>
            <a:pPr algn="r">
              <a:lnSpc>
                <a:spcPct val="120000"/>
              </a:lnSpc>
              <a:spcAft>
                <a:spcPts val="0"/>
              </a:spcAft>
            </a:pPr>
            <a:r>
              <a:rPr sz="850" b="0">
                <a:solidFill>
                  <a:srgbClr val="77736C"/>
                </a:solidFill>
                <a:latin typeface="Helvetica Neue"/>
              </a:rPr>
              <a:t>09</a:t>
            </a:r>
          </a:p>
        </p:txBody>
      </p:sp>
      <p:sp>
        <p:nvSpPr>
          <p:cNvPr id="4" name="TextBox 3"/>
          <p:cNvSpPr txBox="1"/>
          <p:nvPr/>
        </p:nvSpPr>
        <p:spPr>
          <a:xfrm>
            <a:off x="761969" y="761969"/>
            <a:ext cx="6667519" cy="274320"/>
          </a:xfrm>
          <a:prstGeom prst="rect">
            <a:avLst/>
          </a:prstGeom>
          <a:noFill/>
        </p:spPr>
        <p:txBody>
          <a:bodyPr wrap="square" anchor="t" lIns="0" rIns="0" tIns="0" bIns="0">
            <a:spAutoFit/>
          </a:bodyPr>
          <a:lstStyle/>
          <a:p>
            <a:pPr algn="l">
              <a:lnSpc>
                <a:spcPct val="120000"/>
              </a:lnSpc>
              <a:spcAft>
                <a:spcPts val="0"/>
              </a:spcAft>
            </a:pPr>
            <a:r>
              <a:rPr sz="950" b="1">
                <a:solidFill>
                  <a:srgbClr val="0F766E"/>
                </a:solidFill>
                <a:latin typeface="Helvetica Neue"/>
              </a:rPr>
              <a:t>02 — THE DIFFERENCE</a:t>
            </a:r>
          </a:p>
        </p:txBody>
      </p:sp>
      <p:sp>
        <p:nvSpPr>
          <p:cNvPr id="5" name="TextBox 4"/>
          <p:cNvSpPr txBox="1"/>
          <p:nvPr/>
        </p:nvSpPr>
        <p:spPr>
          <a:xfrm>
            <a:off x="761969" y="1234440"/>
            <a:ext cx="5867416" cy="1371600"/>
          </a:xfrm>
          <a:prstGeom prst="rect">
            <a:avLst/>
          </a:prstGeom>
          <a:noFill/>
        </p:spPr>
        <p:txBody>
          <a:bodyPr wrap="square" anchor="t" lIns="0" rIns="0" tIns="0" bIns="0">
            <a:spAutoFit/>
          </a:bodyPr>
          <a:lstStyle/>
          <a:p>
            <a:pPr algn="l">
              <a:lnSpc>
                <a:spcPct val="102000"/>
              </a:lnSpc>
              <a:spcAft>
                <a:spcPts val="0"/>
              </a:spcAft>
            </a:pPr>
            <a:r>
              <a:rPr sz="2600" b="1">
                <a:solidFill>
                  <a:srgbClr val="141413"/>
                </a:solidFill>
                <a:latin typeface="Helvetica Neue"/>
              </a:rPr>
              <a:t>It doesn't draw the building. It decides what the building is.</a:t>
            </a:r>
          </a:p>
        </p:txBody>
      </p:sp>
      <p:sp>
        <p:nvSpPr>
          <p:cNvPr id="6" name="TextBox 5"/>
          <p:cNvSpPr txBox="1"/>
          <p:nvPr/>
        </p:nvSpPr>
        <p:spPr>
          <a:xfrm>
            <a:off x="761969" y="2834640"/>
            <a:ext cx="5467365" cy="2560320"/>
          </a:xfrm>
          <a:prstGeom prst="rect">
            <a:avLst/>
          </a:prstGeom>
          <a:noFill/>
        </p:spPr>
        <p:txBody>
          <a:bodyPr wrap="square" anchor="t" lIns="0" rIns="0" tIns="0" bIns="0">
            <a:spAutoFit/>
          </a:bodyPr>
          <a:lstStyle/>
          <a:p>
            <a:pPr algn="l">
              <a:lnSpc>
                <a:spcPct val="120000"/>
              </a:lnSpc>
              <a:spcAft>
                <a:spcPts val="0"/>
              </a:spcAft>
            </a:pPr>
            <a:r>
              <a:rPr sz="1250" b="0">
                <a:solidFill>
                  <a:srgbClr val="77736C"/>
                </a:solidFill>
                <a:latin typeface="Helvetica Neue"/>
              </a:rPr>
              <a:t>This is the part that makes everything else work. Other tools try to generate the shape itself, and what comes back is a picture or a lump of geometry — nothing anyone can build from. Acon splits the job in two. The model decides what the building should be: how big, how many floors, which rooms sit where. The software then constructs it precisely from those decisions. That is why the result behaves like a building instead of a render.</a:t>
            </a:r>
          </a:p>
        </p:txBody>
      </p:sp>
      <p:sp>
        <p:nvSpPr>
          <p:cNvPr id="7" name="Rectangle 6"/>
          <p:cNvSpPr/>
          <p:nvPr/>
        </p:nvSpPr>
        <p:spPr>
          <a:xfrm>
            <a:off x="7429488" y="1280160"/>
            <a:ext cx="4000511"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29488" y="1463040"/>
            <a:ext cx="4000511" cy="320040"/>
          </a:xfrm>
          <a:prstGeom prst="rect">
            <a:avLst/>
          </a:prstGeom>
          <a:noFill/>
        </p:spPr>
        <p:txBody>
          <a:bodyPr wrap="square" anchor="t" lIns="0" rIns="0" tIns="0" bIns="0">
            <a:spAutoFit/>
          </a:bodyPr>
          <a:lstStyle/>
          <a:p>
            <a:pPr algn="l">
              <a:lnSpc>
                <a:spcPct val="120000"/>
              </a:lnSpc>
              <a:spcAft>
                <a:spcPts val="0"/>
              </a:spcAft>
            </a:pPr>
            <a:r>
              <a:rPr sz="950" b="1">
                <a:solidFill>
                  <a:srgbClr val="141413"/>
                </a:solidFill>
                <a:latin typeface="Helvetica Neue"/>
              </a:rPr>
              <a:t>WHY THAT MATTERS</a:t>
            </a:r>
          </a:p>
        </p:txBody>
      </p:sp>
      <p:sp>
        <p:nvSpPr>
          <p:cNvPr id="9" name="TextBox 8"/>
          <p:cNvSpPr txBox="1"/>
          <p:nvPr/>
        </p:nvSpPr>
        <p:spPr>
          <a:xfrm>
            <a:off x="7429488" y="1965960"/>
            <a:ext cx="4000511" cy="502920"/>
          </a:xfrm>
          <a:prstGeom prst="rect">
            <a:avLst/>
          </a:prstGeom>
          <a:noFill/>
        </p:spPr>
        <p:txBody>
          <a:bodyPr wrap="square" anchor="t" lIns="0" rIns="0" tIns="0" bIns="0">
            <a:spAutoFit/>
          </a:bodyPr>
          <a:lstStyle/>
          <a:p>
            <a:pPr algn="l">
              <a:lnSpc>
                <a:spcPct val="120000"/>
              </a:lnSpc>
              <a:spcAft>
                <a:spcPts val="0"/>
              </a:spcAft>
            </a:pPr>
            <a:r>
              <a:rPr sz="1150" b="0">
                <a:solidFill>
                  <a:srgbClr val="77736C"/>
                </a:solidFill>
                <a:latin typeface="Helvetica Neue"/>
              </a:rPr>
              <a:t>Every dimension is a real dimension</a:t>
            </a:r>
          </a:p>
        </p:txBody>
      </p:sp>
      <p:sp>
        <p:nvSpPr>
          <p:cNvPr id="10" name="TextBox 9"/>
          <p:cNvSpPr txBox="1"/>
          <p:nvPr/>
        </p:nvSpPr>
        <p:spPr>
          <a:xfrm>
            <a:off x="7429488" y="2532888"/>
            <a:ext cx="4000511" cy="502920"/>
          </a:xfrm>
          <a:prstGeom prst="rect">
            <a:avLst/>
          </a:prstGeom>
          <a:noFill/>
        </p:spPr>
        <p:txBody>
          <a:bodyPr wrap="square" anchor="t" lIns="0" rIns="0" tIns="0" bIns="0">
            <a:spAutoFit/>
          </a:bodyPr>
          <a:lstStyle/>
          <a:p>
            <a:pPr algn="l">
              <a:lnSpc>
                <a:spcPct val="120000"/>
              </a:lnSpc>
              <a:spcAft>
                <a:spcPts val="0"/>
              </a:spcAft>
            </a:pPr>
            <a:r>
              <a:rPr sz="1150" b="0">
                <a:solidFill>
                  <a:srgbClr val="77736C"/>
                </a:solidFill>
                <a:latin typeface="Helvetica Neue"/>
              </a:rPr>
              <a:t>Nothing is guessed into place</a:t>
            </a:r>
          </a:p>
        </p:txBody>
      </p:sp>
      <p:sp>
        <p:nvSpPr>
          <p:cNvPr id="11" name="TextBox 10"/>
          <p:cNvSpPr txBox="1"/>
          <p:nvPr/>
        </p:nvSpPr>
        <p:spPr>
          <a:xfrm>
            <a:off x="7429488" y="3099816"/>
            <a:ext cx="4000511" cy="502920"/>
          </a:xfrm>
          <a:prstGeom prst="rect">
            <a:avLst/>
          </a:prstGeom>
          <a:noFill/>
        </p:spPr>
        <p:txBody>
          <a:bodyPr wrap="square" anchor="t" lIns="0" rIns="0" tIns="0" bIns="0">
            <a:spAutoFit/>
          </a:bodyPr>
          <a:lstStyle/>
          <a:p>
            <a:pPr algn="l">
              <a:lnSpc>
                <a:spcPct val="120000"/>
              </a:lnSpc>
              <a:spcAft>
                <a:spcPts val="0"/>
              </a:spcAft>
            </a:pPr>
            <a:r>
              <a:rPr sz="1150" b="0">
                <a:solidFill>
                  <a:srgbClr val="77736C"/>
                </a:solidFill>
                <a:latin typeface="Helvetica Neue"/>
              </a:rPr>
              <a:t>Same result from words, drawings, or an address</a:t>
            </a:r>
          </a:p>
        </p:txBody>
      </p:sp>
      <p:sp>
        <p:nvSpPr>
          <p:cNvPr id="12" name="TextBox 11"/>
          <p:cNvSpPr txBox="1"/>
          <p:nvPr/>
        </p:nvSpPr>
        <p:spPr>
          <a:xfrm>
            <a:off x="7429488" y="3666744"/>
            <a:ext cx="4000511" cy="502920"/>
          </a:xfrm>
          <a:prstGeom prst="rect">
            <a:avLst/>
          </a:prstGeom>
          <a:noFill/>
        </p:spPr>
        <p:txBody>
          <a:bodyPr wrap="square" anchor="t" lIns="0" rIns="0" tIns="0" bIns="0">
            <a:spAutoFit/>
          </a:bodyPr>
          <a:lstStyle/>
          <a:p>
            <a:pPr algn="l">
              <a:lnSpc>
                <a:spcPct val="120000"/>
              </a:lnSpc>
              <a:spcAft>
                <a:spcPts val="0"/>
              </a:spcAft>
            </a:pPr>
            <a:r>
              <a:rPr sz="1150" b="0">
                <a:solidFill>
                  <a:srgbClr val="77736C"/>
                </a:solidFill>
                <a:latin typeface="Helvetica Neue"/>
              </a:rPr>
              <a:t>The model can be swapped without breaking it</a:t>
            </a:r>
          </a:p>
        </p:txBody>
      </p:sp>
      <p:sp>
        <p:nvSpPr>
          <p:cNvPr id="13" name="TextBox 12"/>
          <p:cNvSpPr txBox="1"/>
          <p:nvPr/>
        </p:nvSpPr>
        <p:spPr>
          <a:xfrm>
            <a:off x="7429488" y="4233672"/>
            <a:ext cx="4000511" cy="502920"/>
          </a:xfrm>
          <a:prstGeom prst="rect">
            <a:avLst/>
          </a:prstGeom>
          <a:noFill/>
        </p:spPr>
        <p:txBody>
          <a:bodyPr wrap="square" anchor="t" lIns="0" rIns="0" tIns="0" bIns="0">
            <a:spAutoFit/>
          </a:bodyPr>
          <a:lstStyle/>
          <a:p>
            <a:pPr algn="l">
              <a:lnSpc>
                <a:spcPct val="120000"/>
              </a:lnSpc>
              <a:spcAft>
                <a:spcPts val="0"/>
              </a:spcAft>
            </a:pPr>
            <a:r>
              <a:rPr sz="1150" b="0">
                <a:solidFill>
                  <a:srgbClr val="77736C"/>
                </a:solidFill>
                <a:latin typeface="Helvetica Neue"/>
              </a:rPr>
              <a:t>The building stays editable afterwards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TextBox 1"/>
          <p:cNvSpPr txBox="1"/>
          <p:nvPr/>
        </p:nvSpPr>
        <p:spPr>
          <a:xfrm>
            <a:off x="761969" y="6291072"/>
            <a:ext cx="5334015" cy="274320"/>
          </a:xfrm>
          <a:prstGeom prst="rect">
            <a:avLst/>
          </a:prstGeom>
          <a:noFill/>
        </p:spPr>
        <p:txBody>
          <a:bodyPr wrap="square" anchor="t" lIns="0" rIns="0" tIns="0" bIns="0">
            <a:spAutoFit/>
          </a:bodyPr>
          <a:lstStyle/>
          <a:p>
            <a:pPr algn="l">
              <a:lnSpc>
                <a:spcPct val="120000"/>
              </a:lnSpc>
              <a:spcAft>
                <a:spcPts val="0"/>
              </a:spcAft>
            </a:pPr>
            <a:r>
              <a:rPr sz="850" b="0">
                <a:solidFill>
                  <a:srgbClr val="77736C"/>
                </a:solidFill>
                <a:latin typeface="Helvetica Neue"/>
              </a:rPr>
              <a:t>Acon x Dell Pro Max GB10</a:t>
            </a:r>
          </a:p>
        </p:txBody>
      </p:sp>
      <p:sp>
        <p:nvSpPr>
          <p:cNvPr id="3" name="TextBox 2"/>
          <p:cNvSpPr txBox="1"/>
          <p:nvPr/>
        </p:nvSpPr>
        <p:spPr>
          <a:xfrm>
            <a:off x="10096496" y="6291072"/>
            <a:ext cx="1333503" cy="274320"/>
          </a:xfrm>
          <a:prstGeom prst="rect">
            <a:avLst/>
          </a:prstGeom>
          <a:noFill/>
        </p:spPr>
        <p:txBody>
          <a:bodyPr wrap="square" anchor="t" lIns="0" rIns="0" tIns="0" bIns="0">
            <a:spAutoFit/>
          </a:bodyPr>
          <a:lstStyle/>
          <a:p>
            <a:pPr algn="r">
              <a:lnSpc>
                <a:spcPct val="120000"/>
              </a:lnSpc>
              <a:spcAft>
                <a:spcPts val="0"/>
              </a:spcAft>
            </a:pPr>
            <a:r>
              <a:rPr sz="850" b="0">
                <a:solidFill>
                  <a:srgbClr val="77736C"/>
                </a:solidFill>
                <a:latin typeface="Helvetica Neue"/>
              </a:rPr>
              <a:t>10</a:t>
            </a:r>
          </a:p>
        </p:txBody>
      </p:sp>
      <p:sp>
        <p:nvSpPr>
          <p:cNvPr id="4" name="TextBox 3"/>
          <p:cNvSpPr txBox="1"/>
          <p:nvPr/>
        </p:nvSpPr>
        <p:spPr>
          <a:xfrm>
            <a:off x="761969" y="761969"/>
            <a:ext cx="6667519" cy="274320"/>
          </a:xfrm>
          <a:prstGeom prst="rect">
            <a:avLst/>
          </a:prstGeom>
          <a:noFill/>
        </p:spPr>
        <p:txBody>
          <a:bodyPr wrap="square" anchor="t" lIns="0" rIns="0" tIns="0" bIns="0">
            <a:spAutoFit/>
          </a:bodyPr>
          <a:lstStyle/>
          <a:p>
            <a:pPr algn="l">
              <a:lnSpc>
                <a:spcPct val="120000"/>
              </a:lnSpc>
              <a:spcAft>
                <a:spcPts val="0"/>
              </a:spcAft>
            </a:pPr>
            <a:r>
              <a:rPr sz="950" b="1">
                <a:solidFill>
                  <a:srgbClr val="0F766E"/>
                </a:solidFill>
                <a:latin typeface="Helvetica Neue"/>
              </a:rPr>
              <a:t>02 — THE DIFFERENCE</a:t>
            </a:r>
          </a:p>
        </p:txBody>
      </p:sp>
      <p:sp>
        <p:nvSpPr>
          <p:cNvPr id="5" name="TextBox 4"/>
          <p:cNvSpPr txBox="1"/>
          <p:nvPr/>
        </p:nvSpPr>
        <p:spPr>
          <a:xfrm>
            <a:off x="761969" y="1188720"/>
            <a:ext cx="6134117" cy="1188720"/>
          </a:xfrm>
          <a:prstGeom prst="rect">
            <a:avLst/>
          </a:prstGeom>
          <a:noFill/>
        </p:spPr>
        <p:txBody>
          <a:bodyPr wrap="square" anchor="t" lIns="0" rIns="0" tIns="0" bIns="0">
            <a:spAutoFit/>
          </a:bodyPr>
          <a:lstStyle/>
          <a:p>
            <a:pPr algn="l">
              <a:lnSpc>
                <a:spcPct val="102000"/>
              </a:lnSpc>
              <a:spcAft>
                <a:spcPts val="0"/>
              </a:spcAft>
            </a:pPr>
            <a:r>
              <a:rPr sz="2600" b="1">
                <a:solidFill>
                  <a:srgbClr val="141413"/>
                </a:solidFill>
                <a:latin typeface="Helvetica Neue"/>
              </a:rPr>
              <a:t>What comes out that no other tool produces.</a:t>
            </a:r>
          </a:p>
        </p:txBody>
      </p:sp>
      <p:sp>
        <p:nvSpPr>
          <p:cNvPr id="6" name="Rectangle 5"/>
          <p:cNvSpPr/>
          <p:nvPr/>
        </p:nvSpPr>
        <p:spPr>
          <a:xfrm>
            <a:off x="761969" y="2368296"/>
            <a:ext cx="8801125"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1969" y="2487168"/>
            <a:ext cx="8534424" cy="502920"/>
          </a:xfrm>
          <a:prstGeom prst="rect">
            <a:avLst/>
          </a:prstGeom>
          <a:noFill/>
        </p:spPr>
        <p:txBody>
          <a:bodyPr wrap="square" anchor="t" lIns="0" rIns="0" tIns="0" bIns="0">
            <a:spAutoFit/>
          </a:bodyPr>
          <a:lstStyle/>
          <a:p>
            <a:pPr algn="l">
              <a:lnSpc>
                <a:spcPct val="120000"/>
              </a:lnSpc>
              <a:spcAft>
                <a:spcPts val="0"/>
              </a:spcAft>
            </a:pPr>
            <a:r>
              <a:rPr sz="1150" b="0">
                <a:solidFill>
                  <a:srgbClr val="77736C"/>
                </a:solidFill>
                <a:latin typeface="Helvetica Neue"/>
              </a:rPr>
              <a:t>Services that are properly coordinated — pipes, ducts, power and data each keep their own space in the ceiling and their own line down through the building, the way a real set of drawings resolves them.</a:t>
            </a:r>
          </a:p>
        </p:txBody>
      </p:sp>
      <p:sp>
        <p:nvSpPr>
          <p:cNvPr id="8" name="Rectangle 7"/>
          <p:cNvSpPr/>
          <p:nvPr/>
        </p:nvSpPr>
        <p:spPr>
          <a:xfrm>
            <a:off x="761969" y="2980944"/>
            <a:ext cx="8801125"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1969" y="3099816"/>
            <a:ext cx="8534424" cy="502920"/>
          </a:xfrm>
          <a:prstGeom prst="rect">
            <a:avLst/>
          </a:prstGeom>
          <a:noFill/>
        </p:spPr>
        <p:txBody>
          <a:bodyPr wrap="square" anchor="t" lIns="0" rIns="0" tIns="0" bIns="0">
            <a:spAutoFit/>
          </a:bodyPr>
          <a:lstStyle/>
          <a:p>
            <a:pPr algn="l">
              <a:lnSpc>
                <a:spcPct val="120000"/>
              </a:lnSpc>
              <a:spcAft>
                <a:spcPts val="0"/>
              </a:spcAft>
            </a:pPr>
            <a:r>
              <a:rPr sz="1150" b="0">
                <a:solidFill>
                  <a:srgbClr val="77736C"/>
                </a:solidFill>
                <a:latin typeface="Helvetica Neue"/>
              </a:rPr>
              <a:t>Drawings, not just a picture — floor levels, roof heights, dimensions and a title block, in the language a construction set already uses.</a:t>
            </a:r>
          </a:p>
        </p:txBody>
      </p:sp>
      <p:sp>
        <p:nvSpPr>
          <p:cNvPr id="10" name="Rectangle 9"/>
          <p:cNvSpPr/>
          <p:nvPr/>
        </p:nvSpPr>
        <p:spPr>
          <a:xfrm>
            <a:off x="761969" y="3593592"/>
            <a:ext cx="8801125"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1969" y="3712464"/>
            <a:ext cx="8534424" cy="502920"/>
          </a:xfrm>
          <a:prstGeom prst="rect">
            <a:avLst/>
          </a:prstGeom>
          <a:noFill/>
        </p:spPr>
        <p:txBody>
          <a:bodyPr wrap="square" anchor="t" lIns="0" rIns="0" tIns="0" bIns="0">
            <a:spAutoFit/>
          </a:bodyPr>
          <a:lstStyle/>
          <a:p>
            <a:pPr algn="l">
              <a:lnSpc>
                <a:spcPct val="120000"/>
              </a:lnSpc>
              <a:spcAft>
                <a:spcPts val="0"/>
              </a:spcAft>
            </a:pPr>
            <a:r>
              <a:rPr sz="1150" b="0">
                <a:solidFill>
                  <a:srgbClr val="77736C"/>
                </a:solidFill>
                <a:latin typeface="Helvetica Neue"/>
              </a:rPr>
              <a:t>Buildings that behave like buildings — upper floors step back correctly, towers taper, and a spire is added when only its tip height is known.</a:t>
            </a:r>
          </a:p>
        </p:txBody>
      </p:sp>
      <p:sp>
        <p:nvSpPr>
          <p:cNvPr id="12" name="Rectangle 11"/>
          <p:cNvSpPr/>
          <p:nvPr/>
        </p:nvSpPr>
        <p:spPr>
          <a:xfrm>
            <a:off x="761969" y="4206240"/>
            <a:ext cx="8801125"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1969" y="4325112"/>
            <a:ext cx="8534424" cy="502920"/>
          </a:xfrm>
          <a:prstGeom prst="rect">
            <a:avLst/>
          </a:prstGeom>
          <a:noFill/>
        </p:spPr>
        <p:txBody>
          <a:bodyPr wrap="square" anchor="t" lIns="0" rIns="0" tIns="0" bIns="0">
            <a:spAutoFit/>
          </a:bodyPr>
          <a:lstStyle/>
          <a:p>
            <a:pPr algn="l">
              <a:lnSpc>
                <a:spcPct val="120000"/>
              </a:lnSpc>
              <a:spcAft>
                <a:spcPts val="0"/>
              </a:spcAft>
            </a:pPr>
            <a:r>
              <a:rPr sz="1150" b="0">
                <a:solidFill>
                  <a:srgbClr val="77736C"/>
                </a:solidFill>
                <a:latin typeface="Helvetica Neue"/>
              </a:rPr>
              <a:t>Measured facts kept apart from generated ones — when a building is looked up by address, the real outline is labelled as measured, so nobody mistakes it for a suggestion.</a:t>
            </a:r>
          </a:p>
        </p:txBody>
      </p:sp>
      <p:sp>
        <p:nvSpPr>
          <p:cNvPr id="14" name="Rectangle 13"/>
          <p:cNvSpPr/>
          <p:nvPr/>
        </p:nvSpPr>
        <p:spPr>
          <a:xfrm>
            <a:off x="761969" y="4818888"/>
            <a:ext cx="8801125"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1969" y="4937760"/>
            <a:ext cx="8534424" cy="502920"/>
          </a:xfrm>
          <a:prstGeom prst="rect">
            <a:avLst/>
          </a:prstGeom>
          <a:noFill/>
        </p:spPr>
        <p:txBody>
          <a:bodyPr wrap="square" anchor="t" lIns="0" rIns="0" tIns="0" bIns="0">
            <a:spAutoFit/>
          </a:bodyPr>
          <a:lstStyle/>
          <a:p>
            <a:pPr algn="l">
              <a:lnSpc>
                <a:spcPct val="120000"/>
              </a:lnSpc>
              <a:spcAft>
                <a:spcPts val="0"/>
              </a:spcAft>
            </a:pPr>
            <a:r>
              <a:rPr sz="1150" b="0">
                <a:solidFill>
                  <a:srgbClr val="77736C"/>
                </a:solidFill>
                <a:latin typeface="Helvetica Neue"/>
              </a:rPr>
              <a:t>Changes by conversation — resize a room, take the roof off, change a finish. The building updates; nothing is rebuilt from scratch.</a:t>
            </a:r>
          </a:p>
        </p:txBody>
      </p:sp>
      <p:sp>
        <p:nvSpPr>
          <p:cNvPr id="16" name="Rectangle 15"/>
          <p:cNvSpPr/>
          <p:nvPr/>
        </p:nvSpPr>
        <p:spPr>
          <a:xfrm>
            <a:off x="761969" y="5431536"/>
            <a:ext cx="8801125"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1969" y="5550408"/>
            <a:ext cx="8534424" cy="502920"/>
          </a:xfrm>
          <a:prstGeom prst="rect">
            <a:avLst/>
          </a:prstGeom>
          <a:noFill/>
        </p:spPr>
        <p:txBody>
          <a:bodyPr wrap="square" anchor="t" lIns="0" rIns="0" tIns="0" bIns="0">
            <a:spAutoFit/>
          </a:bodyPr>
          <a:lstStyle/>
          <a:p>
            <a:pPr algn="l">
              <a:lnSpc>
                <a:spcPct val="120000"/>
              </a:lnSpc>
              <a:spcAft>
                <a:spcPts val="0"/>
              </a:spcAft>
            </a:pPr>
            <a:r>
              <a:rPr sz="1150" b="0">
                <a:solidFill>
                  <a:srgbClr val="77736C"/>
                </a:solidFill>
                <a:latin typeface="Helvetica Neue"/>
              </a:rPr>
              <a:t>The build, played back — site, slab, structure, walls, roof and services appear in order, so you can watch how it goes together.</a:t>
            </a:r>
          </a:p>
        </p:txBody>
      </p:sp>
      <p:sp>
        <p:nvSpPr>
          <p:cNvPr id="18" name="TextBox 17"/>
          <p:cNvSpPr txBox="1"/>
          <p:nvPr/>
        </p:nvSpPr>
        <p:spPr>
          <a:xfrm>
            <a:off x="761969" y="5852160"/>
            <a:ext cx="8801125" cy="365760"/>
          </a:xfrm>
          <a:prstGeom prst="rect">
            <a:avLst/>
          </a:prstGeom>
          <a:noFill/>
        </p:spPr>
        <p:txBody>
          <a:bodyPr wrap="square" anchor="t" lIns="0" rIns="0" tIns="0" bIns="0">
            <a:spAutoFit/>
          </a:bodyPr>
          <a:lstStyle/>
          <a:p>
            <a:pPr algn="l">
              <a:lnSpc>
                <a:spcPct val="120000"/>
              </a:lnSpc>
              <a:spcAft>
                <a:spcPts val="0"/>
              </a:spcAft>
            </a:pPr>
            <a:r>
              <a:rPr sz="1000" b="0">
                <a:solidFill>
                  <a:srgbClr val="77736C"/>
                </a:solidFill>
                <a:latin typeface="Helvetica Neue"/>
              </a:rPr>
              <a:t>All of it produced automatically, and all of it able to run in-house.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41413"/>
        </a:solidFill>
        <a:effectLst/>
      </p:bgPr>
    </p:bg>
    <p:spTree>
      <p:nvGrpSpPr>
        <p:cNvPr id="1" name=""/>
        <p:cNvGrpSpPr/>
        <p:nvPr/>
      </p:nvGrpSpPr>
      <p:grpSpPr/>
      <p:sp>
        <p:nvSpPr>
          <p:cNvPr id="2" name="TextBox 1"/>
          <p:cNvSpPr txBox="1"/>
          <p:nvPr/>
        </p:nvSpPr>
        <p:spPr>
          <a:xfrm>
            <a:off x="761969" y="6291072"/>
            <a:ext cx="5334015" cy="274320"/>
          </a:xfrm>
          <a:prstGeom prst="rect">
            <a:avLst/>
          </a:prstGeom>
          <a:noFill/>
        </p:spPr>
        <p:txBody>
          <a:bodyPr wrap="square" anchor="t" lIns="0" rIns="0" tIns="0" bIns="0">
            <a:spAutoFit/>
          </a:bodyPr>
          <a:lstStyle/>
          <a:p>
            <a:pPr algn="l">
              <a:lnSpc>
                <a:spcPct val="120000"/>
              </a:lnSpc>
              <a:spcAft>
                <a:spcPts val="0"/>
              </a:spcAft>
            </a:pPr>
            <a:r>
              <a:rPr sz="850" b="0">
                <a:solidFill>
                  <a:srgbClr val="8A867E"/>
                </a:solidFill>
                <a:latin typeface="Helvetica Neue"/>
              </a:rPr>
              <a:t>Acon x Dell Pro Max GB10</a:t>
            </a:r>
          </a:p>
        </p:txBody>
      </p:sp>
      <p:sp>
        <p:nvSpPr>
          <p:cNvPr id="3" name="TextBox 2"/>
          <p:cNvSpPr txBox="1"/>
          <p:nvPr/>
        </p:nvSpPr>
        <p:spPr>
          <a:xfrm>
            <a:off x="10096496" y="6291072"/>
            <a:ext cx="1333503" cy="274320"/>
          </a:xfrm>
          <a:prstGeom prst="rect">
            <a:avLst/>
          </a:prstGeom>
          <a:noFill/>
        </p:spPr>
        <p:txBody>
          <a:bodyPr wrap="square" anchor="t" lIns="0" rIns="0" tIns="0" bIns="0">
            <a:spAutoFit/>
          </a:bodyPr>
          <a:lstStyle/>
          <a:p>
            <a:pPr algn="r">
              <a:lnSpc>
                <a:spcPct val="120000"/>
              </a:lnSpc>
              <a:spcAft>
                <a:spcPts val="0"/>
              </a:spcAft>
            </a:pPr>
            <a:r>
              <a:rPr sz="850" b="0">
                <a:solidFill>
                  <a:srgbClr val="8A867E"/>
                </a:solidFill>
                <a:latin typeface="Helvetica Neue"/>
              </a:rPr>
              <a:t>11</a:t>
            </a:r>
          </a:p>
        </p:txBody>
      </p:sp>
      <p:sp>
        <p:nvSpPr>
          <p:cNvPr id="4" name="TextBox 3"/>
          <p:cNvSpPr txBox="1"/>
          <p:nvPr/>
        </p:nvSpPr>
        <p:spPr>
          <a:xfrm>
            <a:off x="761969" y="2377440"/>
            <a:ext cx="2667007" cy="1097280"/>
          </a:xfrm>
          <a:prstGeom prst="rect">
            <a:avLst/>
          </a:prstGeom>
          <a:noFill/>
        </p:spPr>
        <p:txBody>
          <a:bodyPr wrap="square" anchor="t" lIns="0" rIns="0" tIns="0" bIns="0">
            <a:spAutoFit/>
          </a:bodyPr>
          <a:lstStyle/>
          <a:p>
            <a:pPr algn="l">
              <a:lnSpc>
                <a:spcPct val="102000"/>
              </a:lnSpc>
              <a:spcAft>
                <a:spcPts val="0"/>
              </a:spcAft>
            </a:pPr>
            <a:r>
              <a:rPr sz="6400" b="1">
                <a:solidFill>
                  <a:srgbClr val="F4F2ED"/>
                </a:solidFill>
                <a:latin typeface="Helvetica Neue"/>
              </a:rPr>
              <a:t>03</a:t>
            </a:r>
          </a:p>
        </p:txBody>
      </p:sp>
      <p:sp>
        <p:nvSpPr>
          <p:cNvPr id="5" name="Rectangle 4"/>
          <p:cNvSpPr/>
          <p:nvPr/>
        </p:nvSpPr>
        <p:spPr>
          <a:xfrm>
            <a:off x="761969" y="3794760"/>
            <a:ext cx="1600204" cy="2743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1969" y="4114800"/>
            <a:ext cx="6667519" cy="731520"/>
          </a:xfrm>
          <a:prstGeom prst="rect">
            <a:avLst/>
          </a:prstGeom>
          <a:noFill/>
        </p:spPr>
        <p:txBody>
          <a:bodyPr wrap="square" anchor="t" lIns="0" rIns="0" tIns="0" bIns="0">
            <a:spAutoFit/>
          </a:bodyPr>
          <a:lstStyle/>
          <a:p>
            <a:pPr algn="l">
              <a:lnSpc>
                <a:spcPct val="102000"/>
              </a:lnSpc>
              <a:spcAft>
                <a:spcPts val="0"/>
              </a:spcAft>
            </a:pPr>
            <a:r>
              <a:rPr sz="2600" b="1">
                <a:solidFill>
                  <a:srgbClr val="F4F2ED"/>
                </a:solidFill>
                <a:latin typeface="Helvetica Neue"/>
              </a:rPr>
              <a:t>The reason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TextBox 1"/>
          <p:cNvSpPr txBox="1"/>
          <p:nvPr/>
        </p:nvSpPr>
        <p:spPr>
          <a:xfrm>
            <a:off x="761969" y="6291072"/>
            <a:ext cx="5334015" cy="274320"/>
          </a:xfrm>
          <a:prstGeom prst="rect">
            <a:avLst/>
          </a:prstGeom>
          <a:noFill/>
        </p:spPr>
        <p:txBody>
          <a:bodyPr wrap="square" anchor="t" lIns="0" rIns="0" tIns="0" bIns="0">
            <a:spAutoFit/>
          </a:bodyPr>
          <a:lstStyle/>
          <a:p>
            <a:pPr algn="l">
              <a:lnSpc>
                <a:spcPct val="120000"/>
              </a:lnSpc>
              <a:spcAft>
                <a:spcPts val="0"/>
              </a:spcAft>
            </a:pPr>
            <a:r>
              <a:rPr sz="850" b="0">
                <a:solidFill>
                  <a:srgbClr val="77736C"/>
                </a:solidFill>
                <a:latin typeface="Helvetica Neue"/>
              </a:rPr>
              <a:t>Acon x Dell Pro Max GB10</a:t>
            </a:r>
          </a:p>
        </p:txBody>
      </p:sp>
      <p:sp>
        <p:nvSpPr>
          <p:cNvPr id="3" name="TextBox 2"/>
          <p:cNvSpPr txBox="1"/>
          <p:nvPr/>
        </p:nvSpPr>
        <p:spPr>
          <a:xfrm>
            <a:off x="10096496" y="6291072"/>
            <a:ext cx="1333503" cy="274320"/>
          </a:xfrm>
          <a:prstGeom prst="rect">
            <a:avLst/>
          </a:prstGeom>
          <a:noFill/>
        </p:spPr>
        <p:txBody>
          <a:bodyPr wrap="square" anchor="t" lIns="0" rIns="0" tIns="0" bIns="0">
            <a:spAutoFit/>
          </a:bodyPr>
          <a:lstStyle/>
          <a:p>
            <a:pPr algn="r">
              <a:lnSpc>
                <a:spcPct val="120000"/>
              </a:lnSpc>
              <a:spcAft>
                <a:spcPts val="0"/>
              </a:spcAft>
            </a:pPr>
            <a:r>
              <a:rPr sz="850" b="0">
                <a:solidFill>
                  <a:srgbClr val="77736C"/>
                </a:solidFill>
                <a:latin typeface="Helvetica Neue"/>
              </a:rPr>
              <a:t>12</a:t>
            </a:r>
          </a:p>
        </p:txBody>
      </p:sp>
      <p:sp>
        <p:nvSpPr>
          <p:cNvPr id="4" name="TextBox 3"/>
          <p:cNvSpPr txBox="1"/>
          <p:nvPr/>
        </p:nvSpPr>
        <p:spPr>
          <a:xfrm>
            <a:off x="761969" y="761969"/>
            <a:ext cx="6667519" cy="274320"/>
          </a:xfrm>
          <a:prstGeom prst="rect">
            <a:avLst/>
          </a:prstGeom>
          <a:noFill/>
        </p:spPr>
        <p:txBody>
          <a:bodyPr wrap="square" anchor="t" lIns="0" rIns="0" tIns="0" bIns="0">
            <a:spAutoFit/>
          </a:bodyPr>
          <a:lstStyle/>
          <a:p>
            <a:pPr algn="l">
              <a:lnSpc>
                <a:spcPct val="120000"/>
              </a:lnSpc>
              <a:spcAft>
                <a:spcPts val="0"/>
              </a:spcAft>
            </a:pPr>
            <a:r>
              <a:rPr sz="950" b="1">
                <a:solidFill>
                  <a:srgbClr val="0F766E"/>
                </a:solidFill>
                <a:latin typeface="Helvetica Neue"/>
              </a:rPr>
              <a:t>03 — THE REASON</a:t>
            </a:r>
          </a:p>
        </p:txBody>
      </p:sp>
      <p:sp>
        <p:nvSpPr>
          <p:cNvPr id="5" name="TextBox 4"/>
          <p:cNvSpPr txBox="1"/>
          <p:nvPr/>
        </p:nvSpPr>
        <p:spPr>
          <a:xfrm>
            <a:off x="761969" y="1188720"/>
            <a:ext cx="7334270" cy="822960"/>
          </a:xfrm>
          <a:prstGeom prst="rect">
            <a:avLst/>
          </a:prstGeom>
          <a:noFill/>
        </p:spPr>
        <p:txBody>
          <a:bodyPr wrap="square" anchor="t" lIns="0" rIns="0" tIns="0" bIns="0">
            <a:spAutoFit/>
          </a:bodyPr>
          <a:lstStyle/>
          <a:p>
            <a:pPr algn="l">
              <a:lnSpc>
                <a:spcPct val="102000"/>
              </a:lnSpc>
              <a:spcAft>
                <a:spcPts val="0"/>
              </a:spcAft>
            </a:pPr>
            <a:r>
              <a:rPr sz="2600" b="1">
                <a:solidFill>
                  <a:srgbClr val="141413"/>
                </a:solidFill>
                <a:latin typeface="Helvetica Neue"/>
              </a:rPr>
              <a:t>Three reasons this cannot live in the cloud.</a:t>
            </a:r>
          </a:p>
        </p:txBody>
      </p:sp>
      <p:sp>
        <p:nvSpPr>
          <p:cNvPr id="6" name="Rectangle 5"/>
          <p:cNvSpPr/>
          <p:nvPr/>
        </p:nvSpPr>
        <p:spPr>
          <a:xfrm>
            <a:off x="761969" y="2468880"/>
            <a:ext cx="2957330" cy="201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1969" y="2697480"/>
            <a:ext cx="2884178" cy="457200"/>
          </a:xfrm>
          <a:prstGeom prst="rect">
            <a:avLst/>
          </a:prstGeom>
          <a:noFill/>
        </p:spPr>
        <p:txBody>
          <a:bodyPr wrap="square" anchor="t" lIns="0" rIns="0" tIns="0" bIns="0">
            <a:spAutoFit/>
          </a:bodyPr>
          <a:lstStyle/>
          <a:p>
            <a:pPr algn="l">
              <a:lnSpc>
                <a:spcPct val="120000"/>
              </a:lnSpc>
              <a:spcAft>
                <a:spcPts val="0"/>
              </a:spcAft>
            </a:pPr>
            <a:r>
              <a:rPr sz="1200" b="1">
                <a:solidFill>
                  <a:srgbClr val="141413"/>
                </a:solidFill>
                <a:latin typeface="Helvetica Neue"/>
              </a:rPr>
              <a:t>The drawings are confidential</a:t>
            </a:r>
          </a:p>
        </p:txBody>
      </p:sp>
      <p:sp>
        <p:nvSpPr>
          <p:cNvPr id="8" name="TextBox 7"/>
          <p:cNvSpPr txBox="1"/>
          <p:nvPr/>
        </p:nvSpPr>
        <p:spPr>
          <a:xfrm>
            <a:off x="761969" y="3291840"/>
            <a:ext cx="2838458" cy="2194560"/>
          </a:xfrm>
          <a:prstGeom prst="rect">
            <a:avLst/>
          </a:prstGeom>
          <a:noFill/>
        </p:spPr>
        <p:txBody>
          <a:bodyPr wrap="square" anchor="t" lIns="0" rIns="0" tIns="0" bIns="0">
            <a:spAutoFit/>
          </a:bodyPr>
          <a:lstStyle/>
          <a:p>
            <a:pPr algn="l">
              <a:lnSpc>
                <a:spcPct val="120000"/>
              </a:lnSpc>
              <a:spcAft>
                <a:spcPts val="0"/>
              </a:spcAft>
            </a:pPr>
            <a:r>
              <a:rPr sz="1100" b="0">
                <a:solidFill>
                  <a:srgbClr val="77736C"/>
                </a:solidFill>
                <a:latin typeface="Helvetica Neue"/>
              </a:rPr>
              <a:t>Blueprints, structural drawings and tender documents belong to clients. Many agreements simply do not allow them to be handed to another company for processing.</a:t>
            </a:r>
          </a:p>
        </p:txBody>
      </p:sp>
      <p:sp>
        <p:nvSpPr>
          <p:cNvPr id="9" name="Rectangle 8"/>
          <p:cNvSpPr/>
          <p:nvPr/>
        </p:nvSpPr>
        <p:spPr>
          <a:xfrm>
            <a:off x="3989048" y="2468880"/>
            <a:ext cx="2957330" cy="201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89048" y="2697480"/>
            <a:ext cx="2884178" cy="457200"/>
          </a:xfrm>
          <a:prstGeom prst="rect">
            <a:avLst/>
          </a:prstGeom>
          <a:noFill/>
        </p:spPr>
        <p:txBody>
          <a:bodyPr wrap="square" anchor="t" lIns="0" rIns="0" tIns="0" bIns="0">
            <a:spAutoFit/>
          </a:bodyPr>
          <a:lstStyle/>
          <a:p>
            <a:pPr algn="l">
              <a:lnSpc>
                <a:spcPct val="120000"/>
              </a:lnSpc>
              <a:spcAft>
                <a:spcPts val="0"/>
              </a:spcAft>
            </a:pPr>
            <a:r>
              <a:rPr sz="1200" b="1">
                <a:solidFill>
                  <a:srgbClr val="141413"/>
                </a:solidFill>
                <a:latin typeface="Helvetica Neue"/>
              </a:rPr>
              <a:t>Today the thinking happens elsewhere</a:t>
            </a:r>
          </a:p>
        </p:txBody>
      </p:sp>
      <p:sp>
        <p:nvSpPr>
          <p:cNvPr id="11" name="TextBox 10"/>
          <p:cNvSpPr txBox="1"/>
          <p:nvPr/>
        </p:nvSpPr>
        <p:spPr>
          <a:xfrm>
            <a:off x="3989048" y="3291840"/>
            <a:ext cx="2838458" cy="2194560"/>
          </a:xfrm>
          <a:prstGeom prst="rect">
            <a:avLst/>
          </a:prstGeom>
          <a:noFill/>
        </p:spPr>
        <p:txBody>
          <a:bodyPr wrap="square" anchor="t" lIns="0" rIns="0" tIns="0" bIns="0">
            <a:spAutoFit/>
          </a:bodyPr>
          <a:lstStyle/>
          <a:p>
            <a:pPr algn="l">
              <a:lnSpc>
                <a:spcPct val="120000"/>
              </a:lnSpc>
              <a:spcAft>
                <a:spcPts val="0"/>
              </a:spcAft>
            </a:pPr>
            <a:r>
              <a:rPr sz="1100" b="0">
                <a:solidFill>
                  <a:srgbClr val="77736C"/>
                </a:solidFill>
                <a:latin typeface="Helvetica Neue"/>
              </a:rPr>
              <a:t>The part of Acon that interprets a project currently runs on an outside service, so every request sends project information out of the office.</a:t>
            </a:r>
          </a:p>
        </p:txBody>
      </p:sp>
      <p:sp>
        <p:nvSpPr>
          <p:cNvPr id="12" name="Rectangle 11"/>
          <p:cNvSpPr/>
          <p:nvPr/>
        </p:nvSpPr>
        <p:spPr>
          <a:xfrm>
            <a:off x="7216127" y="2468880"/>
            <a:ext cx="2957330" cy="201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16127" y="2697480"/>
            <a:ext cx="2884178" cy="457200"/>
          </a:xfrm>
          <a:prstGeom prst="rect">
            <a:avLst/>
          </a:prstGeom>
          <a:noFill/>
        </p:spPr>
        <p:txBody>
          <a:bodyPr wrap="square" anchor="t" lIns="0" rIns="0" tIns="0" bIns="0">
            <a:spAutoFit/>
          </a:bodyPr>
          <a:lstStyle/>
          <a:p>
            <a:pPr algn="l">
              <a:lnSpc>
                <a:spcPct val="120000"/>
              </a:lnSpc>
              <a:spcAft>
                <a:spcPts val="0"/>
              </a:spcAft>
            </a:pPr>
            <a:r>
              <a:rPr sz="1200" b="1">
                <a:solidFill>
                  <a:srgbClr val="141413"/>
                </a:solidFill>
                <a:latin typeface="Helvetica Neue"/>
              </a:rPr>
              <a:t>Modelling by hand is the bottleneck</a:t>
            </a:r>
          </a:p>
        </p:txBody>
      </p:sp>
      <p:sp>
        <p:nvSpPr>
          <p:cNvPr id="14" name="TextBox 13"/>
          <p:cNvSpPr txBox="1"/>
          <p:nvPr/>
        </p:nvSpPr>
        <p:spPr>
          <a:xfrm>
            <a:off x="7216127" y="3291840"/>
            <a:ext cx="2838458" cy="2194560"/>
          </a:xfrm>
          <a:prstGeom prst="rect">
            <a:avLst/>
          </a:prstGeom>
          <a:noFill/>
        </p:spPr>
        <p:txBody>
          <a:bodyPr wrap="square" anchor="t" lIns="0" rIns="0" tIns="0" bIns="0">
            <a:spAutoFit/>
          </a:bodyPr>
          <a:lstStyle/>
          <a:p>
            <a:pPr algn="l">
              <a:lnSpc>
                <a:spcPct val="120000"/>
              </a:lnSpc>
              <a:spcAft>
                <a:spcPts val="0"/>
              </a:spcAft>
            </a:pPr>
            <a:r>
              <a:rPr sz="1100" b="0">
                <a:solidFill>
                  <a:srgbClr val="77736C"/>
                </a:solidFill>
                <a:latin typeface="Helvetica Neue"/>
              </a:rPr>
              <a:t>Turning a received drawing set into a usable 3D model takes days of skilled time — and it starts again with every revision.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TextBox 1"/>
          <p:cNvSpPr txBox="1"/>
          <p:nvPr/>
        </p:nvSpPr>
        <p:spPr>
          <a:xfrm>
            <a:off x="761969" y="6291072"/>
            <a:ext cx="5334015" cy="274320"/>
          </a:xfrm>
          <a:prstGeom prst="rect">
            <a:avLst/>
          </a:prstGeom>
          <a:noFill/>
        </p:spPr>
        <p:txBody>
          <a:bodyPr wrap="square" anchor="t" lIns="0" rIns="0" tIns="0" bIns="0">
            <a:spAutoFit/>
          </a:bodyPr>
          <a:lstStyle/>
          <a:p>
            <a:pPr algn="l">
              <a:lnSpc>
                <a:spcPct val="120000"/>
              </a:lnSpc>
              <a:spcAft>
                <a:spcPts val="0"/>
              </a:spcAft>
            </a:pPr>
            <a:r>
              <a:rPr sz="850" b="0">
                <a:solidFill>
                  <a:srgbClr val="77736C"/>
                </a:solidFill>
                <a:latin typeface="Helvetica Neue"/>
              </a:rPr>
              <a:t>Acon x Dell Pro Max GB10</a:t>
            </a:r>
          </a:p>
        </p:txBody>
      </p:sp>
      <p:sp>
        <p:nvSpPr>
          <p:cNvPr id="3" name="TextBox 2"/>
          <p:cNvSpPr txBox="1"/>
          <p:nvPr/>
        </p:nvSpPr>
        <p:spPr>
          <a:xfrm>
            <a:off x="10096496" y="6291072"/>
            <a:ext cx="1333503" cy="274320"/>
          </a:xfrm>
          <a:prstGeom prst="rect">
            <a:avLst/>
          </a:prstGeom>
          <a:noFill/>
        </p:spPr>
        <p:txBody>
          <a:bodyPr wrap="square" anchor="t" lIns="0" rIns="0" tIns="0" bIns="0">
            <a:spAutoFit/>
          </a:bodyPr>
          <a:lstStyle/>
          <a:p>
            <a:pPr algn="r">
              <a:lnSpc>
                <a:spcPct val="120000"/>
              </a:lnSpc>
              <a:spcAft>
                <a:spcPts val="0"/>
              </a:spcAft>
            </a:pPr>
            <a:r>
              <a:rPr sz="850" b="0">
                <a:solidFill>
                  <a:srgbClr val="77736C"/>
                </a:solidFill>
                <a:latin typeface="Helvetica Neue"/>
              </a:rPr>
              <a:t>13</a:t>
            </a:r>
          </a:p>
        </p:txBody>
      </p:sp>
      <p:sp>
        <p:nvSpPr>
          <p:cNvPr id="4" name="TextBox 3"/>
          <p:cNvSpPr txBox="1"/>
          <p:nvPr/>
        </p:nvSpPr>
        <p:spPr>
          <a:xfrm>
            <a:off x="761969" y="761969"/>
            <a:ext cx="6667519" cy="274320"/>
          </a:xfrm>
          <a:prstGeom prst="rect">
            <a:avLst/>
          </a:prstGeom>
          <a:noFill/>
        </p:spPr>
        <p:txBody>
          <a:bodyPr wrap="square" anchor="t" lIns="0" rIns="0" tIns="0" bIns="0">
            <a:spAutoFit/>
          </a:bodyPr>
          <a:lstStyle/>
          <a:p>
            <a:pPr algn="l">
              <a:lnSpc>
                <a:spcPct val="120000"/>
              </a:lnSpc>
              <a:spcAft>
                <a:spcPts val="0"/>
              </a:spcAft>
            </a:pPr>
            <a:r>
              <a:rPr sz="950" b="1">
                <a:solidFill>
                  <a:srgbClr val="0F766E"/>
                </a:solidFill>
                <a:latin typeface="Helvetica Neue"/>
              </a:rPr>
              <a:t>03 — THE REASON</a:t>
            </a:r>
          </a:p>
        </p:txBody>
      </p:sp>
      <p:sp>
        <p:nvSpPr>
          <p:cNvPr id="5" name="TextBox 4"/>
          <p:cNvSpPr txBox="1"/>
          <p:nvPr/>
        </p:nvSpPr>
        <p:spPr>
          <a:xfrm>
            <a:off x="761969" y="1188720"/>
            <a:ext cx="6134117" cy="1188720"/>
          </a:xfrm>
          <a:prstGeom prst="rect">
            <a:avLst/>
          </a:prstGeom>
          <a:noFill/>
        </p:spPr>
        <p:txBody>
          <a:bodyPr wrap="square" anchor="t" lIns="0" rIns="0" tIns="0" bIns="0">
            <a:spAutoFit/>
          </a:bodyPr>
          <a:lstStyle/>
          <a:p>
            <a:pPr algn="l">
              <a:lnSpc>
                <a:spcPct val="102000"/>
              </a:lnSpc>
              <a:spcAft>
                <a:spcPts val="0"/>
              </a:spcAft>
            </a:pPr>
            <a:r>
              <a:rPr sz="2600" b="1">
                <a:solidFill>
                  <a:srgbClr val="141413"/>
                </a:solidFill>
                <a:latin typeface="Helvetica Neue"/>
              </a:rPr>
              <a:t>The software has to live inside the firm.</a:t>
            </a:r>
          </a:p>
        </p:txBody>
      </p:sp>
      <p:sp>
        <p:nvSpPr>
          <p:cNvPr id="6" name="Rectangle 5"/>
          <p:cNvSpPr/>
          <p:nvPr/>
        </p:nvSpPr>
        <p:spPr>
          <a:xfrm>
            <a:off x="761969" y="2487168"/>
            <a:ext cx="8801125"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1969" y="2606040"/>
            <a:ext cx="8534424" cy="502920"/>
          </a:xfrm>
          <a:prstGeom prst="rect">
            <a:avLst/>
          </a:prstGeom>
          <a:noFill/>
        </p:spPr>
        <p:txBody>
          <a:bodyPr wrap="square" anchor="t" lIns="0" rIns="0" tIns="0" bIns="0">
            <a:spAutoFit/>
          </a:bodyPr>
          <a:lstStyle/>
          <a:p>
            <a:pPr algn="l">
              <a:lnSpc>
                <a:spcPct val="120000"/>
              </a:lnSpc>
              <a:spcAft>
                <a:spcPts val="0"/>
              </a:spcAft>
            </a:pPr>
            <a:r>
              <a:rPr sz="1200" b="0">
                <a:solidFill>
                  <a:srgbClr val="77736C"/>
                </a:solidFill>
                <a:latin typeface="Helvetica Neue"/>
              </a:rPr>
              <a:t>Nothing leaves the office. The drawings stay exactly where they already are.</a:t>
            </a:r>
          </a:p>
        </p:txBody>
      </p:sp>
      <p:sp>
        <p:nvSpPr>
          <p:cNvPr id="8" name="Rectangle 7"/>
          <p:cNvSpPr/>
          <p:nvPr/>
        </p:nvSpPr>
        <p:spPr>
          <a:xfrm>
            <a:off x="761969" y="3200400"/>
            <a:ext cx="8801125"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1969" y="3319272"/>
            <a:ext cx="8534424" cy="502920"/>
          </a:xfrm>
          <a:prstGeom prst="rect">
            <a:avLst/>
          </a:prstGeom>
          <a:noFill/>
        </p:spPr>
        <p:txBody>
          <a:bodyPr wrap="square" anchor="t" lIns="0" rIns="0" tIns="0" bIns="0">
            <a:spAutoFit/>
          </a:bodyPr>
          <a:lstStyle/>
          <a:p>
            <a:pPr algn="l">
              <a:lnSpc>
                <a:spcPct val="120000"/>
              </a:lnSpc>
              <a:spcAft>
                <a:spcPts val="0"/>
              </a:spcAft>
            </a:pPr>
            <a:r>
              <a:rPr sz="1200" b="0">
                <a:solidFill>
                  <a:srgbClr val="77736C"/>
                </a:solidFill>
                <a:latin typeface="Helvetica Neue"/>
              </a:rPr>
              <a:t>Nothing to declare to a client, because no outside company ever handles their documents.</a:t>
            </a:r>
          </a:p>
        </p:txBody>
      </p:sp>
      <p:sp>
        <p:nvSpPr>
          <p:cNvPr id="10" name="Rectangle 9"/>
          <p:cNvSpPr/>
          <p:nvPr/>
        </p:nvSpPr>
        <p:spPr>
          <a:xfrm>
            <a:off x="761969" y="3913632"/>
            <a:ext cx="8801125"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1969" y="4032504"/>
            <a:ext cx="8534424" cy="502920"/>
          </a:xfrm>
          <a:prstGeom prst="rect">
            <a:avLst/>
          </a:prstGeom>
          <a:noFill/>
        </p:spPr>
        <p:txBody>
          <a:bodyPr wrap="square" anchor="t" lIns="0" rIns="0" tIns="0" bIns="0">
            <a:spAutoFit/>
          </a:bodyPr>
          <a:lstStyle/>
          <a:p>
            <a:pPr algn="l">
              <a:lnSpc>
                <a:spcPct val="120000"/>
              </a:lnSpc>
              <a:spcAft>
                <a:spcPts val="0"/>
              </a:spcAft>
            </a:pPr>
            <a:r>
              <a:rPr sz="1200" b="0">
                <a:solidFill>
                  <a:srgbClr val="77736C"/>
                </a:solidFill>
                <a:latin typeface="Helvetica Neue"/>
              </a:rPr>
              <a:t>No question of what happens to the files afterwards. They are never sent anywhere, so there is no policy to take on trust.</a:t>
            </a:r>
          </a:p>
        </p:txBody>
      </p:sp>
      <p:sp>
        <p:nvSpPr>
          <p:cNvPr id="12" name="Rectangle 11"/>
          <p:cNvSpPr/>
          <p:nvPr/>
        </p:nvSpPr>
        <p:spPr>
          <a:xfrm>
            <a:off x="761969" y="4626864"/>
            <a:ext cx="8801125"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1969" y="4745736"/>
            <a:ext cx="8534424" cy="502920"/>
          </a:xfrm>
          <a:prstGeom prst="rect">
            <a:avLst/>
          </a:prstGeom>
          <a:noFill/>
        </p:spPr>
        <p:txBody>
          <a:bodyPr wrap="square" anchor="t" lIns="0" rIns="0" tIns="0" bIns="0">
            <a:spAutoFit/>
          </a:bodyPr>
          <a:lstStyle/>
          <a:p>
            <a:pPr algn="l">
              <a:lnSpc>
                <a:spcPct val="120000"/>
              </a:lnSpc>
              <a:spcAft>
                <a:spcPts val="0"/>
              </a:spcAft>
            </a:pPr>
            <a:r>
              <a:rPr sz="1200" b="0">
                <a:solidFill>
                  <a:srgbClr val="77736C"/>
                </a:solidFill>
                <a:latin typeface="Helvetica Neue"/>
              </a:rPr>
              <a:t>It keeps working without an internet connection — on site, on secure floors, anywhere.</a:t>
            </a:r>
          </a:p>
        </p:txBody>
      </p:sp>
      <p:sp>
        <p:nvSpPr>
          <p:cNvPr id="14" name="Rectangle 13"/>
          <p:cNvSpPr/>
          <p:nvPr/>
        </p:nvSpPr>
        <p:spPr>
          <a:xfrm>
            <a:off x="761969" y="5340096"/>
            <a:ext cx="8801125"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1969" y="5458968"/>
            <a:ext cx="8534424" cy="502920"/>
          </a:xfrm>
          <a:prstGeom prst="rect">
            <a:avLst/>
          </a:prstGeom>
          <a:noFill/>
        </p:spPr>
        <p:txBody>
          <a:bodyPr wrap="square" anchor="t" lIns="0" rIns="0" tIns="0" bIns="0">
            <a:spAutoFit/>
          </a:bodyPr>
          <a:lstStyle/>
          <a:p>
            <a:pPr algn="l">
              <a:lnSpc>
                <a:spcPct val="120000"/>
              </a:lnSpc>
              <a:spcAft>
                <a:spcPts val="0"/>
              </a:spcAft>
            </a:pPr>
            <a:r>
              <a:rPr sz="1200" b="0">
                <a:solidFill>
                  <a:srgbClr val="77736C"/>
                </a:solidFill>
                <a:latin typeface="Helvetica Neue"/>
              </a:rPr>
              <a:t>No subscription per person and no charge per revision. The cost is the machine, once.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41413"/>
        </a:solidFill>
        <a:effectLst/>
      </p:bgPr>
    </p:bg>
    <p:spTree>
      <p:nvGrpSpPr>
        <p:cNvPr id="1" name=""/>
        <p:cNvGrpSpPr/>
        <p:nvPr/>
      </p:nvGrpSpPr>
      <p:grpSpPr/>
      <p:sp>
        <p:nvSpPr>
          <p:cNvPr id="2" name="TextBox 1"/>
          <p:cNvSpPr txBox="1"/>
          <p:nvPr/>
        </p:nvSpPr>
        <p:spPr>
          <a:xfrm>
            <a:off x="761969" y="6291072"/>
            <a:ext cx="5334015" cy="274320"/>
          </a:xfrm>
          <a:prstGeom prst="rect">
            <a:avLst/>
          </a:prstGeom>
          <a:noFill/>
        </p:spPr>
        <p:txBody>
          <a:bodyPr wrap="square" anchor="t" lIns="0" rIns="0" tIns="0" bIns="0">
            <a:spAutoFit/>
          </a:bodyPr>
          <a:lstStyle/>
          <a:p>
            <a:pPr algn="l">
              <a:lnSpc>
                <a:spcPct val="120000"/>
              </a:lnSpc>
              <a:spcAft>
                <a:spcPts val="0"/>
              </a:spcAft>
            </a:pPr>
            <a:r>
              <a:rPr sz="850" b="0">
                <a:solidFill>
                  <a:srgbClr val="8A867E"/>
                </a:solidFill>
                <a:latin typeface="Helvetica Neue"/>
              </a:rPr>
              <a:t>Acon x Dell Pro Max GB10</a:t>
            </a:r>
          </a:p>
        </p:txBody>
      </p:sp>
      <p:sp>
        <p:nvSpPr>
          <p:cNvPr id="3" name="TextBox 2"/>
          <p:cNvSpPr txBox="1"/>
          <p:nvPr/>
        </p:nvSpPr>
        <p:spPr>
          <a:xfrm>
            <a:off x="10096496" y="6291072"/>
            <a:ext cx="1333503" cy="274320"/>
          </a:xfrm>
          <a:prstGeom prst="rect">
            <a:avLst/>
          </a:prstGeom>
          <a:noFill/>
        </p:spPr>
        <p:txBody>
          <a:bodyPr wrap="square" anchor="t" lIns="0" rIns="0" tIns="0" bIns="0">
            <a:spAutoFit/>
          </a:bodyPr>
          <a:lstStyle/>
          <a:p>
            <a:pPr algn="r">
              <a:lnSpc>
                <a:spcPct val="120000"/>
              </a:lnSpc>
              <a:spcAft>
                <a:spcPts val="0"/>
              </a:spcAft>
            </a:pPr>
            <a:r>
              <a:rPr sz="850" b="0">
                <a:solidFill>
                  <a:srgbClr val="8A867E"/>
                </a:solidFill>
                <a:latin typeface="Helvetica Neue"/>
              </a:rPr>
              <a:t>14</a:t>
            </a:r>
          </a:p>
        </p:txBody>
      </p:sp>
      <p:sp>
        <p:nvSpPr>
          <p:cNvPr id="4" name="TextBox 3"/>
          <p:cNvSpPr txBox="1"/>
          <p:nvPr/>
        </p:nvSpPr>
        <p:spPr>
          <a:xfrm>
            <a:off x="761969" y="2377440"/>
            <a:ext cx="2667007" cy="1097280"/>
          </a:xfrm>
          <a:prstGeom prst="rect">
            <a:avLst/>
          </a:prstGeom>
          <a:noFill/>
        </p:spPr>
        <p:txBody>
          <a:bodyPr wrap="square" anchor="t" lIns="0" rIns="0" tIns="0" bIns="0">
            <a:spAutoFit/>
          </a:bodyPr>
          <a:lstStyle/>
          <a:p>
            <a:pPr algn="l">
              <a:lnSpc>
                <a:spcPct val="102000"/>
              </a:lnSpc>
              <a:spcAft>
                <a:spcPts val="0"/>
              </a:spcAft>
            </a:pPr>
            <a:r>
              <a:rPr sz="6400" b="1">
                <a:solidFill>
                  <a:srgbClr val="F4F2ED"/>
                </a:solidFill>
                <a:latin typeface="Helvetica Neue"/>
              </a:rPr>
              <a:t>04</a:t>
            </a:r>
          </a:p>
        </p:txBody>
      </p:sp>
      <p:sp>
        <p:nvSpPr>
          <p:cNvPr id="5" name="Rectangle 4"/>
          <p:cNvSpPr/>
          <p:nvPr/>
        </p:nvSpPr>
        <p:spPr>
          <a:xfrm>
            <a:off x="761969" y="3794760"/>
            <a:ext cx="1600204" cy="2743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1969" y="4114800"/>
            <a:ext cx="6667519" cy="731520"/>
          </a:xfrm>
          <a:prstGeom prst="rect">
            <a:avLst/>
          </a:prstGeom>
          <a:noFill/>
        </p:spPr>
        <p:txBody>
          <a:bodyPr wrap="square" anchor="t" lIns="0" rIns="0" tIns="0" bIns="0">
            <a:spAutoFit/>
          </a:bodyPr>
          <a:lstStyle/>
          <a:p>
            <a:pPr algn="l">
              <a:lnSpc>
                <a:spcPct val="102000"/>
              </a:lnSpc>
              <a:spcAft>
                <a:spcPts val="0"/>
              </a:spcAft>
            </a:pPr>
            <a:r>
              <a:rPr sz="2600" b="1">
                <a:solidFill>
                  <a:srgbClr val="F4F2ED"/>
                </a:solidFill>
                <a:latin typeface="Helvetica Neue"/>
              </a:rPr>
              <a:t>The approach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TextBox 1"/>
          <p:cNvSpPr txBox="1"/>
          <p:nvPr/>
        </p:nvSpPr>
        <p:spPr>
          <a:xfrm>
            <a:off x="761969" y="6291072"/>
            <a:ext cx="5334015" cy="274320"/>
          </a:xfrm>
          <a:prstGeom prst="rect">
            <a:avLst/>
          </a:prstGeom>
          <a:noFill/>
        </p:spPr>
        <p:txBody>
          <a:bodyPr wrap="square" anchor="t" lIns="0" rIns="0" tIns="0" bIns="0">
            <a:spAutoFit/>
          </a:bodyPr>
          <a:lstStyle/>
          <a:p>
            <a:pPr algn="l">
              <a:lnSpc>
                <a:spcPct val="120000"/>
              </a:lnSpc>
              <a:spcAft>
                <a:spcPts val="0"/>
              </a:spcAft>
            </a:pPr>
            <a:r>
              <a:rPr sz="850" b="0">
                <a:solidFill>
                  <a:srgbClr val="77736C"/>
                </a:solidFill>
                <a:latin typeface="Helvetica Neue"/>
              </a:rPr>
              <a:t>Acon x Dell Pro Max GB10</a:t>
            </a:r>
          </a:p>
        </p:txBody>
      </p:sp>
      <p:sp>
        <p:nvSpPr>
          <p:cNvPr id="3" name="TextBox 2"/>
          <p:cNvSpPr txBox="1"/>
          <p:nvPr/>
        </p:nvSpPr>
        <p:spPr>
          <a:xfrm>
            <a:off x="10096496" y="6291072"/>
            <a:ext cx="1333503" cy="274320"/>
          </a:xfrm>
          <a:prstGeom prst="rect">
            <a:avLst/>
          </a:prstGeom>
          <a:noFill/>
        </p:spPr>
        <p:txBody>
          <a:bodyPr wrap="square" anchor="t" lIns="0" rIns="0" tIns="0" bIns="0">
            <a:spAutoFit/>
          </a:bodyPr>
          <a:lstStyle/>
          <a:p>
            <a:pPr algn="r">
              <a:lnSpc>
                <a:spcPct val="120000"/>
              </a:lnSpc>
              <a:spcAft>
                <a:spcPts val="0"/>
              </a:spcAft>
            </a:pPr>
            <a:r>
              <a:rPr sz="850" b="0">
                <a:solidFill>
                  <a:srgbClr val="77736C"/>
                </a:solidFill>
                <a:latin typeface="Helvetica Neue"/>
              </a:rPr>
              <a:t>15</a:t>
            </a:r>
          </a:p>
        </p:txBody>
      </p:sp>
      <p:sp>
        <p:nvSpPr>
          <p:cNvPr id="4" name="TextBox 3"/>
          <p:cNvSpPr txBox="1"/>
          <p:nvPr/>
        </p:nvSpPr>
        <p:spPr>
          <a:xfrm>
            <a:off x="761969" y="761969"/>
            <a:ext cx="6667519" cy="274320"/>
          </a:xfrm>
          <a:prstGeom prst="rect">
            <a:avLst/>
          </a:prstGeom>
          <a:noFill/>
        </p:spPr>
        <p:txBody>
          <a:bodyPr wrap="square" anchor="t" lIns="0" rIns="0" tIns="0" bIns="0">
            <a:spAutoFit/>
          </a:bodyPr>
          <a:lstStyle/>
          <a:p>
            <a:pPr algn="l">
              <a:lnSpc>
                <a:spcPct val="120000"/>
              </a:lnSpc>
              <a:spcAft>
                <a:spcPts val="0"/>
              </a:spcAft>
            </a:pPr>
            <a:r>
              <a:rPr sz="950" b="1">
                <a:solidFill>
                  <a:srgbClr val="0F766E"/>
                </a:solidFill>
                <a:latin typeface="Helvetica Neue"/>
              </a:rPr>
              <a:t>04 — THE APPROACH</a:t>
            </a:r>
          </a:p>
        </p:txBody>
      </p:sp>
      <p:sp>
        <p:nvSpPr>
          <p:cNvPr id="5" name="TextBox 4"/>
          <p:cNvSpPr txBox="1"/>
          <p:nvPr/>
        </p:nvSpPr>
        <p:spPr>
          <a:xfrm>
            <a:off x="761969" y="1234440"/>
            <a:ext cx="5867416" cy="1371600"/>
          </a:xfrm>
          <a:prstGeom prst="rect">
            <a:avLst/>
          </a:prstGeom>
          <a:noFill/>
        </p:spPr>
        <p:txBody>
          <a:bodyPr wrap="square" anchor="t" lIns="0" rIns="0" tIns="0" bIns="0">
            <a:spAutoFit/>
          </a:bodyPr>
          <a:lstStyle/>
          <a:p>
            <a:pPr algn="l">
              <a:lnSpc>
                <a:spcPct val="102000"/>
              </a:lnSpc>
              <a:spcAft>
                <a:spcPts val="0"/>
              </a:spcAft>
            </a:pPr>
            <a:r>
              <a:rPr sz="2600" b="1">
                <a:solidFill>
                  <a:srgbClr val="141413"/>
                </a:solidFill>
                <a:latin typeface="Helvetica Neue"/>
              </a:rPr>
              <a:t>One machine in the office, doing all the thinking.</a:t>
            </a:r>
          </a:p>
        </p:txBody>
      </p:sp>
      <p:sp>
        <p:nvSpPr>
          <p:cNvPr id="6" name="TextBox 5"/>
          <p:cNvSpPr txBox="1"/>
          <p:nvPr/>
        </p:nvSpPr>
        <p:spPr>
          <a:xfrm>
            <a:off x="761969" y="2834640"/>
            <a:ext cx="5467365" cy="2560320"/>
          </a:xfrm>
          <a:prstGeom prst="rect">
            <a:avLst/>
          </a:prstGeom>
          <a:noFill/>
        </p:spPr>
        <p:txBody>
          <a:bodyPr wrap="square" anchor="t" lIns="0" rIns="0" tIns="0" bIns="0">
            <a:spAutoFit/>
          </a:bodyPr>
          <a:lstStyle/>
          <a:p>
            <a:pPr algn="l">
              <a:lnSpc>
                <a:spcPct val="120000"/>
              </a:lnSpc>
              <a:spcAft>
                <a:spcPts val="0"/>
              </a:spcAft>
            </a:pPr>
            <a:r>
              <a:rPr sz="1250" b="0">
                <a:solidFill>
                  <a:srgbClr val="77736C"/>
                </a:solidFill>
                <a:latin typeface="Helvetica Neue"/>
              </a:rPr>
              <a:t>Everything already built stays exactly as it is. The only thing that changes is where the intelligence runs. Instead of sending each request out to an online service, Acon asks a model running on a Dell Pro Max with GB10 — a compact machine that sits in the office and is built for precisely this kind of work.</a:t>
            </a:r>
          </a:p>
        </p:txBody>
      </p:sp>
      <p:sp>
        <p:nvSpPr>
          <p:cNvPr id="7" name="Rectangle 6"/>
          <p:cNvSpPr/>
          <p:nvPr/>
        </p:nvSpPr>
        <p:spPr>
          <a:xfrm>
            <a:off x="7429488" y="1280160"/>
            <a:ext cx="4000511"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29488" y="1463040"/>
            <a:ext cx="4000511" cy="320040"/>
          </a:xfrm>
          <a:prstGeom prst="rect">
            <a:avLst/>
          </a:prstGeom>
          <a:noFill/>
        </p:spPr>
        <p:txBody>
          <a:bodyPr wrap="square" anchor="t" lIns="0" rIns="0" tIns="0" bIns="0">
            <a:spAutoFit/>
          </a:bodyPr>
          <a:lstStyle/>
          <a:p>
            <a:pPr algn="l">
              <a:lnSpc>
                <a:spcPct val="120000"/>
              </a:lnSpc>
              <a:spcAft>
                <a:spcPts val="0"/>
              </a:spcAft>
            </a:pPr>
            <a:r>
              <a:rPr sz="950" b="1">
                <a:solidFill>
                  <a:srgbClr val="141413"/>
                </a:solidFill>
                <a:latin typeface="Helvetica Neue"/>
              </a:rPr>
              <a:t>THE WHOLE CHANGE</a:t>
            </a:r>
          </a:p>
        </p:txBody>
      </p:sp>
      <p:sp>
        <p:nvSpPr>
          <p:cNvPr id="9" name="TextBox 8"/>
          <p:cNvSpPr txBox="1"/>
          <p:nvPr/>
        </p:nvSpPr>
        <p:spPr>
          <a:xfrm>
            <a:off x="7429488" y="1965960"/>
            <a:ext cx="4000511" cy="502920"/>
          </a:xfrm>
          <a:prstGeom prst="rect">
            <a:avLst/>
          </a:prstGeom>
          <a:noFill/>
        </p:spPr>
        <p:txBody>
          <a:bodyPr wrap="square" anchor="t" lIns="0" rIns="0" tIns="0" bIns="0">
            <a:spAutoFit/>
          </a:bodyPr>
          <a:lstStyle/>
          <a:p>
            <a:pPr algn="l">
              <a:lnSpc>
                <a:spcPct val="120000"/>
              </a:lnSpc>
              <a:spcAft>
                <a:spcPts val="0"/>
              </a:spcAft>
            </a:pPr>
            <a:r>
              <a:rPr sz="1150" b="0">
                <a:solidFill>
                  <a:srgbClr val="77736C"/>
                </a:solidFill>
                <a:latin typeface="Helvetica Neue"/>
              </a:rPr>
              <a:t>Same software.</a:t>
            </a:r>
          </a:p>
        </p:txBody>
      </p:sp>
      <p:sp>
        <p:nvSpPr>
          <p:cNvPr id="10" name="TextBox 9"/>
          <p:cNvSpPr txBox="1"/>
          <p:nvPr/>
        </p:nvSpPr>
        <p:spPr>
          <a:xfrm>
            <a:off x="7429488" y="2532888"/>
            <a:ext cx="4000511" cy="502920"/>
          </a:xfrm>
          <a:prstGeom prst="rect">
            <a:avLst/>
          </a:prstGeom>
          <a:noFill/>
        </p:spPr>
        <p:txBody>
          <a:bodyPr wrap="square" anchor="t" lIns="0" rIns="0" tIns="0" bIns="0">
            <a:spAutoFit/>
          </a:bodyPr>
          <a:lstStyle/>
          <a:p>
            <a:pPr algn="l">
              <a:lnSpc>
                <a:spcPct val="120000"/>
              </a:lnSpc>
              <a:spcAft>
                <a:spcPts val="0"/>
              </a:spcAft>
            </a:pPr>
            <a:r>
              <a:rPr sz="1150" b="0">
                <a:solidFill>
                  <a:srgbClr val="77736C"/>
                </a:solidFill>
                <a:latin typeface="Helvetica Neue"/>
              </a:rPr>
              <a:t>Different machine.</a:t>
            </a:r>
          </a:p>
        </p:txBody>
      </p:sp>
      <p:sp>
        <p:nvSpPr>
          <p:cNvPr id="11" name="TextBox 10"/>
          <p:cNvSpPr txBox="1"/>
          <p:nvPr/>
        </p:nvSpPr>
        <p:spPr>
          <a:xfrm>
            <a:off x="7429488" y="3099816"/>
            <a:ext cx="4000511" cy="502920"/>
          </a:xfrm>
          <a:prstGeom prst="rect">
            <a:avLst/>
          </a:prstGeom>
          <a:noFill/>
        </p:spPr>
        <p:txBody>
          <a:bodyPr wrap="square" anchor="t" lIns="0" rIns="0" tIns="0" bIns="0">
            <a:spAutoFit/>
          </a:bodyPr>
          <a:lstStyle/>
          <a:p>
            <a:pPr algn="l">
              <a:lnSpc>
                <a:spcPct val="120000"/>
              </a:lnSpc>
              <a:spcAft>
                <a:spcPts val="0"/>
              </a:spcAft>
            </a:pPr>
            <a:r>
              <a:rPr sz="1150" b="0">
                <a:solidFill>
                  <a:srgbClr val="77736C"/>
                </a:solidFill>
                <a:latin typeface="Helvetica Neue"/>
              </a:rPr>
              <a:t>Nothing leaves the building.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TextBox 1"/>
          <p:cNvSpPr txBox="1"/>
          <p:nvPr/>
        </p:nvSpPr>
        <p:spPr>
          <a:xfrm>
            <a:off x="761969" y="6291072"/>
            <a:ext cx="5334015" cy="274320"/>
          </a:xfrm>
          <a:prstGeom prst="rect">
            <a:avLst/>
          </a:prstGeom>
          <a:noFill/>
        </p:spPr>
        <p:txBody>
          <a:bodyPr wrap="square" anchor="t" lIns="0" rIns="0" tIns="0" bIns="0">
            <a:spAutoFit/>
          </a:bodyPr>
          <a:lstStyle/>
          <a:p>
            <a:pPr algn="l">
              <a:lnSpc>
                <a:spcPct val="120000"/>
              </a:lnSpc>
              <a:spcAft>
                <a:spcPts val="0"/>
              </a:spcAft>
            </a:pPr>
            <a:r>
              <a:rPr sz="850" b="0">
                <a:solidFill>
                  <a:srgbClr val="77736C"/>
                </a:solidFill>
                <a:latin typeface="Helvetica Neue"/>
              </a:rPr>
              <a:t>Acon x Dell Pro Max GB10</a:t>
            </a:r>
          </a:p>
        </p:txBody>
      </p:sp>
      <p:sp>
        <p:nvSpPr>
          <p:cNvPr id="3" name="TextBox 2"/>
          <p:cNvSpPr txBox="1"/>
          <p:nvPr/>
        </p:nvSpPr>
        <p:spPr>
          <a:xfrm>
            <a:off x="10096496" y="6291072"/>
            <a:ext cx="1333503" cy="274320"/>
          </a:xfrm>
          <a:prstGeom prst="rect">
            <a:avLst/>
          </a:prstGeom>
          <a:noFill/>
        </p:spPr>
        <p:txBody>
          <a:bodyPr wrap="square" anchor="t" lIns="0" rIns="0" tIns="0" bIns="0">
            <a:spAutoFit/>
          </a:bodyPr>
          <a:lstStyle/>
          <a:p>
            <a:pPr algn="r">
              <a:lnSpc>
                <a:spcPct val="120000"/>
              </a:lnSpc>
              <a:spcAft>
                <a:spcPts val="0"/>
              </a:spcAft>
            </a:pPr>
            <a:r>
              <a:rPr sz="850" b="0">
                <a:solidFill>
                  <a:srgbClr val="77736C"/>
                </a:solidFill>
                <a:latin typeface="Helvetica Neue"/>
              </a:rPr>
              <a:t>16</a:t>
            </a:r>
          </a:p>
        </p:txBody>
      </p:sp>
      <p:sp>
        <p:nvSpPr>
          <p:cNvPr id="4" name="TextBox 3"/>
          <p:cNvSpPr txBox="1"/>
          <p:nvPr/>
        </p:nvSpPr>
        <p:spPr>
          <a:xfrm>
            <a:off x="761969" y="761969"/>
            <a:ext cx="6667519" cy="274320"/>
          </a:xfrm>
          <a:prstGeom prst="rect">
            <a:avLst/>
          </a:prstGeom>
          <a:noFill/>
        </p:spPr>
        <p:txBody>
          <a:bodyPr wrap="square" anchor="t" lIns="0" rIns="0" tIns="0" bIns="0">
            <a:spAutoFit/>
          </a:bodyPr>
          <a:lstStyle/>
          <a:p>
            <a:pPr algn="l">
              <a:lnSpc>
                <a:spcPct val="120000"/>
              </a:lnSpc>
              <a:spcAft>
                <a:spcPts val="0"/>
              </a:spcAft>
            </a:pPr>
            <a:r>
              <a:rPr sz="950" b="1">
                <a:solidFill>
                  <a:srgbClr val="0F766E"/>
                </a:solidFill>
                <a:latin typeface="Helvetica Neue"/>
              </a:rPr>
              <a:t>04 — THE MACHINE</a:t>
            </a:r>
          </a:p>
        </p:txBody>
      </p:sp>
      <p:sp>
        <p:nvSpPr>
          <p:cNvPr id="5" name="TextBox 4"/>
          <p:cNvSpPr txBox="1"/>
          <p:nvPr/>
        </p:nvSpPr>
        <p:spPr>
          <a:xfrm>
            <a:off x="761969" y="1188720"/>
            <a:ext cx="7334270" cy="822960"/>
          </a:xfrm>
          <a:prstGeom prst="rect">
            <a:avLst/>
          </a:prstGeom>
          <a:noFill/>
        </p:spPr>
        <p:txBody>
          <a:bodyPr wrap="square" anchor="t" lIns="0" rIns="0" tIns="0" bIns="0">
            <a:spAutoFit/>
          </a:bodyPr>
          <a:lstStyle/>
          <a:p>
            <a:pPr algn="l">
              <a:lnSpc>
                <a:spcPct val="102000"/>
              </a:lnSpc>
              <a:spcAft>
                <a:spcPts val="0"/>
              </a:spcAft>
            </a:pPr>
            <a:r>
              <a:rPr sz="2600" b="1">
                <a:solidFill>
                  <a:srgbClr val="141413"/>
                </a:solidFill>
                <a:latin typeface="Helvetica Neue"/>
              </a:rPr>
              <a:t>A supercomputer that fits on a desk.</a:t>
            </a:r>
          </a:p>
        </p:txBody>
      </p:sp>
      <p:sp>
        <p:nvSpPr>
          <p:cNvPr id="6" name="Rectangle 5"/>
          <p:cNvSpPr/>
          <p:nvPr/>
        </p:nvSpPr>
        <p:spPr>
          <a:xfrm>
            <a:off x="761969" y="2468880"/>
            <a:ext cx="2190566" cy="201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1969" y="2697480"/>
            <a:ext cx="2117414" cy="457200"/>
          </a:xfrm>
          <a:prstGeom prst="rect">
            <a:avLst/>
          </a:prstGeom>
          <a:noFill/>
        </p:spPr>
        <p:txBody>
          <a:bodyPr wrap="square" anchor="t" lIns="0" rIns="0" tIns="0" bIns="0">
            <a:spAutoFit/>
          </a:bodyPr>
          <a:lstStyle/>
          <a:p>
            <a:pPr algn="l">
              <a:lnSpc>
                <a:spcPct val="120000"/>
              </a:lnSpc>
              <a:spcAft>
                <a:spcPts val="0"/>
              </a:spcAft>
            </a:pPr>
            <a:r>
              <a:rPr sz="1200" b="1">
                <a:solidFill>
                  <a:srgbClr val="141413"/>
                </a:solidFill>
                <a:latin typeface="Helvetica Neue"/>
              </a:rPr>
              <a:t>Purpose-built</a:t>
            </a:r>
          </a:p>
        </p:txBody>
      </p:sp>
      <p:sp>
        <p:nvSpPr>
          <p:cNvPr id="8" name="TextBox 7"/>
          <p:cNvSpPr txBox="1"/>
          <p:nvPr/>
        </p:nvSpPr>
        <p:spPr>
          <a:xfrm>
            <a:off x="761969" y="3291840"/>
            <a:ext cx="2071694" cy="2194560"/>
          </a:xfrm>
          <a:prstGeom prst="rect">
            <a:avLst/>
          </a:prstGeom>
          <a:noFill/>
        </p:spPr>
        <p:txBody>
          <a:bodyPr wrap="square" anchor="t" lIns="0" rIns="0" tIns="0" bIns="0">
            <a:spAutoFit/>
          </a:bodyPr>
          <a:lstStyle/>
          <a:p>
            <a:pPr algn="l">
              <a:lnSpc>
                <a:spcPct val="120000"/>
              </a:lnSpc>
              <a:spcAft>
                <a:spcPts val="0"/>
              </a:spcAft>
            </a:pPr>
            <a:r>
              <a:rPr sz="1100" b="0">
                <a:solidFill>
                  <a:srgbClr val="77736C"/>
                </a:solidFill>
                <a:latin typeface="Helvetica Neue"/>
              </a:rPr>
              <a:t>Designed by Dell and NVIDIA for running AI models on your own premises, rather than an ordinary workstation pressed into service.</a:t>
            </a:r>
          </a:p>
        </p:txBody>
      </p:sp>
      <p:sp>
        <p:nvSpPr>
          <p:cNvPr id="9" name="Rectangle 8"/>
          <p:cNvSpPr/>
          <p:nvPr/>
        </p:nvSpPr>
        <p:spPr>
          <a:xfrm>
            <a:off x="3222284" y="2468880"/>
            <a:ext cx="2190566" cy="201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22284" y="2697480"/>
            <a:ext cx="2117414" cy="457200"/>
          </a:xfrm>
          <a:prstGeom prst="rect">
            <a:avLst/>
          </a:prstGeom>
          <a:noFill/>
        </p:spPr>
        <p:txBody>
          <a:bodyPr wrap="square" anchor="t" lIns="0" rIns="0" tIns="0" bIns="0">
            <a:spAutoFit/>
          </a:bodyPr>
          <a:lstStyle/>
          <a:p>
            <a:pPr algn="l">
              <a:lnSpc>
                <a:spcPct val="120000"/>
              </a:lnSpc>
              <a:spcAft>
                <a:spcPts val="0"/>
              </a:spcAft>
            </a:pPr>
            <a:r>
              <a:rPr sz="1200" b="1">
                <a:solidFill>
                  <a:srgbClr val="141413"/>
                </a:solidFill>
                <a:latin typeface="Helvetica Neue"/>
              </a:rPr>
              <a:t>Room for large models</a:t>
            </a:r>
          </a:p>
        </p:txBody>
      </p:sp>
      <p:sp>
        <p:nvSpPr>
          <p:cNvPr id="11" name="TextBox 10"/>
          <p:cNvSpPr txBox="1"/>
          <p:nvPr/>
        </p:nvSpPr>
        <p:spPr>
          <a:xfrm>
            <a:off x="3222284" y="3291840"/>
            <a:ext cx="2071694" cy="2194560"/>
          </a:xfrm>
          <a:prstGeom prst="rect">
            <a:avLst/>
          </a:prstGeom>
          <a:noFill/>
        </p:spPr>
        <p:txBody>
          <a:bodyPr wrap="square" anchor="t" lIns="0" rIns="0" tIns="0" bIns="0">
            <a:spAutoFit/>
          </a:bodyPr>
          <a:lstStyle/>
          <a:p>
            <a:pPr algn="l">
              <a:lnSpc>
                <a:spcPct val="120000"/>
              </a:lnSpc>
              <a:spcAft>
                <a:spcPts val="0"/>
              </a:spcAft>
            </a:pPr>
            <a:r>
              <a:rPr sz="1100" b="0">
                <a:solidFill>
                  <a:srgbClr val="77736C"/>
                </a:solidFill>
                <a:latin typeface="Helvetica Neue"/>
              </a:rPr>
              <a:t>128 GB of memory, shared between processor and graphics. That is what lets a genuinely capable model sit on the machine at once.</a:t>
            </a:r>
          </a:p>
        </p:txBody>
      </p:sp>
      <p:sp>
        <p:nvSpPr>
          <p:cNvPr id="12" name="Rectangle 11"/>
          <p:cNvSpPr/>
          <p:nvPr/>
        </p:nvSpPr>
        <p:spPr>
          <a:xfrm>
            <a:off x="5682598" y="2468880"/>
            <a:ext cx="2190566" cy="201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82598" y="2697480"/>
            <a:ext cx="2117414" cy="457200"/>
          </a:xfrm>
          <a:prstGeom prst="rect">
            <a:avLst/>
          </a:prstGeom>
          <a:noFill/>
        </p:spPr>
        <p:txBody>
          <a:bodyPr wrap="square" anchor="t" lIns="0" rIns="0" tIns="0" bIns="0">
            <a:spAutoFit/>
          </a:bodyPr>
          <a:lstStyle/>
          <a:p>
            <a:pPr algn="l">
              <a:lnSpc>
                <a:spcPct val="120000"/>
              </a:lnSpc>
              <a:spcAft>
                <a:spcPts val="0"/>
              </a:spcAft>
            </a:pPr>
            <a:r>
              <a:rPr sz="1200" b="1">
                <a:solidFill>
                  <a:srgbClr val="141413"/>
                </a:solidFill>
                <a:latin typeface="Helvetica Neue"/>
              </a:rPr>
              <a:t>Serious speed</a:t>
            </a:r>
          </a:p>
        </p:txBody>
      </p:sp>
      <p:sp>
        <p:nvSpPr>
          <p:cNvPr id="14" name="TextBox 13"/>
          <p:cNvSpPr txBox="1"/>
          <p:nvPr/>
        </p:nvSpPr>
        <p:spPr>
          <a:xfrm>
            <a:off x="5682598" y="3291840"/>
            <a:ext cx="2071694" cy="2194560"/>
          </a:xfrm>
          <a:prstGeom prst="rect">
            <a:avLst/>
          </a:prstGeom>
          <a:noFill/>
        </p:spPr>
        <p:txBody>
          <a:bodyPr wrap="square" anchor="t" lIns="0" rIns="0" tIns="0" bIns="0">
            <a:spAutoFit/>
          </a:bodyPr>
          <a:lstStyle/>
          <a:p>
            <a:pPr algn="l">
              <a:lnSpc>
                <a:spcPct val="120000"/>
              </a:lnSpc>
              <a:spcAft>
                <a:spcPts val="0"/>
              </a:spcAft>
            </a:pPr>
            <a:r>
              <a:rPr sz="1100" b="0">
                <a:solidFill>
                  <a:srgbClr val="77736C"/>
                </a:solidFill>
                <a:latin typeface="Helvetica Neue"/>
              </a:rPr>
              <a:t>Up to a thousand trillion calculations a second, so a request comes back while someone waits, not minutes later.</a:t>
            </a:r>
          </a:p>
        </p:txBody>
      </p:sp>
      <p:sp>
        <p:nvSpPr>
          <p:cNvPr id="15" name="Rectangle 14"/>
          <p:cNvSpPr/>
          <p:nvPr/>
        </p:nvSpPr>
        <p:spPr>
          <a:xfrm>
            <a:off x="8142913" y="2468880"/>
            <a:ext cx="2190566" cy="201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42913" y="2697480"/>
            <a:ext cx="2117414" cy="457200"/>
          </a:xfrm>
          <a:prstGeom prst="rect">
            <a:avLst/>
          </a:prstGeom>
          <a:noFill/>
        </p:spPr>
        <p:txBody>
          <a:bodyPr wrap="square" anchor="t" lIns="0" rIns="0" tIns="0" bIns="0">
            <a:spAutoFit/>
          </a:bodyPr>
          <a:lstStyle/>
          <a:p>
            <a:pPr algn="l">
              <a:lnSpc>
                <a:spcPct val="120000"/>
              </a:lnSpc>
              <a:spcAft>
                <a:spcPts val="0"/>
              </a:spcAft>
            </a:pPr>
            <a:r>
              <a:rPr sz="1200" b="1">
                <a:solidFill>
                  <a:srgbClr val="141413"/>
                </a:solidFill>
                <a:latin typeface="Helvetica Neue"/>
              </a:rPr>
              <a:t>Room to grow</a:t>
            </a:r>
          </a:p>
        </p:txBody>
      </p:sp>
      <p:sp>
        <p:nvSpPr>
          <p:cNvPr id="17" name="TextBox 16"/>
          <p:cNvSpPr txBox="1"/>
          <p:nvPr/>
        </p:nvSpPr>
        <p:spPr>
          <a:xfrm>
            <a:off x="8142913" y="3291840"/>
            <a:ext cx="2071694" cy="2194560"/>
          </a:xfrm>
          <a:prstGeom prst="rect">
            <a:avLst/>
          </a:prstGeom>
          <a:noFill/>
        </p:spPr>
        <p:txBody>
          <a:bodyPr wrap="square" anchor="t" lIns="0" rIns="0" tIns="0" bIns="0">
            <a:spAutoFit/>
          </a:bodyPr>
          <a:lstStyle/>
          <a:p>
            <a:pPr algn="l">
              <a:lnSpc>
                <a:spcPct val="120000"/>
              </a:lnSpc>
              <a:spcAft>
                <a:spcPts val="0"/>
              </a:spcAft>
            </a:pPr>
            <a:r>
              <a:rPr sz="1100" b="0">
                <a:solidFill>
                  <a:srgbClr val="77736C"/>
                </a:solidFill>
                <a:latin typeface="Helvetica Neue"/>
              </a:rPr>
              <a:t>Handles models far larger than we need today. Two machines side by side handle twice as much again.</a:t>
            </a:r>
          </a:p>
        </p:txBody>
      </p:sp>
      <p:sp>
        <p:nvSpPr>
          <p:cNvPr id="18" name="TextBox 17"/>
          <p:cNvSpPr txBox="1"/>
          <p:nvPr/>
        </p:nvSpPr>
        <p:spPr>
          <a:xfrm>
            <a:off x="761969" y="5760720"/>
            <a:ext cx="9067825" cy="457200"/>
          </a:xfrm>
          <a:prstGeom prst="rect">
            <a:avLst/>
          </a:prstGeom>
          <a:noFill/>
        </p:spPr>
        <p:txBody>
          <a:bodyPr wrap="square" anchor="t" lIns="0" rIns="0" tIns="0" bIns="0">
            <a:spAutoFit/>
          </a:bodyPr>
          <a:lstStyle/>
          <a:p>
            <a:pPr algn="l">
              <a:lnSpc>
                <a:spcPct val="120000"/>
              </a:lnSpc>
              <a:spcAft>
                <a:spcPts val="0"/>
              </a:spcAft>
            </a:pPr>
            <a:r>
              <a:rPr sz="1000" b="0">
                <a:solidFill>
                  <a:srgbClr val="77736C"/>
                </a:solidFill>
                <a:latin typeface="Helvetica Neue"/>
              </a:rPr>
              <a:t>It sits under a desk, runs on ordinary office power, and the same setup moves to larger hardware later if it is ever needed.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TextBox 1"/>
          <p:cNvSpPr txBox="1"/>
          <p:nvPr/>
        </p:nvSpPr>
        <p:spPr>
          <a:xfrm>
            <a:off x="761969" y="6291072"/>
            <a:ext cx="5334015" cy="274320"/>
          </a:xfrm>
          <a:prstGeom prst="rect">
            <a:avLst/>
          </a:prstGeom>
          <a:noFill/>
        </p:spPr>
        <p:txBody>
          <a:bodyPr wrap="square" anchor="t" lIns="0" rIns="0" tIns="0" bIns="0">
            <a:spAutoFit/>
          </a:bodyPr>
          <a:lstStyle/>
          <a:p>
            <a:pPr algn="l">
              <a:lnSpc>
                <a:spcPct val="120000"/>
              </a:lnSpc>
              <a:spcAft>
                <a:spcPts val="0"/>
              </a:spcAft>
            </a:pPr>
            <a:r>
              <a:rPr sz="850" b="0">
                <a:solidFill>
                  <a:srgbClr val="77736C"/>
                </a:solidFill>
                <a:latin typeface="Helvetica Neue"/>
              </a:rPr>
              <a:t>Acon x Dell Pro Max GB10</a:t>
            </a:r>
          </a:p>
        </p:txBody>
      </p:sp>
      <p:sp>
        <p:nvSpPr>
          <p:cNvPr id="3" name="TextBox 2"/>
          <p:cNvSpPr txBox="1"/>
          <p:nvPr/>
        </p:nvSpPr>
        <p:spPr>
          <a:xfrm>
            <a:off x="10096496" y="6291072"/>
            <a:ext cx="1333503" cy="274320"/>
          </a:xfrm>
          <a:prstGeom prst="rect">
            <a:avLst/>
          </a:prstGeom>
          <a:noFill/>
        </p:spPr>
        <p:txBody>
          <a:bodyPr wrap="square" anchor="t" lIns="0" rIns="0" tIns="0" bIns="0">
            <a:spAutoFit/>
          </a:bodyPr>
          <a:lstStyle/>
          <a:p>
            <a:pPr algn="r">
              <a:lnSpc>
                <a:spcPct val="120000"/>
              </a:lnSpc>
              <a:spcAft>
                <a:spcPts val="0"/>
              </a:spcAft>
            </a:pPr>
            <a:r>
              <a:rPr sz="850" b="0">
                <a:solidFill>
                  <a:srgbClr val="77736C"/>
                </a:solidFill>
                <a:latin typeface="Helvetica Neue"/>
              </a:rPr>
              <a:t>17</a:t>
            </a:r>
          </a:p>
        </p:txBody>
      </p:sp>
      <p:sp>
        <p:nvSpPr>
          <p:cNvPr id="4" name="TextBox 3"/>
          <p:cNvSpPr txBox="1"/>
          <p:nvPr/>
        </p:nvSpPr>
        <p:spPr>
          <a:xfrm>
            <a:off x="761969" y="761969"/>
            <a:ext cx="6667519" cy="274320"/>
          </a:xfrm>
          <a:prstGeom prst="rect">
            <a:avLst/>
          </a:prstGeom>
          <a:noFill/>
        </p:spPr>
        <p:txBody>
          <a:bodyPr wrap="square" anchor="t" lIns="0" rIns="0" tIns="0" bIns="0">
            <a:spAutoFit/>
          </a:bodyPr>
          <a:lstStyle/>
          <a:p>
            <a:pPr algn="l">
              <a:lnSpc>
                <a:spcPct val="120000"/>
              </a:lnSpc>
              <a:spcAft>
                <a:spcPts val="0"/>
              </a:spcAft>
            </a:pPr>
            <a:r>
              <a:rPr sz="950" b="1">
                <a:solidFill>
                  <a:srgbClr val="0F766E"/>
                </a:solidFill>
                <a:latin typeface="Helvetica Neue"/>
              </a:rPr>
              <a:t>05 — THE MODELS</a:t>
            </a:r>
          </a:p>
        </p:txBody>
      </p:sp>
      <p:sp>
        <p:nvSpPr>
          <p:cNvPr id="5" name="TextBox 4"/>
          <p:cNvSpPr txBox="1"/>
          <p:nvPr/>
        </p:nvSpPr>
        <p:spPr>
          <a:xfrm>
            <a:off x="761969" y="1188720"/>
            <a:ext cx="7334270" cy="822960"/>
          </a:xfrm>
          <a:prstGeom prst="rect">
            <a:avLst/>
          </a:prstGeom>
          <a:noFill/>
        </p:spPr>
        <p:txBody>
          <a:bodyPr wrap="square" anchor="t" lIns="0" rIns="0" tIns="0" bIns="0">
            <a:spAutoFit/>
          </a:bodyPr>
          <a:lstStyle/>
          <a:p>
            <a:pPr algn="l">
              <a:lnSpc>
                <a:spcPct val="102000"/>
              </a:lnSpc>
              <a:spcAft>
                <a:spcPts val="0"/>
              </a:spcAft>
            </a:pPr>
            <a:r>
              <a:rPr sz="2600" b="1">
                <a:solidFill>
                  <a:srgbClr val="141413"/>
                </a:solidFill>
                <a:latin typeface="Helvetica Neue"/>
              </a:rPr>
              <a:t>The model has to be able to read a drawing.</a:t>
            </a:r>
          </a:p>
        </p:txBody>
      </p:sp>
      <p:sp>
        <p:nvSpPr>
          <p:cNvPr id="6" name="Rectangle 5"/>
          <p:cNvSpPr/>
          <p:nvPr/>
        </p:nvSpPr>
        <p:spPr>
          <a:xfrm>
            <a:off x="761969" y="2468880"/>
            <a:ext cx="2957330" cy="201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1969" y="2697480"/>
            <a:ext cx="2884178" cy="457200"/>
          </a:xfrm>
          <a:prstGeom prst="rect">
            <a:avLst/>
          </a:prstGeom>
          <a:noFill/>
        </p:spPr>
        <p:txBody>
          <a:bodyPr wrap="square" anchor="t" lIns="0" rIns="0" tIns="0" bIns="0">
            <a:spAutoFit/>
          </a:bodyPr>
          <a:lstStyle/>
          <a:p>
            <a:pPr algn="l">
              <a:lnSpc>
                <a:spcPct val="120000"/>
              </a:lnSpc>
              <a:spcAft>
                <a:spcPts val="0"/>
              </a:spcAft>
            </a:pPr>
            <a:r>
              <a:rPr sz="1200" b="1">
                <a:solidFill>
                  <a:srgbClr val="141413"/>
                </a:solidFill>
                <a:latin typeface="Helvetica Neue"/>
              </a:rPr>
              <a:t>It reads the sheets</a:t>
            </a:r>
          </a:p>
        </p:txBody>
      </p:sp>
      <p:sp>
        <p:nvSpPr>
          <p:cNvPr id="8" name="TextBox 7"/>
          <p:cNvSpPr txBox="1"/>
          <p:nvPr/>
        </p:nvSpPr>
        <p:spPr>
          <a:xfrm>
            <a:off x="761969" y="3291840"/>
            <a:ext cx="2838458" cy="2194560"/>
          </a:xfrm>
          <a:prstGeom prst="rect">
            <a:avLst/>
          </a:prstGeom>
          <a:noFill/>
        </p:spPr>
        <p:txBody>
          <a:bodyPr wrap="square" anchor="t" lIns="0" rIns="0" tIns="0" bIns="0">
            <a:spAutoFit/>
          </a:bodyPr>
          <a:lstStyle/>
          <a:p>
            <a:pPr algn="l">
              <a:lnSpc>
                <a:spcPct val="120000"/>
              </a:lnSpc>
              <a:spcAft>
                <a:spcPts val="0"/>
              </a:spcAft>
            </a:pPr>
            <a:r>
              <a:rPr sz="1100" b="0">
                <a:solidFill>
                  <a:srgbClr val="77736C"/>
                </a:solidFill>
                <a:latin typeface="Helvetica Neue"/>
              </a:rPr>
              <a:t>Qwen-VL is a model that sees as well as reads. It looks at a drawing the way a person does — finding the dimensions, the room names, the levels, and where each of them sits on the page.</a:t>
            </a:r>
          </a:p>
        </p:txBody>
      </p:sp>
      <p:sp>
        <p:nvSpPr>
          <p:cNvPr id="9" name="Rectangle 8"/>
          <p:cNvSpPr/>
          <p:nvPr/>
        </p:nvSpPr>
        <p:spPr>
          <a:xfrm>
            <a:off x="3989048" y="2468880"/>
            <a:ext cx="2957330" cy="201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89048" y="2697480"/>
            <a:ext cx="2884178" cy="457200"/>
          </a:xfrm>
          <a:prstGeom prst="rect">
            <a:avLst/>
          </a:prstGeom>
          <a:noFill/>
        </p:spPr>
        <p:txBody>
          <a:bodyPr wrap="square" anchor="t" lIns="0" rIns="0" tIns="0" bIns="0">
            <a:spAutoFit/>
          </a:bodyPr>
          <a:lstStyle/>
          <a:p>
            <a:pPr algn="l">
              <a:lnSpc>
                <a:spcPct val="120000"/>
              </a:lnSpc>
              <a:spcAft>
                <a:spcPts val="0"/>
              </a:spcAft>
            </a:pPr>
            <a:r>
              <a:rPr sz="1200" b="1">
                <a:solidFill>
                  <a:srgbClr val="141413"/>
                </a:solidFill>
                <a:latin typeface="Helvetica Neue"/>
              </a:rPr>
              <a:t>It plans the building</a:t>
            </a:r>
          </a:p>
        </p:txBody>
      </p:sp>
      <p:sp>
        <p:nvSpPr>
          <p:cNvPr id="11" name="TextBox 10"/>
          <p:cNvSpPr txBox="1"/>
          <p:nvPr/>
        </p:nvSpPr>
        <p:spPr>
          <a:xfrm>
            <a:off x="3989048" y="3291840"/>
            <a:ext cx="2838458" cy="2194560"/>
          </a:xfrm>
          <a:prstGeom prst="rect">
            <a:avLst/>
          </a:prstGeom>
          <a:noFill/>
        </p:spPr>
        <p:txBody>
          <a:bodyPr wrap="square" anchor="t" lIns="0" rIns="0" tIns="0" bIns="0">
            <a:spAutoFit/>
          </a:bodyPr>
          <a:lstStyle/>
          <a:p>
            <a:pPr algn="l">
              <a:lnSpc>
                <a:spcPct val="120000"/>
              </a:lnSpc>
              <a:spcAft>
                <a:spcPts val="0"/>
              </a:spcAft>
            </a:pPr>
            <a:r>
              <a:rPr sz="1100" b="0">
                <a:solidFill>
                  <a:srgbClr val="77736C"/>
                </a:solidFill>
                <a:latin typeface="Helvetica Neue"/>
              </a:rPr>
              <a:t>The same model then decides what the building is, and hands those decisions to the software to construct. One model covers both jobs, so there is less to look after.</a:t>
            </a:r>
          </a:p>
        </p:txBody>
      </p:sp>
      <p:sp>
        <p:nvSpPr>
          <p:cNvPr id="12" name="Rectangle 11"/>
          <p:cNvSpPr/>
          <p:nvPr/>
        </p:nvSpPr>
        <p:spPr>
          <a:xfrm>
            <a:off x="7216127" y="2468880"/>
            <a:ext cx="2957330" cy="201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16127" y="2697480"/>
            <a:ext cx="2884178" cy="457200"/>
          </a:xfrm>
          <a:prstGeom prst="rect">
            <a:avLst/>
          </a:prstGeom>
          <a:noFill/>
        </p:spPr>
        <p:txBody>
          <a:bodyPr wrap="square" anchor="t" lIns="0" rIns="0" tIns="0" bIns="0">
            <a:spAutoFit/>
          </a:bodyPr>
          <a:lstStyle/>
          <a:p>
            <a:pPr algn="l">
              <a:lnSpc>
                <a:spcPct val="120000"/>
              </a:lnSpc>
              <a:spcAft>
                <a:spcPts val="0"/>
              </a:spcAft>
            </a:pPr>
            <a:r>
              <a:rPr sz="1200" b="1">
                <a:solidFill>
                  <a:srgbClr val="141413"/>
                </a:solidFill>
                <a:latin typeface="Helvetica Neue"/>
              </a:rPr>
              <a:t>Sized to the machine</a:t>
            </a:r>
          </a:p>
        </p:txBody>
      </p:sp>
      <p:sp>
        <p:nvSpPr>
          <p:cNvPr id="14" name="TextBox 13"/>
          <p:cNvSpPr txBox="1"/>
          <p:nvPr/>
        </p:nvSpPr>
        <p:spPr>
          <a:xfrm>
            <a:off x="7216127" y="3291840"/>
            <a:ext cx="2838458" cy="2194560"/>
          </a:xfrm>
          <a:prstGeom prst="rect">
            <a:avLst/>
          </a:prstGeom>
          <a:noFill/>
        </p:spPr>
        <p:txBody>
          <a:bodyPr wrap="square" anchor="t" lIns="0" rIns="0" tIns="0" bIns="0">
            <a:spAutoFit/>
          </a:bodyPr>
          <a:lstStyle/>
          <a:p>
            <a:pPr algn="l">
              <a:lnSpc>
                <a:spcPct val="120000"/>
              </a:lnSpc>
              <a:spcAft>
                <a:spcPts val="0"/>
              </a:spcAft>
            </a:pPr>
            <a:r>
              <a:rPr sz="1100" b="0">
                <a:solidFill>
                  <a:srgbClr val="77736C"/>
                </a:solidFill>
                <a:latin typeface="Helvetica Neue"/>
              </a:rPr>
              <a:t>These models are openly available and free to run, in sizes made for hardware like this. We start with a smaller one to prove it works and move up only if accuracy asks for it.</a:t>
            </a:r>
          </a:p>
        </p:txBody>
      </p:sp>
      <p:sp>
        <p:nvSpPr>
          <p:cNvPr id="15" name="TextBox 14"/>
          <p:cNvSpPr txBox="1"/>
          <p:nvPr/>
        </p:nvSpPr>
        <p:spPr>
          <a:xfrm>
            <a:off x="761969" y="5760720"/>
            <a:ext cx="9067825" cy="457200"/>
          </a:xfrm>
          <a:prstGeom prst="rect">
            <a:avLst/>
          </a:prstGeom>
          <a:noFill/>
        </p:spPr>
        <p:txBody>
          <a:bodyPr wrap="square" anchor="t" lIns="0" rIns="0" tIns="0" bIns="0">
            <a:spAutoFit/>
          </a:bodyPr>
          <a:lstStyle/>
          <a:p>
            <a:pPr algn="l">
              <a:lnSpc>
                <a:spcPct val="120000"/>
              </a:lnSpc>
              <a:spcAft>
                <a:spcPts val="0"/>
              </a:spcAft>
            </a:pPr>
            <a:r>
              <a:rPr sz="1000" b="0">
                <a:solidFill>
                  <a:srgbClr val="77736C"/>
                </a:solidFill>
                <a:latin typeface="Helvetica Neue"/>
              </a:rPr>
              <a:t>Everything runs on the machine in the office. The outside service in use today is switched off.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TextBox 1"/>
          <p:cNvSpPr txBox="1"/>
          <p:nvPr/>
        </p:nvSpPr>
        <p:spPr>
          <a:xfrm>
            <a:off x="761969" y="6291072"/>
            <a:ext cx="5334015" cy="274320"/>
          </a:xfrm>
          <a:prstGeom prst="rect">
            <a:avLst/>
          </a:prstGeom>
          <a:noFill/>
        </p:spPr>
        <p:txBody>
          <a:bodyPr wrap="square" anchor="t" lIns="0" rIns="0" tIns="0" bIns="0">
            <a:spAutoFit/>
          </a:bodyPr>
          <a:lstStyle/>
          <a:p>
            <a:pPr algn="l">
              <a:lnSpc>
                <a:spcPct val="120000"/>
              </a:lnSpc>
              <a:spcAft>
                <a:spcPts val="0"/>
              </a:spcAft>
            </a:pPr>
            <a:r>
              <a:rPr sz="850" b="0">
                <a:solidFill>
                  <a:srgbClr val="77736C"/>
                </a:solidFill>
                <a:latin typeface="Helvetica Neue"/>
              </a:rPr>
              <a:t>Acon x Dell Pro Max GB10</a:t>
            </a:r>
          </a:p>
        </p:txBody>
      </p:sp>
      <p:sp>
        <p:nvSpPr>
          <p:cNvPr id="3" name="TextBox 2"/>
          <p:cNvSpPr txBox="1"/>
          <p:nvPr/>
        </p:nvSpPr>
        <p:spPr>
          <a:xfrm>
            <a:off x="10096496" y="6291072"/>
            <a:ext cx="1333503" cy="274320"/>
          </a:xfrm>
          <a:prstGeom prst="rect">
            <a:avLst/>
          </a:prstGeom>
          <a:noFill/>
        </p:spPr>
        <p:txBody>
          <a:bodyPr wrap="square" anchor="t" lIns="0" rIns="0" tIns="0" bIns="0">
            <a:spAutoFit/>
          </a:bodyPr>
          <a:lstStyle/>
          <a:p>
            <a:pPr algn="r">
              <a:lnSpc>
                <a:spcPct val="120000"/>
              </a:lnSpc>
              <a:spcAft>
                <a:spcPts val="0"/>
              </a:spcAft>
            </a:pPr>
            <a:r>
              <a:rPr sz="850" b="0">
                <a:solidFill>
                  <a:srgbClr val="77736C"/>
                </a:solidFill>
                <a:latin typeface="Helvetica Neue"/>
              </a:rPr>
              <a:t>18</a:t>
            </a:r>
          </a:p>
        </p:txBody>
      </p:sp>
      <p:sp>
        <p:nvSpPr>
          <p:cNvPr id="4" name="TextBox 3"/>
          <p:cNvSpPr txBox="1"/>
          <p:nvPr/>
        </p:nvSpPr>
        <p:spPr>
          <a:xfrm>
            <a:off x="761969" y="761969"/>
            <a:ext cx="6667519" cy="274320"/>
          </a:xfrm>
          <a:prstGeom prst="rect">
            <a:avLst/>
          </a:prstGeom>
          <a:noFill/>
        </p:spPr>
        <p:txBody>
          <a:bodyPr wrap="square" anchor="t" lIns="0" rIns="0" tIns="0" bIns="0">
            <a:spAutoFit/>
          </a:bodyPr>
          <a:lstStyle/>
          <a:p>
            <a:pPr algn="l">
              <a:lnSpc>
                <a:spcPct val="120000"/>
              </a:lnSpc>
              <a:spcAft>
                <a:spcPts val="0"/>
              </a:spcAft>
            </a:pPr>
            <a:r>
              <a:rPr sz="950" b="1">
                <a:solidFill>
                  <a:srgbClr val="0F766E"/>
                </a:solidFill>
                <a:latin typeface="Helvetica Neue"/>
              </a:rPr>
              <a:t>05 — HOW IT WORKS</a:t>
            </a:r>
          </a:p>
        </p:txBody>
      </p:sp>
      <p:sp>
        <p:nvSpPr>
          <p:cNvPr id="5" name="TextBox 4"/>
          <p:cNvSpPr txBox="1"/>
          <p:nvPr/>
        </p:nvSpPr>
        <p:spPr>
          <a:xfrm>
            <a:off x="761969" y="1188720"/>
            <a:ext cx="6667519" cy="731520"/>
          </a:xfrm>
          <a:prstGeom prst="rect">
            <a:avLst/>
          </a:prstGeom>
          <a:noFill/>
        </p:spPr>
        <p:txBody>
          <a:bodyPr wrap="square" anchor="t" lIns="0" rIns="0" tIns="0" bIns="0">
            <a:spAutoFit/>
          </a:bodyPr>
          <a:lstStyle/>
          <a:p>
            <a:pPr algn="l">
              <a:lnSpc>
                <a:spcPct val="102000"/>
              </a:lnSpc>
              <a:spcAft>
                <a:spcPts val="0"/>
              </a:spcAft>
            </a:pPr>
            <a:r>
              <a:rPr sz="2600" b="1">
                <a:solidFill>
                  <a:srgbClr val="141413"/>
                </a:solidFill>
                <a:latin typeface="Helvetica Neue"/>
              </a:rPr>
              <a:t>From documents to a building, in five steps.</a:t>
            </a:r>
          </a:p>
        </p:txBody>
      </p:sp>
      <p:sp>
        <p:nvSpPr>
          <p:cNvPr id="6" name="TextBox 5"/>
          <p:cNvSpPr txBox="1"/>
          <p:nvPr/>
        </p:nvSpPr>
        <p:spPr>
          <a:xfrm>
            <a:off x="761969" y="2377440"/>
            <a:ext cx="1703075" cy="365760"/>
          </a:xfrm>
          <a:prstGeom prst="rect">
            <a:avLst/>
          </a:prstGeom>
          <a:noFill/>
        </p:spPr>
        <p:txBody>
          <a:bodyPr wrap="square" anchor="t" lIns="0" rIns="0" tIns="0" bIns="0">
            <a:spAutoFit/>
          </a:bodyPr>
          <a:lstStyle/>
          <a:p>
            <a:pPr algn="l">
              <a:lnSpc>
                <a:spcPct val="102000"/>
              </a:lnSpc>
              <a:spcAft>
                <a:spcPts val="0"/>
              </a:spcAft>
            </a:pPr>
            <a:r>
              <a:rPr sz="2000" b="1">
                <a:solidFill>
                  <a:srgbClr val="0F766E"/>
                </a:solidFill>
                <a:latin typeface="Helvetica Neue"/>
              </a:rPr>
              <a:t>01</a:t>
            </a:r>
          </a:p>
        </p:txBody>
      </p:sp>
      <p:sp>
        <p:nvSpPr>
          <p:cNvPr id="7" name="Rectangle 6"/>
          <p:cNvSpPr/>
          <p:nvPr/>
        </p:nvSpPr>
        <p:spPr>
          <a:xfrm>
            <a:off x="761969" y="2880360"/>
            <a:ext cx="1703075"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1969" y="3063240"/>
            <a:ext cx="1657355" cy="365760"/>
          </a:xfrm>
          <a:prstGeom prst="rect">
            <a:avLst/>
          </a:prstGeom>
          <a:noFill/>
        </p:spPr>
        <p:txBody>
          <a:bodyPr wrap="square" anchor="t" lIns="0" rIns="0" tIns="0" bIns="0">
            <a:spAutoFit/>
          </a:bodyPr>
          <a:lstStyle/>
          <a:p>
            <a:pPr algn="l">
              <a:lnSpc>
                <a:spcPct val="120000"/>
              </a:lnSpc>
              <a:spcAft>
                <a:spcPts val="0"/>
              </a:spcAft>
            </a:pPr>
            <a:r>
              <a:rPr sz="1150" b="1">
                <a:solidFill>
                  <a:srgbClr val="141413"/>
                </a:solidFill>
                <a:latin typeface="Helvetica Neue"/>
              </a:rPr>
              <a:t>Hand it over</a:t>
            </a:r>
          </a:p>
        </p:txBody>
      </p:sp>
      <p:sp>
        <p:nvSpPr>
          <p:cNvPr id="9" name="TextBox 8"/>
          <p:cNvSpPr txBox="1"/>
          <p:nvPr/>
        </p:nvSpPr>
        <p:spPr>
          <a:xfrm>
            <a:off x="761969" y="3566160"/>
            <a:ext cx="1611635" cy="2011680"/>
          </a:xfrm>
          <a:prstGeom prst="rect">
            <a:avLst/>
          </a:prstGeom>
          <a:noFill/>
        </p:spPr>
        <p:txBody>
          <a:bodyPr wrap="square" anchor="t" lIns="0" rIns="0" tIns="0" bIns="0">
            <a:spAutoFit/>
          </a:bodyPr>
          <a:lstStyle/>
          <a:p>
            <a:pPr algn="l">
              <a:lnSpc>
                <a:spcPct val="120000"/>
              </a:lnSpc>
              <a:spcAft>
                <a:spcPts val="0"/>
              </a:spcAft>
            </a:pPr>
            <a:r>
              <a:rPr sz="1050" b="0">
                <a:solidFill>
                  <a:srgbClr val="77736C"/>
                </a:solidFill>
                <a:latin typeface="Helvetica Neue"/>
              </a:rPr>
              <a:t>Drawings, a scan, or a photograph of a marked-up sheet.</a:t>
            </a:r>
          </a:p>
        </p:txBody>
      </p:sp>
      <p:sp>
        <p:nvSpPr>
          <p:cNvPr id="10" name="TextBox 9"/>
          <p:cNvSpPr txBox="1"/>
          <p:nvPr/>
        </p:nvSpPr>
        <p:spPr>
          <a:xfrm>
            <a:off x="2735555" y="2377440"/>
            <a:ext cx="1703075" cy="365760"/>
          </a:xfrm>
          <a:prstGeom prst="rect">
            <a:avLst/>
          </a:prstGeom>
          <a:noFill/>
        </p:spPr>
        <p:txBody>
          <a:bodyPr wrap="square" anchor="t" lIns="0" rIns="0" tIns="0" bIns="0">
            <a:spAutoFit/>
          </a:bodyPr>
          <a:lstStyle/>
          <a:p>
            <a:pPr algn="l">
              <a:lnSpc>
                <a:spcPct val="102000"/>
              </a:lnSpc>
              <a:spcAft>
                <a:spcPts val="0"/>
              </a:spcAft>
            </a:pPr>
            <a:r>
              <a:rPr sz="2000" b="1">
                <a:solidFill>
                  <a:srgbClr val="0F766E"/>
                </a:solidFill>
                <a:latin typeface="Helvetica Neue"/>
              </a:rPr>
              <a:t>02</a:t>
            </a:r>
          </a:p>
        </p:txBody>
      </p:sp>
      <p:sp>
        <p:nvSpPr>
          <p:cNvPr id="11" name="Rectangle 10"/>
          <p:cNvSpPr/>
          <p:nvPr/>
        </p:nvSpPr>
        <p:spPr>
          <a:xfrm>
            <a:off x="2735555" y="2880360"/>
            <a:ext cx="1703075"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35555" y="3063240"/>
            <a:ext cx="1657355" cy="365760"/>
          </a:xfrm>
          <a:prstGeom prst="rect">
            <a:avLst/>
          </a:prstGeom>
          <a:noFill/>
        </p:spPr>
        <p:txBody>
          <a:bodyPr wrap="square" anchor="t" lIns="0" rIns="0" tIns="0" bIns="0">
            <a:spAutoFit/>
          </a:bodyPr>
          <a:lstStyle/>
          <a:p>
            <a:pPr algn="l">
              <a:lnSpc>
                <a:spcPct val="120000"/>
              </a:lnSpc>
              <a:spcAft>
                <a:spcPts val="0"/>
              </a:spcAft>
            </a:pPr>
            <a:r>
              <a:rPr sz="1150" b="1">
                <a:solidFill>
                  <a:srgbClr val="141413"/>
                </a:solidFill>
                <a:latin typeface="Helvetica Neue"/>
              </a:rPr>
              <a:t>Read</a:t>
            </a:r>
          </a:p>
        </p:txBody>
      </p:sp>
      <p:sp>
        <p:nvSpPr>
          <p:cNvPr id="13" name="TextBox 12"/>
          <p:cNvSpPr txBox="1"/>
          <p:nvPr/>
        </p:nvSpPr>
        <p:spPr>
          <a:xfrm>
            <a:off x="2735555" y="3566160"/>
            <a:ext cx="1611635" cy="2011680"/>
          </a:xfrm>
          <a:prstGeom prst="rect">
            <a:avLst/>
          </a:prstGeom>
          <a:noFill/>
        </p:spPr>
        <p:txBody>
          <a:bodyPr wrap="square" anchor="t" lIns="0" rIns="0" tIns="0" bIns="0">
            <a:spAutoFit/>
          </a:bodyPr>
          <a:lstStyle/>
          <a:p>
            <a:pPr algn="l">
              <a:lnSpc>
                <a:spcPct val="120000"/>
              </a:lnSpc>
              <a:spcAft>
                <a:spcPts val="0"/>
              </a:spcAft>
            </a:pPr>
            <a:r>
              <a:rPr sz="1050" b="0">
                <a:solidFill>
                  <a:srgbClr val="77736C"/>
                </a:solidFill>
                <a:latin typeface="Helvetica Neue"/>
              </a:rPr>
              <a:t>The model on the office machine reads the sheet: sizes, levels, room names.</a:t>
            </a:r>
          </a:p>
        </p:txBody>
      </p:sp>
      <p:sp>
        <p:nvSpPr>
          <p:cNvPr id="14" name="TextBox 13"/>
          <p:cNvSpPr txBox="1"/>
          <p:nvPr/>
        </p:nvSpPr>
        <p:spPr>
          <a:xfrm>
            <a:off x="4709140" y="2377440"/>
            <a:ext cx="1703075" cy="365760"/>
          </a:xfrm>
          <a:prstGeom prst="rect">
            <a:avLst/>
          </a:prstGeom>
          <a:noFill/>
        </p:spPr>
        <p:txBody>
          <a:bodyPr wrap="square" anchor="t" lIns="0" rIns="0" tIns="0" bIns="0">
            <a:spAutoFit/>
          </a:bodyPr>
          <a:lstStyle/>
          <a:p>
            <a:pPr algn="l">
              <a:lnSpc>
                <a:spcPct val="102000"/>
              </a:lnSpc>
              <a:spcAft>
                <a:spcPts val="0"/>
              </a:spcAft>
            </a:pPr>
            <a:r>
              <a:rPr sz="2000" b="1">
                <a:solidFill>
                  <a:srgbClr val="0F766E"/>
                </a:solidFill>
                <a:latin typeface="Helvetica Neue"/>
              </a:rPr>
              <a:t>03</a:t>
            </a:r>
          </a:p>
        </p:txBody>
      </p:sp>
      <p:sp>
        <p:nvSpPr>
          <p:cNvPr id="15" name="Rectangle 14"/>
          <p:cNvSpPr/>
          <p:nvPr/>
        </p:nvSpPr>
        <p:spPr>
          <a:xfrm>
            <a:off x="4709140" y="2880360"/>
            <a:ext cx="1703075"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09140" y="3063240"/>
            <a:ext cx="1657355" cy="365760"/>
          </a:xfrm>
          <a:prstGeom prst="rect">
            <a:avLst/>
          </a:prstGeom>
          <a:noFill/>
        </p:spPr>
        <p:txBody>
          <a:bodyPr wrap="square" anchor="t" lIns="0" rIns="0" tIns="0" bIns="0">
            <a:spAutoFit/>
          </a:bodyPr>
          <a:lstStyle/>
          <a:p>
            <a:pPr algn="l">
              <a:lnSpc>
                <a:spcPct val="120000"/>
              </a:lnSpc>
              <a:spcAft>
                <a:spcPts val="0"/>
              </a:spcAft>
            </a:pPr>
            <a:r>
              <a:rPr sz="1150" b="1">
                <a:solidFill>
                  <a:srgbClr val="141413"/>
                </a:solidFill>
                <a:latin typeface="Helvetica Neue"/>
              </a:rPr>
              <a:t>Decide</a:t>
            </a:r>
          </a:p>
        </p:txBody>
      </p:sp>
      <p:sp>
        <p:nvSpPr>
          <p:cNvPr id="17" name="TextBox 16"/>
          <p:cNvSpPr txBox="1"/>
          <p:nvPr/>
        </p:nvSpPr>
        <p:spPr>
          <a:xfrm>
            <a:off x="4709140" y="3566160"/>
            <a:ext cx="1611635" cy="2011680"/>
          </a:xfrm>
          <a:prstGeom prst="rect">
            <a:avLst/>
          </a:prstGeom>
          <a:noFill/>
        </p:spPr>
        <p:txBody>
          <a:bodyPr wrap="square" anchor="t" lIns="0" rIns="0" tIns="0" bIns="0">
            <a:spAutoFit/>
          </a:bodyPr>
          <a:lstStyle/>
          <a:p>
            <a:pPr algn="l">
              <a:lnSpc>
                <a:spcPct val="120000"/>
              </a:lnSpc>
              <a:spcAft>
                <a:spcPts val="0"/>
              </a:spcAft>
            </a:pPr>
            <a:r>
              <a:rPr sz="1050" b="0">
                <a:solidFill>
                  <a:srgbClr val="77736C"/>
                </a:solidFill>
                <a:latin typeface="Helvetica Neue"/>
              </a:rPr>
              <a:t>It works out what the building is — outline, floors, rooms, heights.</a:t>
            </a:r>
          </a:p>
        </p:txBody>
      </p:sp>
      <p:sp>
        <p:nvSpPr>
          <p:cNvPr id="18" name="TextBox 17"/>
          <p:cNvSpPr txBox="1"/>
          <p:nvPr/>
        </p:nvSpPr>
        <p:spPr>
          <a:xfrm>
            <a:off x="6682726" y="2377440"/>
            <a:ext cx="1703075" cy="365760"/>
          </a:xfrm>
          <a:prstGeom prst="rect">
            <a:avLst/>
          </a:prstGeom>
          <a:noFill/>
        </p:spPr>
        <p:txBody>
          <a:bodyPr wrap="square" anchor="t" lIns="0" rIns="0" tIns="0" bIns="0">
            <a:spAutoFit/>
          </a:bodyPr>
          <a:lstStyle/>
          <a:p>
            <a:pPr algn="l">
              <a:lnSpc>
                <a:spcPct val="102000"/>
              </a:lnSpc>
              <a:spcAft>
                <a:spcPts val="0"/>
              </a:spcAft>
            </a:pPr>
            <a:r>
              <a:rPr sz="2000" b="1">
                <a:solidFill>
                  <a:srgbClr val="0F766E"/>
                </a:solidFill>
                <a:latin typeface="Helvetica Neue"/>
              </a:rPr>
              <a:t>04</a:t>
            </a:r>
          </a:p>
        </p:txBody>
      </p:sp>
      <p:sp>
        <p:nvSpPr>
          <p:cNvPr id="19" name="Rectangle 18"/>
          <p:cNvSpPr/>
          <p:nvPr/>
        </p:nvSpPr>
        <p:spPr>
          <a:xfrm>
            <a:off x="6682726" y="2880360"/>
            <a:ext cx="1703075"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82726" y="3063240"/>
            <a:ext cx="1657355" cy="365760"/>
          </a:xfrm>
          <a:prstGeom prst="rect">
            <a:avLst/>
          </a:prstGeom>
          <a:noFill/>
        </p:spPr>
        <p:txBody>
          <a:bodyPr wrap="square" anchor="t" lIns="0" rIns="0" tIns="0" bIns="0">
            <a:spAutoFit/>
          </a:bodyPr>
          <a:lstStyle/>
          <a:p>
            <a:pPr algn="l">
              <a:lnSpc>
                <a:spcPct val="120000"/>
              </a:lnSpc>
              <a:spcAft>
                <a:spcPts val="0"/>
              </a:spcAft>
            </a:pPr>
            <a:r>
              <a:rPr sz="1150" b="1">
                <a:solidFill>
                  <a:srgbClr val="141413"/>
                </a:solidFill>
                <a:latin typeface="Helvetica Neue"/>
              </a:rPr>
              <a:t>Build</a:t>
            </a:r>
          </a:p>
        </p:txBody>
      </p:sp>
      <p:sp>
        <p:nvSpPr>
          <p:cNvPr id="21" name="TextBox 20"/>
          <p:cNvSpPr txBox="1"/>
          <p:nvPr/>
        </p:nvSpPr>
        <p:spPr>
          <a:xfrm>
            <a:off x="6682726" y="3566160"/>
            <a:ext cx="1611635" cy="2011680"/>
          </a:xfrm>
          <a:prstGeom prst="rect">
            <a:avLst/>
          </a:prstGeom>
          <a:noFill/>
        </p:spPr>
        <p:txBody>
          <a:bodyPr wrap="square" anchor="t" lIns="0" rIns="0" tIns="0" bIns="0">
            <a:spAutoFit/>
          </a:bodyPr>
          <a:lstStyle/>
          <a:p>
            <a:pPr algn="l">
              <a:lnSpc>
                <a:spcPct val="120000"/>
              </a:lnSpc>
              <a:spcAft>
                <a:spcPts val="0"/>
              </a:spcAft>
            </a:pPr>
            <a:r>
              <a:rPr sz="1050" b="0">
                <a:solidFill>
                  <a:srgbClr val="77736C"/>
                </a:solidFill>
                <a:latin typeface="Helvetica Neue"/>
              </a:rPr>
              <a:t>The software constructs the model precisely from those decisions.</a:t>
            </a:r>
          </a:p>
        </p:txBody>
      </p:sp>
      <p:sp>
        <p:nvSpPr>
          <p:cNvPr id="22" name="TextBox 21"/>
          <p:cNvSpPr txBox="1"/>
          <p:nvPr/>
        </p:nvSpPr>
        <p:spPr>
          <a:xfrm>
            <a:off x="8656312" y="2377440"/>
            <a:ext cx="1703075" cy="365760"/>
          </a:xfrm>
          <a:prstGeom prst="rect">
            <a:avLst/>
          </a:prstGeom>
          <a:noFill/>
        </p:spPr>
        <p:txBody>
          <a:bodyPr wrap="square" anchor="t" lIns="0" rIns="0" tIns="0" bIns="0">
            <a:spAutoFit/>
          </a:bodyPr>
          <a:lstStyle/>
          <a:p>
            <a:pPr algn="l">
              <a:lnSpc>
                <a:spcPct val="102000"/>
              </a:lnSpc>
              <a:spcAft>
                <a:spcPts val="0"/>
              </a:spcAft>
            </a:pPr>
            <a:r>
              <a:rPr sz="2000" b="1">
                <a:solidFill>
                  <a:srgbClr val="0F766E"/>
                </a:solidFill>
                <a:latin typeface="Helvetica Neue"/>
              </a:rPr>
              <a:t>05</a:t>
            </a:r>
          </a:p>
        </p:txBody>
      </p:sp>
      <p:sp>
        <p:nvSpPr>
          <p:cNvPr id="23" name="Rectangle 22"/>
          <p:cNvSpPr/>
          <p:nvPr/>
        </p:nvSpPr>
        <p:spPr>
          <a:xfrm>
            <a:off x="8656312" y="2880360"/>
            <a:ext cx="1703075"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56312" y="3063240"/>
            <a:ext cx="1657355" cy="365760"/>
          </a:xfrm>
          <a:prstGeom prst="rect">
            <a:avLst/>
          </a:prstGeom>
          <a:noFill/>
        </p:spPr>
        <p:txBody>
          <a:bodyPr wrap="square" anchor="t" lIns="0" rIns="0" tIns="0" bIns="0">
            <a:spAutoFit/>
          </a:bodyPr>
          <a:lstStyle/>
          <a:p>
            <a:pPr algn="l">
              <a:lnSpc>
                <a:spcPct val="120000"/>
              </a:lnSpc>
              <a:spcAft>
                <a:spcPts val="0"/>
              </a:spcAft>
            </a:pPr>
            <a:r>
              <a:rPr sz="1150" b="1">
                <a:solidFill>
                  <a:srgbClr val="141413"/>
                </a:solidFill>
                <a:latin typeface="Helvetica Neue"/>
              </a:rPr>
              <a:t>Use it</a:t>
            </a:r>
          </a:p>
        </p:txBody>
      </p:sp>
      <p:sp>
        <p:nvSpPr>
          <p:cNvPr id="25" name="TextBox 24"/>
          <p:cNvSpPr txBox="1"/>
          <p:nvPr/>
        </p:nvSpPr>
        <p:spPr>
          <a:xfrm>
            <a:off x="8656312" y="3566160"/>
            <a:ext cx="1611635" cy="2011680"/>
          </a:xfrm>
          <a:prstGeom prst="rect">
            <a:avLst/>
          </a:prstGeom>
          <a:noFill/>
        </p:spPr>
        <p:txBody>
          <a:bodyPr wrap="square" anchor="t" lIns="0" rIns="0" tIns="0" bIns="0">
            <a:spAutoFit/>
          </a:bodyPr>
          <a:lstStyle/>
          <a:p>
            <a:pPr algn="l">
              <a:lnSpc>
                <a:spcPct val="120000"/>
              </a:lnSpc>
              <a:spcAft>
                <a:spcPts val="0"/>
              </a:spcAft>
            </a:pPr>
            <a:r>
              <a:rPr sz="1050" b="0">
                <a:solidFill>
                  <a:srgbClr val="77736C"/>
                </a:solidFill>
                <a:latin typeface="Helvetica Neue"/>
              </a:rPr>
              <a:t>Walk through it, measure it, and change it by asking.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TextBox 1"/>
          <p:cNvSpPr txBox="1"/>
          <p:nvPr/>
        </p:nvSpPr>
        <p:spPr>
          <a:xfrm>
            <a:off x="761969" y="6291072"/>
            <a:ext cx="5334015" cy="274320"/>
          </a:xfrm>
          <a:prstGeom prst="rect">
            <a:avLst/>
          </a:prstGeom>
          <a:noFill/>
        </p:spPr>
        <p:txBody>
          <a:bodyPr wrap="square" anchor="t" lIns="0" rIns="0" tIns="0" bIns="0">
            <a:spAutoFit/>
          </a:bodyPr>
          <a:lstStyle/>
          <a:p>
            <a:pPr algn="l">
              <a:lnSpc>
                <a:spcPct val="120000"/>
              </a:lnSpc>
              <a:spcAft>
                <a:spcPts val="0"/>
              </a:spcAft>
            </a:pPr>
            <a:r>
              <a:rPr sz="850" b="0">
                <a:solidFill>
                  <a:srgbClr val="77736C"/>
                </a:solidFill>
                <a:latin typeface="Helvetica Neue"/>
              </a:rPr>
              <a:t>Acon x Dell Pro Max GB10</a:t>
            </a:r>
          </a:p>
        </p:txBody>
      </p:sp>
      <p:sp>
        <p:nvSpPr>
          <p:cNvPr id="3" name="TextBox 2"/>
          <p:cNvSpPr txBox="1"/>
          <p:nvPr/>
        </p:nvSpPr>
        <p:spPr>
          <a:xfrm>
            <a:off x="10096496" y="6291072"/>
            <a:ext cx="1333503" cy="274320"/>
          </a:xfrm>
          <a:prstGeom prst="rect">
            <a:avLst/>
          </a:prstGeom>
          <a:noFill/>
        </p:spPr>
        <p:txBody>
          <a:bodyPr wrap="square" anchor="t" lIns="0" rIns="0" tIns="0" bIns="0">
            <a:spAutoFit/>
          </a:bodyPr>
          <a:lstStyle/>
          <a:p>
            <a:pPr algn="r">
              <a:lnSpc>
                <a:spcPct val="120000"/>
              </a:lnSpc>
              <a:spcAft>
                <a:spcPts val="0"/>
              </a:spcAft>
            </a:pPr>
            <a:r>
              <a:rPr sz="850" b="0">
                <a:solidFill>
                  <a:srgbClr val="77736C"/>
                </a:solidFill>
                <a:latin typeface="Helvetica Neue"/>
              </a:rPr>
              <a:t>19</a:t>
            </a:r>
          </a:p>
        </p:txBody>
      </p:sp>
      <p:sp>
        <p:nvSpPr>
          <p:cNvPr id="4" name="TextBox 3"/>
          <p:cNvSpPr txBox="1"/>
          <p:nvPr/>
        </p:nvSpPr>
        <p:spPr>
          <a:xfrm>
            <a:off x="761969" y="761969"/>
            <a:ext cx="6667519" cy="274320"/>
          </a:xfrm>
          <a:prstGeom prst="rect">
            <a:avLst/>
          </a:prstGeom>
          <a:noFill/>
        </p:spPr>
        <p:txBody>
          <a:bodyPr wrap="square" anchor="t" lIns="0" rIns="0" tIns="0" bIns="0">
            <a:spAutoFit/>
          </a:bodyPr>
          <a:lstStyle/>
          <a:p>
            <a:pPr algn="l">
              <a:lnSpc>
                <a:spcPct val="120000"/>
              </a:lnSpc>
              <a:spcAft>
                <a:spcPts val="0"/>
              </a:spcAft>
            </a:pPr>
            <a:r>
              <a:rPr sz="950" b="1">
                <a:solidFill>
                  <a:srgbClr val="0F766E"/>
                </a:solidFill>
                <a:latin typeface="Helvetica Neue"/>
              </a:rPr>
              <a:t>04 — WHAT CHANGES</a:t>
            </a:r>
          </a:p>
        </p:txBody>
      </p:sp>
      <p:sp>
        <p:nvSpPr>
          <p:cNvPr id="5" name="TextBox 4"/>
          <p:cNvSpPr txBox="1"/>
          <p:nvPr/>
        </p:nvSpPr>
        <p:spPr>
          <a:xfrm>
            <a:off x="761969" y="1188720"/>
            <a:ext cx="6667519" cy="731520"/>
          </a:xfrm>
          <a:prstGeom prst="rect">
            <a:avLst/>
          </a:prstGeom>
          <a:noFill/>
        </p:spPr>
        <p:txBody>
          <a:bodyPr wrap="square" anchor="t" lIns="0" rIns="0" tIns="0" bIns="0">
            <a:spAutoFit/>
          </a:bodyPr>
          <a:lstStyle/>
          <a:p>
            <a:pPr algn="l">
              <a:lnSpc>
                <a:spcPct val="102000"/>
              </a:lnSpc>
              <a:spcAft>
                <a:spcPts val="0"/>
              </a:spcAft>
            </a:pPr>
            <a:r>
              <a:rPr sz="2600" b="1">
                <a:solidFill>
                  <a:srgbClr val="141413"/>
                </a:solidFill>
                <a:latin typeface="Helvetica Neue"/>
              </a:rPr>
              <a:t>Only one thing changes.</a:t>
            </a:r>
          </a:p>
        </p:txBody>
      </p:sp>
      <p:sp>
        <p:nvSpPr>
          <p:cNvPr id="6" name="Rectangle 5"/>
          <p:cNvSpPr/>
          <p:nvPr/>
        </p:nvSpPr>
        <p:spPr>
          <a:xfrm>
            <a:off x="761969" y="2286000"/>
            <a:ext cx="4267212" cy="20116"/>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1969" y="2487168"/>
            <a:ext cx="4000511" cy="320040"/>
          </a:xfrm>
          <a:prstGeom prst="rect">
            <a:avLst/>
          </a:prstGeom>
          <a:noFill/>
        </p:spPr>
        <p:txBody>
          <a:bodyPr wrap="square" anchor="t" lIns="0" rIns="0" tIns="0" bIns="0">
            <a:spAutoFit/>
          </a:bodyPr>
          <a:lstStyle/>
          <a:p>
            <a:pPr algn="l">
              <a:lnSpc>
                <a:spcPct val="120000"/>
              </a:lnSpc>
              <a:spcAft>
                <a:spcPts val="0"/>
              </a:spcAft>
            </a:pPr>
            <a:r>
              <a:rPr sz="950" b="1">
                <a:solidFill>
                  <a:srgbClr val="141413"/>
                </a:solidFill>
                <a:latin typeface="Helvetica Neue"/>
              </a:rPr>
              <a:t>NOW</a:t>
            </a:r>
          </a:p>
        </p:txBody>
      </p:sp>
      <p:sp>
        <p:nvSpPr>
          <p:cNvPr id="8" name="TextBox 7"/>
          <p:cNvSpPr txBox="1"/>
          <p:nvPr/>
        </p:nvSpPr>
        <p:spPr>
          <a:xfrm>
            <a:off x="761969" y="2926080"/>
            <a:ext cx="4133861" cy="548640"/>
          </a:xfrm>
          <a:prstGeom prst="rect">
            <a:avLst/>
          </a:prstGeom>
          <a:noFill/>
        </p:spPr>
        <p:txBody>
          <a:bodyPr wrap="square" anchor="t" lIns="0" rIns="0" tIns="0" bIns="0">
            <a:spAutoFit/>
          </a:bodyPr>
          <a:lstStyle/>
          <a:p>
            <a:pPr algn="l">
              <a:lnSpc>
                <a:spcPct val="120000"/>
              </a:lnSpc>
              <a:spcAft>
                <a:spcPts val="0"/>
              </a:spcAft>
            </a:pPr>
            <a:r>
              <a:rPr sz="1150" b="0">
                <a:solidFill>
                  <a:srgbClr val="77736C"/>
                </a:solidFill>
                <a:latin typeface="Helvetica Neue"/>
              </a:rPr>
              <a:t>A request leaves the office.</a:t>
            </a:r>
          </a:p>
        </p:txBody>
      </p:sp>
      <p:sp>
        <p:nvSpPr>
          <p:cNvPr id="9" name="TextBox 8"/>
          <p:cNvSpPr txBox="1"/>
          <p:nvPr/>
        </p:nvSpPr>
        <p:spPr>
          <a:xfrm>
            <a:off x="761969" y="3547872"/>
            <a:ext cx="4133861" cy="548640"/>
          </a:xfrm>
          <a:prstGeom prst="rect">
            <a:avLst/>
          </a:prstGeom>
          <a:noFill/>
        </p:spPr>
        <p:txBody>
          <a:bodyPr wrap="square" anchor="t" lIns="0" rIns="0" tIns="0" bIns="0">
            <a:spAutoFit/>
          </a:bodyPr>
          <a:lstStyle/>
          <a:p>
            <a:pPr algn="l">
              <a:lnSpc>
                <a:spcPct val="120000"/>
              </a:lnSpc>
              <a:spcAft>
                <a:spcPts val="0"/>
              </a:spcAft>
            </a:pPr>
            <a:r>
              <a:rPr sz="1150" b="0">
                <a:solidFill>
                  <a:srgbClr val="77736C"/>
                </a:solidFill>
                <a:latin typeface="Helvetica Neue"/>
              </a:rPr>
              <a:t>An outside service interprets the project.</a:t>
            </a:r>
          </a:p>
        </p:txBody>
      </p:sp>
      <p:sp>
        <p:nvSpPr>
          <p:cNvPr id="10" name="TextBox 9"/>
          <p:cNvSpPr txBox="1"/>
          <p:nvPr/>
        </p:nvSpPr>
        <p:spPr>
          <a:xfrm>
            <a:off x="761969" y="4169664"/>
            <a:ext cx="4133861" cy="548640"/>
          </a:xfrm>
          <a:prstGeom prst="rect">
            <a:avLst/>
          </a:prstGeom>
          <a:noFill/>
        </p:spPr>
        <p:txBody>
          <a:bodyPr wrap="square" anchor="t" lIns="0" rIns="0" tIns="0" bIns="0">
            <a:spAutoFit/>
          </a:bodyPr>
          <a:lstStyle/>
          <a:p>
            <a:pPr algn="l">
              <a:lnSpc>
                <a:spcPct val="120000"/>
              </a:lnSpc>
              <a:spcAft>
                <a:spcPts val="0"/>
              </a:spcAft>
            </a:pPr>
            <a:r>
              <a:rPr sz="1150" b="0">
                <a:solidFill>
                  <a:srgbClr val="77736C"/>
                </a:solidFill>
                <a:latin typeface="Helvetica Neue"/>
              </a:rPr>
              <a:t>The answer comes back over the internet.</a:t>
            </a:r>
          </a:p>
        </p:txBody>
      </p:sp>
      <p:sp>
        <p:nvSpPr>
          <p:cNvPr id="11" name="TextBox 10"/>
          <p:cNvSpPr txBox="1"/>
          <p:nvPr/>
        </p:nvSpPr>
        <p:spPr>
          <a:xfrm>
            <a:off x="761969" y="4882896"/>
            <a:ext cx="4000511" cy="365760"/>
          </a:xfrm>
          <a:prstGeom prst="rect">
            <a:avLst/>
          </a:prstGeom>
          <a:noFill/>
        </p:spPr>
        <p:txBody>
          <a:bodyPr wrap="square" anchor="t" lIns="0" rIns="0" tIns="0" bIns="0">
            <a:spAutoFit/>
          </a:bodyPr>
          <a:lstStyle/>
          <a:p>
            <a:pPr algn="l">
              <a:lnSpc>
                <a:spcPct val="120000"/>
              </a:lnSpc>
              <a:spcAft>
                <a:spcPts val="0"/>
              </a:spcAft>
            </a:pPr>
            <a:r>
              <a:rPr sz="1100" b="1">
                <a:solidFill>
                  <a:srgbClr val="77736C"/>
                </a:solidFill>
                <a:latin typeface="Helvetica Neue"/>
              </a:rPr>
              <a:t>The drawings leave the office.</a:t>
            </a:r>
          </a:p>
        </p:txBody>
      </p:sp>
      <p:sp>
        <p:nvSpPr>
          <p:cNvPr id="12" name="Rectangle 11"/>
          <p:cNvSpPr/>
          <p:nvPr/>
        </p:nvSpPr>
        <p:spPr>
          <a:xfrm>
            <a:off x="5562583" y="2286000"/>
            <a:ext cx="4267212" cy="201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62583" y="2487168"/>
            <a:ext cx="4000511" cy="320040"/>
          </a:xfrm>
          <a:prstGeom prst="rect">
            <a:avLst/>
          </a:prstGeom>
          <a:noFill/>
        </p:spPr>
        <p:txBody>
          <a:bodyPr wrap="square" anchor="t" lIns="0" rIns="0" tIns="0" bIns="0">
            <a:spAutoFit/>
          </a:bodyPr>
          <a:lstStyle/>
          <a:p>
            <a:pPr algn="l">
              <a:lnSpc>
                <a:spcPct val="120000"/>
              </a:lnSpc>
              <a:spcAft>
                <a:spcPts val="0"/>
              </a:spcAft>
            </a:pPr>
            <a:r>
              <a:rPr sz="950" b="1">
                <a:solidFill>
                  <a:srgbClr val="141413"/>
                </a:solidFill>
                <a:latin typeface="Helvetica Neue"/>
              </a:rPr>
              <a:t>TARGET</a:t>
            </a:r>
          </a:p>
        </p:txBody>
      </p:sp>
      <p:sp>
        <p:nvSpPr>
          <p:cNvPr id="14" name="TextBox 13"/>
          <p:cNvSpPr txBox="1"/>
          <p:nvPr/>
        </p:nvSpPr>
        <p:spPr>
          <a:xfrm>
            <a:off x="5562583" y="2926080"/>
            <a:ext cx="4133861" cy="548640"/>
          </a:xfrm>
          <a:prstGeom prst="rect">
            <a:avLst/>
          </a:prstGeom>
          <a:noFill/>
        </p:spPr>
        <p:txBody>
          <a:bodyPr wrap="square" anchor="t" lIns="0" rIns="0" tIns="0" bIns="0">
            <a:spAutoFit/>
          </a:bodyPr>
          <a:lstStyle/>
          <a:p>
            <a:pPr algn="l">
              <a:lnSpc>
                <a:spcPct val="120000"/>
              </a:lnSpc>
              <a:spcAft>
                <a:spcPts val="0"/>
              </a:spcAft>
            </a:pPr>
            <a:r>
              <a:rPr sz="1150" b="0">
                <a:solidFill>
                  <a:srgbClr val="77736C"/>
                </a:solidFill>
                <a:latin typeface="Helvetica Neue"/>
              </a:rPr>
              <a:t>The same request goes to the machine in the office.</a:t>
            </a:r>
          </a:p>
        </p:txBody>
      </p:sp>
      <p:sp>
        <p:nvSpPr>
          <p:cNvPr id="15" name="TextBox 14"/>
          <p:cNvSpPr txBox="1"/>
          <p:nvPr/>
        </p:nvSpPr>
        <p:spPr>
          <a:xfrm>
            <a:off x="5562583" y="3547872"/>
            <a:ext cx="4133861" cy="548640"/>
          </a:xfrm>
          <a:prstGeom prst="rect">
            <a:avLst/>
          </a:prstGeom>
          <a:noFill/>
        </p:spPr>
        <p:txBody>
          <a:bodyPr wrap="square" anchor="t" lIns="0" rIns="0" tIns="0" bIns="0">
            <a:spAutoFit/>
          </a:bodyPr>
          <a:lstStyle/>
          <a:p>
            <a:pPr algn="l">
              <a:lnSpc>
                <a:spcPct val="120000"/>
              </a:lnSpc>
              <a:spcAft>
                <a:spcPts val="0"/>
              </a:spcAft>
            </a:pPr>
            <a:r>
              <a:rPr sz="1150" b="0">
                <a:solidFill>
                  <a:srgbClr val="77736C"/>
                </a:solidFill>
                <a:latin typeface="Helvetica Neue"/>
              </a:rPr>
              <a:t>The model on that machine interprets the project.</a:t>
            </a:r>
          </a:p>
        </p:txBody>
      </p:sp>
      <p:sp>
        <p:nvSpPr>
          <p:cNvPr id="16" name="TextBox 15"/>
          <p:cNvSpPr txBox="1"/>
          <p:nvPr/>
        </p:nvSpPr>
        <p:spPr>
          <a:xfrm>
            <a:off x="5562583" y="4169664"/>
            <a:ext cx="4133861" cy="548640"/>
          </a:xfrm>
          <a:prstGeom prst="rect">
            <a:avLst/>
          </a:prstGeom>
          <a:noFill/>
        </p:spPr>
        <p:txBody>
          <a:bodyPr wrap="square" anchor="t" lIns="0" rIns="0" tIns="0" bIns="0">
            <a:spAutoFit/>
          </a:bodyPr>
          <a:lstStyle/>
          <a:p>
            <a:pPr algn="l">
              <a:lnSpc>
                <a:spcPct val="120000"/>
              </a:lnSpc>
              <a:spcAft>
                <a:spcPts val="0"/>
              </a:spcAft>
            </a:pPr>
            <a:r>
              <a:rPr sz="1150" b="0">
                <a:solidFill>
                  <a:srgbClr val="77736C"/>
                </a:solidFill>
                <a:latin typeface="Helvetica Neue"/>
              </a:rPr>
              <a:t>The answer never touches the internet.</a:t>
            </a:r>
          </a:p>
        </p:txBody>
      </p:sp>
      <p:sp>
        <p:nvSpPr>
          <p:cNvPr id="17" name="TextBox 16"/>
          <p:cNvSpPr txBox="1"/>
          <p:nvPr/>
        </p:nvSpPr>
        <p:spPr>
          <a:xfrm>
            <a:off x="5562583" y="4882896"/>
            <a:ext cx="4000511" cy="365760"/>
          </a:xfrm>
          <a:prstGeom prst="rect">
            <a:avLst/>
          </a:prstGeom>
          <a:noFill/>
        </p:spPr>
        <p:txBody>
          <a:bodyPr wrap="square" anchor="t" lIns="0" rIns="0" tIns="0" bIns="0">
            <a:spAutoFit/>
          </a:bodyPr>
          <a:lstStyle/>
          <a:p>
            <a:pPr algn="l">
              <a:lnSpc>
                <a:spcPct val="120000"/>
              </a:lnSpc>
              <a:spcAft>
                <a:spcPts val="0"/>
              </a:spcAft>
            </a:pPr>
            <a:r>
              <a:rPr sz="1100" b="1">
                <a:solidFill>
                  <a:srgbClr val="0F766E"/>
                </a:solidFill>
                <a:latin typeface="Helvetica Neue"/>
              </a:rPr>
              <a:t>The drawings never leave.</a:t>
            </a:r>
          </a:p>
        </p:txBody>
      </p:sp>
      <p:sp>
        <p:nvSpPr>
          <p:cNvPr id="18" name="TextBox 17"/>
          <p:cNvSpPr txBox="1"/>
          <p:nvPr/>
        </p:nvSpPr>
        <p:spPr>
          <a:xfrm>
            <a:off x="761969" y="5806440"/>
            <a:ext cx="9067825" cy="457200"/>
          </a:xfrm>
          <a:prstGeom prst="rect">
            <a:avLst/>
          </a:prstGeom>
          <a:noFill/>
        </p:spPr>
        <p:txBody>
          <a:bodyPr wrap="square" anchor="t" lIns="0" rIns="0" tIns="0" bIns="0">
            <a:spAutoFit/>
          </a:bodyPr>
          <a:lstStyle/>
          <a:p>
            <a:pPr algn="l">
              <a:lnSpc>
                <a:spcPct val="120000"/>
              </a:lnSpc>
              <a:spcAft>
                <a:spcPts val="0"/>
              </a:spcAft>
            </a:pPr>
            <a:r>
              <a:rPr sz="1000" b="0">
                <a:solidFill>
                  <a:srgbClr val="77736C"/>
                </a:solidFill>
                <a:latin typeface="Helvetica Neue"/>
              </a:rPr>
              <a:t>Everything else — the app, the editing, the address lookup — works exactly as it does today.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TextBox 1"/>
          <p:cNvSpPr txBox="1"/>
          <p:nvPr/>
        </p:nvSpPr>
        <p:spPr>
          <a:xfrm>
            <a:off x="761969" y="6291072"/>
            <a:ext cx="5334015" cy="274320"/>
          </a:xfrm>
          <a:prstGeom prst="rect">
            <a:avLst/>
          </a:prstGeom>
          <a:noFill/>
        </p:spPr>
        <p:txBody>
          <a:bodyPr wrap="square" anchor="t" lIns="0" rIns="0" tIns="0" bIns="0">
            <a:spAutoFit/>
          </a:bodyPr>
          <a:lstStyle/>
          <a:p>
            <a:pPr algn="l">
              <a:lnSpc>
                <a:spcPct val="120000"/>
              </a:lnSpc>
              <a:spcAft>
                <a:spcPts val="0"/>
              </a:spcAft>
            </a:pPr>
            <a:r>
              <a:rPr sz="850" b="0">
                <a:solidFill>
                  <a:srgbClr val="77736C"/>
                </a:solidFill>
                <a:latin typeface="Helvetica Neue"/>
              </a:rPr>
              <a:t>Acon x Dell Pro Max GB10</a:t>
            </a:r>
          </a:p>
        </p:txBody>
      </p:sp>
      <p:sp>
        <p:nvSpPr>
          <p:cNvPr id="3" name="TextBox 2"/>
          <p:cNvSpPr txBox="1"/>
          <p:nvPr/>
        </p:nvSpPr>
        <p:spPr>
          <a:xfrm>
            <a:off x="10096496" y="6291072"/>
            <a:ext cx="1333503" cy="274320"/>
          </a:xfrm>
          <a:prstGeom prst="rect">
            <a:avLst/>
          </a:prstGeom>
          <a:noFill/>
        </p:spPr>
        <p:txBody>
          <a:bodyPr wrap="square" anchor="t" lIns="0" rIns="0" tIns="0" bIns="0">
            <a:spAutoFit/>
          </a:bodyPr>
          <a:lstStyle/>
          <a:p>
            <a:pPr algn="r">
              <a:lnSpc>
                <a:spcPct val="120000"/>
              </a:lnSpc>
              <a:spcAft>
                <a:spcPts val="0"/>
              </a:spcAft>
            </a:pPr>
            <a:r>
              <a:rPr sz="850" b="0">
                <a:solidFill>
                  <a:srgbClr val="77736C"/>
                </a:solidFill>
                <a:latin typeface="Helvetica Neue"/>
              </a:rPr>
              <a:t>20</a:t>
            </a:r>
          </a:p>
        </p:txBody>
      </p:sp>
      <p:sp>
        <p:nvSpPr>
          <p:cNvPr id="4" name="TextBox 3"/>
          <p:cNvSpPr txBox="1"/>
          <p:nvPr/>
        </p:nvSpPr>
        <p:spPr>
          <a:xfrm>
            <a:off x="761969" y="761969"/>
            <a:ext cx="6667519" cy="274320"/>
          </a:xfrm>
          <a:prstGeom prst="rect">
            <a:avLst/>
          </a:prstGeom>
          <a:noFill/>
        </p:spPr>
        <p:txBody>
          <a:bodyPr wrap="square" anchor="t" lIns="0" rIns="0" tIns="0" bIns="0">
            <a:spAutoFit/>
          </a:bodyPr>
          <a:lstStyle/>
          <a:p>
            <a:pPr algn="l">
              <a:lnSpc>
                <a:spcPct val="120000"/>
              </a:lnSpc>
              <a:spcAft>
                <a:spcPts val="0"/>
              </a:spcAft>
            </a:pPr>
            <a:r>
              <a:rPr sz="950" b="1">
                <a:solidFill>
                  <a:srgbClr val="0F766E"/>
                </a:solidFill>
                <a:latin typeface="Helvetica Neue"/>
              </a:rPr>
              <a:t>04 — WHAT CHANGES</a:t>
            </a:r>
          </a:p>
        </p:txBody>
      </p:sp>
      <p:sp>
        <p:nvSpPr>
          <p:cNvPr id="5" name="TextBox 4"/>
          <p:cNvSpPr txBox="1"/>
          <p:nvPr/>
        </p:nvSpPr>
        <p:spPr>
          <a:xfrm>
            <a:off x="761969" y="1188720"/>
            <a:ext cx="6667519" cy="731520"/>
          </a:xfrm>
          <a:prstGeom prst="rect">
            <a:avLst/>
          </a:prstGeom>
          <a:noFill/>
        </p:spPr>
        <p:txBody>
          <a:bodyPr wrap="square" anchor="t" lIns="0" rIns="0" tIns="0" bIns="0">
            <a:spAutoFit/>
          </a:bodyPr>
          <a:lstStyle/>
          <a:p>
            <a:pPr algn="l">
              <a:lnSpc>
                <a:spcPct val="102000"/>
              </a:lnSpc>
              <a:spcAft>
                <a:spcPts val="0"/>
              </a:spcAft>
            </a:pPr>
            <a:r>
              <a:rPr sz="2600" b="1">
                <a:solidFill>
                  <a:srgbClr val="141413"/>
                </a:solidFill>
                <a:latin typeface="Helvetica Neue"/>
              </a:rPr>
              <a:t>What changes, and what doesn't.</a:t>
            </a:r>
          </a:p>
        </p:txBody>
      </p:sp>
      <p:sp>
        <p:nvSpPr>
          <p:cNvPr id="6" name="Rectangle 5"/>
          <p:cNvSpPr/>
          <p:nvPr/>
        </p:nvSpPr>
        <p:spPr>
          <a:xfrm>
            <a:off x="761969" y="2148840"/>
            <a:ext cx="4267212" cy="201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1969" y="2350008"/>
            <a:ext cx="4000511" cy="320040"/>
          </a:xfrm>
          <a:prstGeom prst="rect">
            <a:avLst/>
          </a:prstGeom>
          <a:noFill/>
        </p:spPr>
        <p:txBody>
          <a:bodyPr wrap="square" anchor="t" lIns="0" rIns="0" tIns="0" bIns="0">
            <a:spAutoFit/>
          </a:bodyPr>
          <a:lstStyle/>
          <a:p>
            <a:pPr algn="l">
              <a:lnSpc>
                <a:spcPct val="120000"/>
              </a:lnSpc>
              <a:spcAft>
                <a:spcPts val="0"/>
              </a:spcAft>
            </a:pPr>
            <a:r>
              <a:rPr sz="950" b="1">
                <a:solidFill>
                  <a:srgbClr val="141413"/>
                </a:solidFill>
                <a:latin typeface="Helvetica Neue"/>
              </a:rPr>
              <a:t>WHAT CHANGES</a:t>
            </a:r>
          </a:p>
        </p:txBody>
      </p:sp>
      <p:sp>
        <p:nvSpPr>
          <p:cNvPr id="8" name="TextBox 7"/>
          <p:cNvSpPr txBox="1"/>
          <p:nvPr/>
        </p:nvSpPr>
        <p:spPr>
          <a:xfrm>
            <a:off x="761969" y="2743200"/>
            <a:ext cx="4133861" cy="621792"/>
          </a:xfrm>
          <a:prstGeom prst="rect">
            <a:avLst/>
          </a:prstGeom>
          <a:noFill/>
        </p:spPr>
        <p:txBody>
          <a:bodyPr wrap="square" anchor="t" lIns="0" rIns="0" tIns="0" bIns="0">
            <a:spAutoFit/>
          </a:bodyPr>
          <a:lstStyle/>
          <a:p>
            <a:pPr algn="l">
              <a:lnSpc>
                <a:spcPct val="120000"/>
              </a:lnSpc>
              <a:spcAft>
                <a:spcPts val="0"/>
              </a:spcAft>
            </a:pPr>
            <a:r>
              <a:rPr sz="1100" b="0">
                <a:solidFill>
                  <a:srgbClr val="77736C"/>
                </a:solidFill>
                <a:latin typeface="Helvetica Neue"/>
              </a:rPr>
              <a:t>The thinking moves to the machine in the office.</a:t>
            </a:r>
          </a:p>
        </p:txBody>
      </p:sp>
      <p:sp>
        <p:nvSpPr>
          <p:cNvPr id="9" name="TextBox 8"/>
          <p:cNvSpPr txBox="1"/>
          <p:nvPr/>
        </p:nvSpPr>
        <p:spPr>
          <a:xfrm>
            <a:off x="761969" y="3493008"/>
            <a:ext cx="4133861" cy="621792"/>
          </a:xfrm>
          <a:prstGeom prst="rect">
            <a:avLst/>
          </a:prstGeom>
          <a:noFill/>
        </p:spPr>
        <p:txBody>
          <a:bodyPr wrap="square" anchor="t" lIns="0" rIns="0" tIns="0" bIns="0">
            <a:spAutoFit/>
          </a:bodyPr>
          <a:lstStyle/>
          <a:p>
            <a:pPr algn="l">
              <a:lnSpc>
                <a:spcPct val="120000"/>
              </a:lnSpc>
              <a:spcAft>
                <a:spcPts val="0"/>
              </a:spcAft>
            </a:pPr>
            <a:r>
              <a:rPr sz="1100" b="0">
                <a:solidFill>
                  <a:srgbClr val="77736C"/>
                </a:solidFill>
                <a:latin typeface="Helvetica Neue"/>
              </a:rPr>
              <a:t>Uploaded drawings are shown to the model, so it can actually read them.</a:t>
            </a:r>
          </a:p>
        </p:txBody>
      </p:sp>
      <p:sp>
        <p:nvSpPr>
          <p:cNvPr id="10" name="TextBox 9"/>
          <p:cNvSpPr txBox="1"/>
          <p:nvPr/>
        </p:nvSpPr>
        <p:spPr>
          <a:xfrm>
            <a:off x="761969" y="4242816"/>
            <a:ext cx="4133861" cy="621792"/>
          </a:xfrm>
          <a:prstGeom prst="rect">
            <a:avLst/>
          </a:prstGeom>
          <a:noFill/>
        </p:spPr>
        <p:txBody>
          <a:bodyPr wrap="square" anchor="t" lIns="0" rIns="0" tIns="0" bIns="0">
            <a:spAutoFit/>
          </a:bodyPr>
          <a:lstStyle/>
          <a:p>
            <a:pPr algn="l">
              <a:lnSpc>
                <a:spcPct val="120000"/>
              </a:lnSpc>
              <a:spcAft>
                <a:spcPts val="0"/>
              </a:spcAft>
            </a:pPr>
            <a:r>
              <a:rPr sz="1100" b="0">
                <a:solidFill>
                  <a:srgbClr val="77736C"/>
                </a:solidFill>
                <a:latin typeface="Helvetica Neue"/>
              </a:rPr>
              <a:t>The outside service is switched off.</a:t>
            </a:r>
          </a:p>
        </p:txBody>
      </p:sp>
      <p:sp>
        <p:nvSpPr>
          <p:cNvPr id="11" name="Rectangle 10"/>
          <p:cNvSpPr/>
          <p:nvPr/>
        </p:nvSpPr>
        <p:spPr>
          <a:xfrm>
            <a:off x="5562583" y="2148840"/>
            <a:ext cx="4267212" cy="20116"/>
          </a:xfrm>
          <a:prstGeom prst="rect">
            <a:avLst/>
          </a:prstGeom>
          <a:solidFill>
            <a:srgbClr val="777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62583" y="2350008"/>
            <a:ext cx="4000511" cy="320040"/>
          </a:xfrm>
          <a:prstGeom prst="rect">
            <a:avLst/>
          </a:prstGeom>
          <a:noFill/>
        </p:spPr>
        <p:txBody>
          <a:bodyPr wrap="square" anchor="t" lIns="0" rIns="0" tIns="0" bIns="0">
            <a:spAutoFit/>
          </a:bodyPr>
          <a:lstStyle/>
          <a:p>
            <a:pPr algn="l">
              <a:lnSpc>
                <a:spcPct val="120000"/>
              </a:lnSpc>
              <a:spcAft>
                <a:spcPts val="0"/>
              </a:spcAft>
            </a:pPr>
            <a:r>
              <a:rPr sz="950" b="1">
                <a:solidFill>
                  <a:srgbClr val="141413"/>
                </a:solidFill>
                <a:latin typeface="Helvetica Neue"/>
              </a:rPr>
              <a:t>WHAT STAYS THE SAME</a:t>
            </a:r>
          </a:p>
        </p:txBody>
      </p:sp>
      <p:sp>
        <p:nvSpPr>
          <p:cNvPr id="13" name="TextBox 12"/>
          <p:cNvSpPr txBox="1"/>
          <p:nvPr/>
        </p:nvSpPr>
        <p:spPr>
          <a:xfrm>
            <a:off x="5562583" y="2743200"/>
            <a:ext cx="4133861" cy="621792"/>
          </a:xfrm>
          <a:prstGeom prst="rect">
            <a:avLst/>
          </a:prstGeom>
          <a:noFill/>
        </p:spPr>
        <p:txBody>
          <a:bodyPr wrap="square" anchor="t" lIns="0" rIns="0" tIns="0" bIns="0">
            <a:spAutoFit/>
          </a:bodyPr>
          <a:lstStyle/>
          <a:p>
            <a:pPr algn="l">
              <a:lnSpc>
                <a:spcPct val="120000"/>
              </a:lnSpc>
              <a:spcAft>
                <a:spcPts val="0"/>
              </a:spcAft>
            </a:pPr>
            <a:r>
              <a:rPr sz="1100" b="0">
                <a:solidFill>
                  <a:srgbClr val="77736C"/>
                </a:solidFill>
                <a:latin typeface="Helvetica Neue"/>
              </a:rPr>
              <a:t>The app, the 3D model, and the way editing works.</a:t>
            </a:r>
          </a:p>
        </p:txBody>
      </p:sp>
      <p:sp>
        <p:nvSpPr>
          <p:cNvPr id="14" name="TextBox 13"/>
          <p:cNvSpPr txBox="1"/>
          <p:nvPr/>
        </p:nvSpPr>
        <p:spPr>
          <a:xfrm>
            <a:off x="5562583" y="3493008"/>
            <a:ext cx="4133861" cy="621792"/>
          </a:xfrm>
          <a:prstGeom prst="rect">
            <a:avLst/>
          </a:prstGeom>
          <a:noFill/>
        </p:spPr>
        <p:txBody>
          <a:bodyPr wrap="square" anchor="t" lIns="0" rIns="0" tIns="0" bIns="0">
            <a:spAutoFit/>
          </a:bodyPr>
          <a:lstStyle/>
          <a:p>
            <a:pPr algn="l">
              <a:lnSpc>
                <a:spcPct val="120000"/>
              </a:lnSpc>
              <a:spcAft>
                <a:spcPts val="0"/>
              </a:spcAft>
            </a:pPr>
            <a:r>
              <a:rPr sz="1100" b="0">
                <a:solidFill>
                  <a:srgbClr val="77736C"/>
                </a:solidFill>
                <a:latin typeface="Helvetica Neue"/>
              </a:rPr>
              <a:t>The way buildings are constructed from decisions.</a:t>
            </a:r>
          </a:p>
        </p:txBody>
      </p:sp>
      <p:sp>
        <p:nvSpPr>
          <p:cNvPr id="15" name="TextBox 14"/>
          <p:cNvSpPr txBox="1"/>
          <p:nvPr/>
        </p:nvSpPr>
        <p:spPr>
          <a:xfrm>
            <a:off x="5562583" y="4242816"/>
            <a:ext cx="4133861" cy="621792"/>
          </a:xfrm>
          <a:prstGeom prst="rect">
            <a:avLst/>
          </a:prstGeom>
          <a:noFill/>
        </p:spPr>
        <p:txBody>
          <a:bodyPr wrap="square" anchor="t" lIns="0" rIns="0" tIns="0" bIns="0">
            <a:spAutoFit/>
          </a:bodyPr>
          <a:lstStyle/>
          <a:p>
            <a:pPr algn="l">
              <a:lnSpc>
                <a:spcPct val="120000"/>
              </a:lnSpc>
              <a:spcAft>
                <a:spcPts val="0"/>
              </a:spcAft>
            </a:pPr>
            <a:r>
              <a:rPr sz="1100" b="0">
                <a:solidFill>
                  <a:srgbClr val="77736C"/>
                </a:solidFill>
                <a:latin typeface="Helvetica Neue"/>
              </a:rPr>
              <a:t>Address lookups and their measured outlines.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TextBox 1"/>
          <p:cNvSpPr txBox="1"/>
          <p:nvPr/>
        </p:nvSpPr>
        <p:spPr>
          <a:xfrm>
            <a:off x="761969" y="6291072"/>
            <a:ext cx="5334015" cy="274320"/>
          </a:xfrm>
          <a:prstGeom prst="rect">
            <a:avLst/>
          </a:prstGeom>
          <a:noFill/>
        </p:spPr>
        <p:txBody>
          <a:bodyPr wrap="square" anchor="t" lIns="0" rIns="0" tIns="0" bIns="0">
            <a:spAutoFit/>
          </a:bodyPr>
          <a:lstStyle/>
          <a:p>
            <a:pPr algn="l">
              <a:lnSpc>
                <a:spcPct val="120000"/>
              </a:lnSpc>
              <a:spcAft>
                <a:spcPts val="0"/>
              </a:spcAft>
            </a:pPr>
            <a:r>
              <a:rPr sz="850" b="0">
                <a:solidFill>
                  <a:srgbClr val="77736C"/>
                </a:solidFill>
                <a:latin typeface="Helvetica Neue"/>
              </a:rPr>
              <a:t>Acon x Dell Pro Max GB10</a:t>
            </a:r>
          </a:p>
        </p:txBody>
      </p:sp>
      <p:sp>
        <p:nvSpPr>
          <p:cNvPr id="3" name="TextBox 2"/>
          <p:cNvSpPr txBox="1"/>
          <p:nvPr/>
        </p:nvSpPr>
        <p:spPr>
          <a:xfrm>
            <a:off x="10096496" y="6291072"/>
            <a:ext cx="1333503" cy="274320"/>
          </a:xfrm>
          <a:prstGeom prst="rect">
            <a:avLst/>
          </a:prstGeom>
          <a:noFill/>
        </p:spPr>
        <p:txBody>
          <a:bodyPr wrap="square" anchor="t" lIns="0" rIns="0" tIns="0" bIns="0">
            <a:spAutoFit/>
          </a:bodyPr>
          <a:lstStyle/>
          <a:p>
            <a:pPr algn="r">
              <a:lnSpc>
                <a:spcPct val="120000"/>
              </a:lnSpc>
              <a:spcAft>
                <a:spcPts val="0"/>
              </a:spcAft>
            </a:pPr>
            <a:r>
              <a:rPr sz="850" b="0">
                <a:solidFill>
                  <a:srgbClr val="77736C"/>
                </a:solidFill>
                <a:latin typeface="Helvetica Neue"/>
              </a:rPr>
              <a:t>21</a:t>
            </a:r>
          </a:p>
        </p:txBody>
      </p:sp>
      <p:sp>
        <p:nvSpPr>
          <p:cNvPr id="4" name="TextBox 3"/>
          <p:cNvSpPr txBox="1"/>
          <p:nvPr/>
        </p:nvSpPr>
        <p:spPr>
          <a:xfrm>
            <a:off x="761969" y="761969"/>
            <a:ext cx="6667519" cy="274320"/>
          </a:xfrm>
          <a:prstGeom prst="rect">
            <a:avLst/>
          </a:prstGeom>
          <a:noFill/>
        </p:spPr>
        <p:txBody>
          <a:bodyPr wrap="square" anchor="t" lIns="0" rIns="0" tIns="0" bIns="0">
            <a:spAutoFit/>
          </a:bodyPr>
          <a:lstStyle/>
          <a:p>
            <a:pPr algn="l">
              <a:lnSpc>
                <a:spcPct val="120000"/>
              </a:lnSpc>
              <a:spcAft>
                <a:spcPts val="0"/>
              </a:spcAft>
            </a:pPr>
            <a:r>
              <a:rPr sz="950" b="1">
                <a:solidFill>
                  <a:srgbClr val="0F766E"/>
                </a:solidFill>
                <a:latin typeface="Helvetica Neue"/>
              </a:rPr>
              <a:t>05 — SIDE BY SIDE</a:t>
            </a:r>
          </a:p>
        </p:txBody>
      </p:sp>
      <p:sp>
        <p:nvSpPr>
          <p:cNvPr id="5" name="TextBox 4"/>
          <p:cNvSpPr txBox="1"/>
          <p:nvPr/>
        </p:nvSpPr>
        <p:spPr>
          <a:xfrm>
            <a:off x="761969" y="1188720"/>
            <a:ext cx="6667519" cy="640080"/>
          </a:xfrm>
          <a:prstGeom prst="rect">
            <a:avLst/>
          </a:prstGeom>
          <a:noFill/>
        </p:spPr>
        <p:txBody>
          <a:bodyPr wrap="square" anchor="t" lIns="0" rIns="0" tIns="0" bIns="0">
            <a:spAutoFit/>
          </a:bodyPr>
          <a:lstStyle/>
          <a:p>
            <a:pPr algn="l">
              <a:lnSpc>
                <a:spcPct val="102000"/>
              </a:lnSpc>
              <a:spcAft>
                <a:spcPts val="0"/>
              </a:spcAft>
            </a:pPr>
            <a:r>
              <a:rPr sz="2600" b="1">
                <a:solidFill>
                  <a:srgbClr val="141413"/>
                </a:solidFill>
                <a:latin typeface="Helvetica Neue"/>
              </a:rPr>
              <a:t>Cloud today. Our own office instead.</a:t>
            </a:r>
          </a:p>
        </p:txBody>
      </p:sp>
      <p:sp>
        <p:nvSpPr>
          <p:cNvPr id="6" name="Rectangle 5"/>
          <p:cNvSpPr/>
          <p:nvPr/>
        </p:nvSpPr>
        <p:spPr>
          <a:xfrm>
            <a:off x="761969" y="2194560"/>
            <a:ext cx="10267979" cy="12801"/>
          </a:xfrm>
          <a:prstGeom prst="rect">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1969" y="2331720"/>
            <a:ext cx="3600460" cy="320040"/>
          </a:xfrm>
          <a:prstGeom prst="rect">
            <a:avLst/>
          </a:prstGeom>
          <a:noFill/>
        </p:spPr>
        <p:txBody>
          <a:bodyPr wrap="square" anchor="t" lIns="0" rIns="0" tIns="0" bIns="0">
            <a:spAutoFit/>
          </a:bodyPr>
          <a:lstStyle/>
          <a:p>
            <a:pPr algn="l">
              <a:lnSpc>
                <a:spcPct val="120000"/>
              </a:lnSpc>
              <a:spcAft>
                <a:spcPts val="0"/>
              </a:spcAft>
            </a:pPr>
            <a:r>
              <a:rPr sz="900" b="1">
                <a:solidFill>
                  <a:srgbClr val="141413"/>
                </a:solidFill>
                <a:latin typeface="Helvetica Neue"/>
              </a:rPr>
              <a:t/>
            </a:r>
          </a:p>
        </p:txBody>
      </p:sp>
      <p:sp>
        <p:nvSpPr>
          <p:cNvPr id="8" name="TextBox 7"/>
          <p:cNvSpPr txBox="1"/>
          <p:nvPr/>
        </p:nvSpPr>
        <p:spPr>
          <a:xfrm>
            <a:off x="4629130" y="2331720"/>
            <a:ext cx="2933708" cy="320040"/>
          </a:xfrm>
          <a:prstGeom prst="rect">
            <a:avLst/>
          </a:prstGeom>
          <a:noFill/>
        </p:spPr>
        <p:txBody>
          <a:bodyPr wrap="square" anchor="t" lIns="0" rIns="0" tIns="0" bIns="0">
            <a:spAutoFit/>
          </a:bodyPr>
          <a:lstStyle/>
          <a:p>
            <a:pPr algn="l">
              <a:lnSpc>
                <a:spcPct val="120000"/>
              </a:lnSpc>
              <a:spcAft>
                <a:spcPts val="0"/>
              </a:spcAft>
            </a:pPr>
            <a:r>
              <a:rPr sz="900" b="1">
                <a:solidFill>
                  <a:srgbClr val="0F766E"/>
                </a:solidFill>
                <a:latin typeface="Helvetica Neue"/>
              </a:rPr>
              <a:t>OUTSIDE SERVICE (TODAY)</a:t>
            </a:r>
          </a:p>
        </p:txBody>
      </p:sp>
      <p:sp>
        <p:nvSpPr>
          <p:cNvPr id="9" name="TextBox 8"/>
          <p:cNvSpPr txBox="1"/>
          <p:nvPr/>
        </p:nvSpPr>
        <p:spPr>
          <a:xfrm>
            <a:off x="7696189" y="2331720"/>
            <a:ext cx="3333759" cy="320040"/>
          </a:xfrm>
          <a:prstGeom prst="rect">
            <a:avLst/>
          </a:prstGeom>
          <a:noFill/>
        </p:spPr>
        <p:txBody>
          <a:bodyPr wrap="square" anchor="t" lIns="0" rIns="0" tIns="0" bIns="0">
            <a:spAutoFit/>
          </a:bodyPr>
          <a:lstStyle/>
          <a:p>
            <a:pPr algn="l">
              <a:lnSpc>
                <a:spcPct val="120000"/>
              </a:lnSpc>
              <a:spcAft>
                <a:spcPts val="0"/>
              </a:spcAft>
            </a:pPr>
            <a:r>
              <a:rPr sz="900" b="1">
                <a:solidFill>
                  <a:srgbClr val="0F766E"/>
                </a:solidFill>
                <a:latin typeface="Helvetica Neue"/>
              </a:rPr>
              <a:t>OUR OWN MACHINE (TARGET)</a:t>
            </a:r>
          </a:p>
        </p:txBody>
      </p:sp>
      <p:sp>
        <p:nvSpPr>
          <p:cNvPr id="10" name="TextBox 9"/>
          <p:cNvSpPr txBox="1"/>
          <p:nvPr/>
        </p:nvSpPr>
        <p:spPr>
          <a:xfrm>
            <a:off x="761969" y="2724912"/>
            <a:ext cx="3600460" cy="365760"/>
          </a:xfrm>
          <a:prstGeom prst="rect">
            <a:avLst/>
          </a:prstGeom>
          <a:noFill/>
        </p:spPr>
        <p:txBody>
          <a:bodyPr wrap="square" anchor="t" lIns="0" rIns="0" tIns="0" bIns="0">
            <a:spAutoFit/>
          </a:bodyPr>
          <a:lstStyle/>
          <a:p>
            <a:pPr algn="l">
              <a:lnSpc>
                <a:spcPct val="120000"/>
              </a:lnSpc>
              <a:spcAft>
                <a:spcPts val="0"/>
              </a:spcAft>
            </a:pPr>
            <a:r>
              <a:rPr sz="1050" b="1">
                <a:solidFill>
                  <a:srgbClr val="141413"/>
                </a:solidFill>
                <a:latin typeface="Helvetica Neue"/>
              </a:rPr>
              <a:t>Where the thinking happens</a:t>
            </a:r>
          </a:p>
        </p:txBody>
      </p:sp>
      <p:sp>
        <p:nvSpPr>
          <p:cNvPr id="11" name="TextBox 10"/>
          <p:cNvSpPr txBox="1"/>
          <p:nvPr/>
        </p:nvSpPr>
        <p:spPr>
          <a:xfrm>
            <a:off x="4629130" y="2724912"/>
            <a:ext cx="2933708" cy="365760"/>
          </a:xfrm>
          <a:prstGeom prst="rect">
            <a:avLst/>
          </a:prstGeom>
          <a:noFill/>
        </p:spPr>
        <p:txBody>
          <a:bodyPr wrap="square" anchor="t" lIns="0" rIns="0" tIns="0" bIns="0">
            <a:spAutoFit/>
          </a:bodyPr>
          <a:lstStyle/>
          <a:p>
            <a:pPr algn="l">
              <a:lnSpc>
                <a:spcPct val="120000"/>
              </a:lnSpc>
              <a:spcAft>
                <a:spcPts val="0"/>
              </a:spcAft>
            </a:pPr>
            <a:r>
              <a:rPr sz="1050" b="0">
                <a:solidFill>
                  <a:srgbClr val="77736C"/>
                </a:solidFill>
                <a:latin typeface="Helvetica Neue"/>
              </a:rPr>
              <a:t>Someone else's servers</a:t>
            </a:r>
          </a:p>
        </p:txBody>
      </p:sp>
      <p:sp>
        <p:nvSpPr>
          <p:cNvPr id="12" name="TextBox 11"/>
          <p:cNvSpPr txBox="1"/>
          <p:nvPr/>
        </p:nvSpPr>
        <p:spPr>
          <a:xfrm>
            <a:off x="7696189" y="2724912"/>
            <a:ext cx="3333759" cy="365760"/>
          </a:xfrm>
          <a:prstGeom prst="rect">
            <a:avLst/>
          </a:prstGeom>
          <a:noFill/>
        </p:spPr>
        <p:txBody>
          <a:bodyPr wrap="square" anchor="t" lIns="0" rIns="0" tIns="0" bIns="0">
            <a:spAutoFit/>
          </a:bodyPr>
          <a:lstStyle/>
          <a:p>
            <a:pPr algn="l">
              <a:lnSpc>
                <a:spcPct val="120000"/>
              </a:lnSpc>
              <a:spcAft>
                <a:spcPts val="0"/>
              </a:spcAft>
            </a:pPr>
            <a:r>
              <a:rPr sz="1050" b="0">
                <a:solidFill>
                  <a:srgbClr val="77736C"/>
                </a:solidFill>
                <a:latin typeface="Helvetica Neue"/>
              </a:rPr>
              <a:t>A machine in our office</a:t>
            </a:r>
          </a:p>
        </p:txBody>
      </p:sp>
      <p:sp>
        <p:nvSpPr>
          <p:cNvPr id="13" name="Rectangle 12"/>
          <p:cNvSpPr/>
          <p:nvPr/>
        </p:nvSpPr>
        <p:spPr>
          <a:xfrm>
            <a:off x="761969" y="3090672"/>
            <a:ext cx="10267979"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1969" y="3218688"/>
            <a:ext cx="3600460" cy="365760"/>
          </a:xfrm>
          <a:prstGeom prst="rect">
            <a:avLst/>
          </a:prstGeom>
          <a:noFill/>
        </p:spPr>
        <p:txBody>
          <a:bodyPr wrap="square" anchor="t" lIns="0" rIns="0" tIns="0" bIns="0">
            <a:spAutoFit/>
          </a:bodyPr>
          <a:lstStyle/>
          <a:p>
            <a:pPr algn="l">
              <a:lnSpc>
                <a:spcPct val="120000"/>
              </a:lnSpc>
              <a:spcAft>
                <a:spcPts val="0"/>
              </a:spcAft>
            </a:pPr>
            <a:r>
              <a:rPr sz="1050" b="1">
                <a:solidFill>
                  <a:srgbClr val="141413"/>
                </a:solidFill>
                <a:latin typeface="Helvetica Neue"/>
              </a:rPr>
              <a:t>Drawings leave the firm</a:t>
            </a:r>
          </a:p>
        </p:txBody>
      </p:sp>
      <p:sp>
        <p:nvSpPr>
          <p:cNvPr id="15" name="TextBox 14"/>
          <p:cNvSpPr txBox="1"/>
          <p:nvPr/>
        </p:nvSpPr>
        <p:spPr>
          <a:xfrm>
            <a:off x="4629130" y="3218688"/>
            <a:ext cx="2933708" cy="365760"/>
          </a:xfrm>
          <a:prstGeom prst="rect">
            <a:avLst/>
          </a:prstGeom>
          <a:noFill/>
        </p:spPr>
        <p:txBody>
          <a:bodyPr wrap="square" anchor="t" lIns="0" rIns="0" tIns="0" bIns="0">
            <a:spAutoFit/>
          </a:bodyPr>
          <a:lstStyle/>
          <a:p>
            <a:pPr algn="l">
              <a:lnSpc>
                <a:spcPct val="120000"/>
              </a:lnSpc>
              <a:spcAft>
                <a:spcPts val="0"/>
              </a:spcAft>
            </a:pPr>
            <a:r>
              <a:rPr sz="1050" b="0">
                <a:solidFill>
                  <a:srgbClr val="77736C"/>
                </a:solidFill>
                <a:latin typeface="Helvetica Neue"/>
              </a:rPr>
              <a:t>Yes</a:t>
            </a:r>
          </a:p>
        </p:txBody>
      </p:sp>
      <p:sp>
        <p:nvSpPr>
          <p:cNvPr id="16" name="TextBox 15"/>
          <p:cNvSpPr txBox="1"/>
          <p:nvPr/>
        </p:nvSpPr>
        <p:spPr>
          <a:xfrm>
            <a:off x="7696189" y="3218688"/>
            <a:ext cx="3333759" cy="365760"/>
          </a:xfrm>
          <a:prstGeom prst="rect">
            <a:avLst/>
          </a:prstGeom>
          <a:noFill/>
        </p:spPr>
        <p:txBody>
          <a:bodyPr wrap="square" anchor="t" lIns="0" rIns="0" tIns="0" bIns="0">
            <a:spAutoFit/>
          </a:bodyPr>
          <a:lstStyle/>
          <a:p>
            <a:pPr algn="l">
              <a:lnSpc>
                <a:spcPct val="120000"/>
              </a:lnSpc>
              <a:spcAft>
                <a:spcPts val="0"/>
              </a:spcAft>
            </a:pPr>
            <a:r>
              <a:rPr sz="1050" b="0">
                <a:solidFill>
                  <a:srgbClr val="77736C"/>
                </a:solidFill>
                <a:latin typeface="Helvetica Neue"/>
              </a:rPr>
              <a:t>No</a:t>
            </a:r>
          </a:p>
        </p:txBody>
      </p:sp>
      <p:sp>
        <p:nvSpPr>
          <p:cNvPr id="17" name="Rectangle 16"/>
          <p:cNvSpPr/>
          <p:nvPr/>
        </p:nvSpPr>
        <p:spPr>
          <a:xfrm>
            <a:off x="761969" y="3584448"/>
            <a:ext cx="10267979"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1969" y="3712464"/>
            <a:ext cx="3600460" cy="365760"/>
          </a:xfrm>
          <a:prstGeom prst="rect">
            <a:avLst/>
          </a:prstGeom>
          <a:noFill/>
        </p:spPr>
        <p:txBody>
          <a:bodyPr wrap="square" anchor="t" lIns="0" rIns="0" tIns="0" bIns="0">
            <a:spAutoFit/>
          </a:bodyPr>
          <a:lstStyle/>
          <a:p>
            <a:pPr algn="l">
              <a:lnSpc>
                <a:spcPct val="120000"/>
              </a:lnSpc>
              <a:spcAft>
                <a:spcPts val="0"/>
              </a:spcAft>
            </a:pPr>
            <a:r>
              <a:rPr sz="1050" b="1">
                <a:solidFill>
                  <a:srgbClr val="141413"/>
                </a:solidFill>
                <a:latin typeface="Helvetica Neue"/>
              </a:rPr>
              <a:t>Works without internet</a:t>
            </a:r>
          </a:p>
        </p:txBody>
      </p:sp>
      <p:sp>
        <p:nvSpPr>
          <p:cNvPr id="19" name="TextBox 18"/>
          <p:cNvSpPr txBox="1"/>
          <p:nvPr/>
        </p:nvSpPr>
        <p:spPr>
          <a:xfrm>
            <a:off x="4629130" y="3712464"/>
            <a:ext cx="2933708" cy="365760"/>
          </a:xfrm>
          <a:prstGeom prst="rect">
            <a:avLst/>
          </a:prstGeom>
          <a:noFill/>
        </p:spPr>
        <p:txBody>
          <a:bodyPr wrap="square" anchor="t" lIns="0" rIns="0" tIns="0" bIns="0">
            <a:spAutoFit/>
          </a:bodyPr>
          <a:lstStyle/>
          <a:p>
            <a:pPr algn="l">
              <a:lnSpc>
                <a:spcPct val="120000"/>
              </a:lnSpc>
              <a:spcAft>
                <a:spcPts val="0"/>
              </a:spcAft>
            </a:pPr>
            <a:r>
              <a:rPr sz="1050" b="0">
                <a:solidFill>
                  <a:srgbClr val="77736C"/>
                </a:solidFill>
                <a:latin typeface="Helvetica Neue"/>
              </a:rPr>
              <a:t>No</a:t>
            </a:r>
          </a:p>
        </p:txBody>
      </p:sp>
      <p:sp>
        <p:nvSpPr>
          <p:cNvPr id="20" name="TextBox 19"/>
          <p:cNvSpPr txBox="1"/>
          <p:nvPr/>
        </p:nvSpPr>
        <p:spPr>
          <a:xfrm>
            <a:off x="7696189" y="3712464"/>
            <a:ext cx="3333759" cy="365760"/>
          </a:xfrm>
          <a:prstGeom prst="rect">
            <a:avLst/>
          </a:prstGeom>
          <a:noFill/>
        </p:spPr>
        <p:txBody>
          <a:bodyPr wrap="square" anchor="t" lIns="0" rIns="0" tIns="0" bIns="0">
            <a:spAutoFit/>
          </a:bodyPr>
          <a:lstStyle/>
          <a:p>
            <a:pPr algn="l">
              <a:lnSpc>
                <a:spcPct val="120000"/>
              </a:lnSpc>
              <a:spcAft>
                <a:spcPts val="0"/>
              </a:spcAft>
            </a:pPr>
            <a:r>
              <a:rPr sz="1050" b="0">
                <a:solidFill>
                  <a:srgbClr val="77736C"/>
                </a:solidFill>
                <a:latin typeface="Helvetica Neue"/>
              </a:rPr>
              <a:t>Yes</a:t>
            </a:r>
          </a:p>
        </p:txBody>
      </p:sp>
      <p:sp>
        <p:nvSpPr>
          <p:cNvPr id="21" name="Rectangle 20"/>
          <p:cNvSpPr/>
          <p:nvPr/>
        </p:nvSpPr>
        <p:spPr>
          <a:xfrm>
            <a:off x="761969" y="4078224"/>
            <a:ext cx="10267979"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1969" y="4206240"/>
            <a:ext cx="3600460" cy="365760"/>
          </a:xfrm>
          <a:prstGeom prst="rect">
            <a:avLst/>
          </a:prstGeom>
          <a:noFill/>
        </p:spPr>
        <p:txBody>
          <a:bodyPr wrap="square" anchor="t" lIns="0" rIns="0" tIns="0" bIns="0">
            <a:spAutoFit/>
          </a:bodyPr>
          <a:lstStyle/>
          <a:p>
            <a:pPr algn="l">
              <a:lnSpc>
                <a:spcPct val="120000"/>
              </a:lnSpc>
              <a:spcAft>
                <a:spcPts val="0"/>
              </a:spcAft>
            </a:pPr>
            <a:r>
              <a:rPr sz="1050" b="1">
                <a:solidFill>
                  <a:srgbClr val="141413"/>
                </a:solidFill>
                <a:latin typeface="Helvetica Neue"/>
              </a:rPr>
              <a:t>Can read a drawing set</a:t>
            </a:r>
          </a:p>
        </p:txBody>
      </p:sp>
      <p:sp>
        <p:nvSpPr>
          <p:cNvPr id="23" name="TextBox 22"/>
          <p:cNvSpPr txBox="1"/>
          <p:nvPr/>
        </p:nvSpPr>
        <p:spPr>
          <a:xfrm>
            <a:off x="4629130" y="4206240"/>
            <a:ext cx="2933708" cy="365760"/>
          </a:xfrm>
          <a:prstGeom prst="rect">
            <a:avLst/>
          </a:prstGeom>
          <a:noFill/>
        </p:spPr>
        <p:txBody>
          <a:bodyPr wrap="square" anchor="t" lIns="0" rIns="0" tIns="0" bIns="0">
            <a:spAutoFit/>
          </a:bodyPr>
          <a:lstStyle/>
          <a:p>
            <a:pPr algn="l">
              <a:lnSpc>
                <a:spcPct val="120000"/>
              </a:lnSpc>
              <a:spcAft>
                <a:spcPts val="0"/>
              </a:spcAft>
            </a:pPr>
            <a:r>
              <a:rPr sz="1050" b="0">
                <a:solidFill>
                  <a:srgbClr val="77736C"/>
                </a:solidFill>
                <a:latin typeface="Helvetica Neue"/>
              </a:rPr>
              <a:t>Not properly</a:t>
            </a:r>
          </a:p>
        </p:txBody>
      </p:sp>
      <p:sp>
        <p:nvSpPr>
          <p:cNvPr id="24" name="TextBox 23"/>
          <p:cNvSpPr txBox="1"/>
          <p:nvPr/>
        </p:nvSpPr>
        <p:spPr>
          <a:xfrm>
            <a:off x="7696189" y="4206240"/>
            <a:ext cx="3333759" cy="365760"/>
          </a:xfrm>
          <a:prstGeom prst="rect">
            <a:avLst/>
          </a:prstGeom>
          <a:noFill/>
        </p:spPr>
        <p:txBody>
          <a:bodyPr wrap="square" anchor="t" lIns="0" rIns="0" tIns="0" bIns="0">
            <a:spAutoFit/>
          </a:bodyPr>
          <a:lstStyle/>
          <a:p>
            <a:pPr algn="l">
              <a:lnSpc>
                <a:spcPct val="120000"/>
              </a:lnSpc>
              <a:spcAft>
                <a:spcPts val="0"/>
              </a:spcAft>
            </a:pPr>
            <a:r>
              <a:rPr sz="1050" b="0">
                <a:solidFill>
                  <a:srgbClr val="77736C"/>
                </a:solidFill>
                <a:latin typeface="Helvetica Neue"/>
              </a:rPr>
              <a:t>Yes, it sees the page</a:t>
            </a:r>
          </a:p>
        </p:txBody>
      </p:sp>
      <p:sp>
        <p:nvSpPr>
          <p:cNvPr id="25" name="Rectangle 24"/>
          <p:cNvSpPr/>
          <p:nvPr/>
        </p:nvSpPr>
        <p:spPr>
          <a:xfrm>
            <a:off x="761969" y="4572000"/>
            <a:ext cx="10267979"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1969" y="4700016"/>
            <a:ext cx="3600460" cy="365760"/>
          </a:xfrm>
          <a:prstGeom prst="rect">
            <a:avLst/>
          </a:prstGeom>
          <a:noFill/>
        </p:spPr>
        <p:txBody>
          <a:bodyPr wrap="square" anchor="t" lIns="0" rIns="0" tIns="0" bIns="0">
            <a:spAutoFit/>
          </a:bodyPr>
          <a:lstStyle/>
          <a:p>
            <a:pPr algn="l">
              <a:lnSpc>
                <a:spcPct val="120000"/>
              </a:lnSpc>
              <a:spcAft>
                <a:spcPts val="0"/>
              </a:spcAft>
            </a:pPr>
            <a:r>
              <a:rPr sz="1050" b="1">
                <a:solidFill>
                  <a:srgbClr val="141413"/>
                </a:solidFill>
                <a:latin typeface="Helvetica Neue"/>
              </a:rPr>
              <a:t>Cost per revision</a:t>
            </a:r>
          </a:p>
        </p:txBody>
      </p:sp>
      <p:sp>
        <p:nvSpPr>
          <p:cNvPr id="27" name="TextBox 26"/>
          <p:cNvSpPr txBox="1"/>
          <p:nvPr/>
        </p:nvSpPr>
        <p:spPr>
          <a:xfrm>
            <a:off x="4629130" y="4700016"/>
            <a:ext cx="2933708" cy="365760"/>
          </a:xfrm>
          <a:prstGeom prst="rect">
            <a:avLst/>
          </a:prstGeom>
          <a:noFill/>
        </p:spPr>
        <p:txBody>
          <a:bodyPr wrap="square" anchor="t" lIns="0" rIns="0" tIns="0" bIns="0">
            <a:spAutoFit/>
          </a:bodyPr>
          <a:lstStyle/>
          <a:p>
            <a:pPr algn="l">
              <a:lnSpc>
                <a:spcPct val="120000"/>
              </a:lnSpc>
              <a:spcAft>
                <a:spcPts val="0"/>
              </a:spcAft>
            </a:pPr>
            <a:r>
              <a:rPr sz="1050" b="0">
                <a:solidFill>
                  <a:srgbClr val="77736C"/>
                </a:solidFill>
                <a:latin typeface="Helvetica Neue"/>
              </a:rPr>
              <a:t>Charged per request</a:t>
            </a:r>
          </a:p>
        </p:txBody>
      </p:sp>
      <p:sp>
        <p:nvSpPr>
          <p:cNvPr id="28" name="TextBox 27"/>
          <p:cNvSpPr txBox="1"/>
          <p:nvPr/>
        </p:nvSpPr>
        <p:spPr>
          <a:xfrm>
            <a:off x="7696189" y="4700016"/>
            <a:ext cx="3333759" cy="365760"/>
          </a:xfrm>
          <a:prstGeom prst="rect">
            <a:avLst/>
          </a:prstGeom>
          <a:noFill/>
        </p:spPr>
        <p:txBody>
          <a:bodyPr wrap="square" anchor="t" lIns="0" rIns="0" tIns="0" bIns="0">
            <a:spAutoFit/>
          </a:bodyPr>
          <a:lstStyle/>
          <a:p>
            <a:pPr algn="l">
              <a:lnSpc>
                <a:spcPct val="120000"/>
              </a:lnSpc>
              <a:spcAft>
                <a:spcPts val="0"/>
              </a:spcAft>
            </a:pPr>
            <a:r>
              <a:rPr sz="1050" b="0">
                <a:solidFill>
                  <a:srgbClr val="77736C"/>
                </a:solidFill>
                <a:latin typeface="Helvetica Neue"/>
              </a:rPr>
              <a:t>Nothing</a:t>
            </a:r>
          </a:p>
        </p:txBody>
      </p:sp>
      <p:sp>
        <p:nvSpPr>
          <p:cNvPr id="29" name="Rectangle 28"/>
          <p:cNvSpPr/>
          <p:nvPr/>
        </p:nvSpPr>
        <p:spPr>
          <a:xfrm>
            <a:off x="761969" y="5065776"/>
            <a:ext cx="10267979"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1969" y="5193792"/>
            <a:ext cx="3600460" cy="365760"/>
          </a:xfrm>
          <a:prstGeom prst="rect">
            <a:avLst/>
          </a:prstGeom>
          <a:noFill/>
        </p:spPr>
        <p:txBody>
          <a:bodyPr wrap="square" anchor="t" lIns="0" rIns="0" tIns="0" bIns="0">
            <a:spAutoFit/>
          </a:bodyPr>
          <a:lstStyle/>
          <a:p>
            <a:pPr algn="l">
              <a:lnSpc>
                <a:spcPct val="120000"/>
              </a:lnSpc>
              <a:spcAft>
                <a:spcPts val="0"/>
              </a:spcAft>
            </a:pPr>
            <a:r>
              <a:rPr sz="1050" b="1">
                <a:solidFill>
                  <a:srgbClr val="141413"/>
                </a:solidFill>
                <a:latin typeface="Helvetica Neue"/>
              </a:rPr>
              <a:t>Outside company involved</a:t>
            </a:r>
          </a:p>
        </p:txBody>
      </p:sp>
      <p:sp>
        <p:nvSpPr>
          <p:cNvPr id="31" name="TextBox 30"/>
          <p:cNvSpPr txBox="1"/>
          <p:nvPr/>
        </p:nvSpPr>
        <p:spPr>
          <a:xfrm>
            <a:off x="4629130" y="5193792"/>
            <a:ext cx="2933708" cy="365760"/>
          </a:xfrm>
          <a:prstGeom prst="rect">
            <a:avLst/>
          </a:prstGeom>
          <a:noFill/>
        </p:spPr>
        <p:txBody>
          <a:bodyPr wrap="square" anchor="t" lIns="0" rIns="0" tIns="0" bIns="0">
            <a:spAutoFit/>
          </a:bodyPr>
          <a:lstStyle/>
          <a:p>
            <a:pPr algn="l">
              <a:lnSpc>
                <a:spcPct val="120000"/>
              </a:lnSpc>
              <a:spcAft>
                <a:spcPts val="0"/>
              </a:spcAft>
            </a:pPr>
            <a:r>
              <a:rPr sz="1050" b="0">
                <a:solidFill>
                  <a:srgbClr val="77736C"/>
                </a:solidFill>
                <a:latin typeface="Helvetica Neue"/>
              </a:rPr>
              <a:t>Yes</a:t>
            </a:r>
          </a:p>
        </p:txBody>
      </p:sp>
      <p:sp>
        <p:nvSpPr>
          <p:cNvPr id="32" name="TextBox 31"/>
          <p:cNvSpPr txBox="1"/>
          <p:nvPr/>
        </p:nvSpPr>
        <p:spPr>
          <a:xfrm>
            <a:off x="7696189" y="5193792"/>
            <a:ext cx="3333759" cy="365760"/>
          </a:xfrm>
          <a:prstGeom prst="rect">
            <a:avLst/>
          </a:prstGeom>
          <a:noFill/>
        </p:spPr>
        <p:txBody>
          <a:bodyPr wrap="square" anchor="t" lIns="0" rIns="0" tIns="0" bIns="0">
            <a:spAutoFit/>
          </a:bodyPr>
          <a:lstStyle/>
          <a:p>
            <a:pPr algn="l">
              <a:lnSpc>
                <a:spcPct val="120000"/>
              </a:lnSpc>
              <a:spcAft>
                <a:spcPts val="0"/>
              </a:spcAft>
            </a:pPr>
            <a:r>
              <a:rPr sz="1050" b="0">
                <a:solidFill>
                  <a:srgbClr val="77736C"/>
                </a:solidFill>
                <a:latin typeface="Helvetica Neue"/>
              </a:rPr>
              <a:t>No</a:t>
            </a:r>
          </a:p>
        </p:txBody>
      </p:sp>
      <p:sp>
        <p:nvSpPr>
          <p:cNvPr id="33" name="Rectangle 32"/>
          <p:cNvSpPr/>
          <p:nvPr/>
        </p:nvSpPr>
        <p:spPr>
          <a:xfrm>
            <a:off x="761969" y="5559552"/>
            <a:ext cx="10267979"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1969" y="5687568"/>
            <a:ext cx="3600460" cy="365760"/>
          </a:xfrm>
          <a:prstGeom prst="rect">
            <a:avLst/>
          </a:prstGeom>
          <a:noFill/>
        </p:spPr>
        <p:txBody>
          <a:bodyPr wrap="square" anchor="t" lIns="0" rIns="0" tIns="0" bIns="0">
            <a:spAutoFit/>
          </a:bodyPr>
          <a:lstStyle/>
          <a:p>
            <a:pPr algn="l">
              <a:lnSpc>
                <a:spcPct val="120000"/>
              </a:lnSpc>
              <a:spcAft>
                <a:spcPts val="0"/>
              </a:spcAft>
            </a:pPr>
            <a:r>
              <a:rPr sz="1050" b="1">
                <a:solidFill>
                  <a:srgbClr val="141413"/>
                </a:solidFill>
                <a:latin typeface="Helvetica Neue"/>
              </a:rPr>
              <a:t>What clients must be told</a:t>
            </a:r>
          </a:p>
        </p:txBody>
      </p:sp>
      <p:sp>
        <p:nvSpPr>
          <p:cNvPr id="35" name="TextBox 34"/>
          <p:cNvSpPr txBox="1"/>
          <p:nvPr/>
        </p:nvSpPr>
        <p:spPr>
          <a:xfrm>
            <a:off x="4629130" y="5687568"/>
            <a:ext cx="2933708" cy="365760"/>
          </a:xfrm>
          <a:prstGeom prst="rect">
            <a:avLst/>
          </a:prstGeom>
          <a:noFill/>
        </p:spPr>
        <p:txBody>
          <a:bodyPr wrap="square" anchor="t" lIns="0" rIns="0" tIns="0" bIns="0">
            <a:spAutoFit/>
          </a:bodyPr>
          <a:lstStyle/>
          <a:p>
            <a:pPr algn="l">
              <a:lnSpc>
                <a:spcPct val="120000"/>
              </a:lnSpc>
              <a:spcAft>
                <a:spcPts val="0"/>
              </a:spcAft>
            </a:pPr>
            <a:r>
              <a:rPr sz="1050" b="0">
                <a:solidFill>
                  <a:srgbClr val="77736C"/>
                </a:solidFill>
                <a:latin typeface="Helvetica Neue"/>
              </a:rPr>
              <a:t>Their documents go elsewhere</a:t>
            </a:r>
          </a:p>
        </p:txBody>
      </p:sp>
      <p:sp>
        <p:nvSpPr>
          <p:cNvPr id="36" name="TextBox 35"/>
          <p:cNvSpPr txBox="1"/>
          <p:nvPr/>
        </p:nvSpPr>
        <p:spPr>
          <a:xfrm>
            <a:off x="7696189" y="5687568"/>
            <a:ext cx="3333759" cy="365760"/>
          </a:xfrm>
          <a:prstGeom prst="rect">
            <a:avLst/>
          </a:prstGeom>
          <a:noFill/>
        </p:spPr>
        <p:txBody>
          <a:bodyPr wrap="square" anchor="t" lIns="0" rIns="0" tIns="0" bIns="0">
            <a:spAutoFit/>
          </a:bodyPr>
          <a:lstStyle/>
          <a:p>
            <a:pPr algn="l">
              <a:lnSpc>
                <a:spcPct val="120000"/>
              </a:lnSpc>
              <a:spcAft>
                <a:spcPts val="0"/>
              </a:spcAft>
            </a:pPr>
            <a:r>
              <a:rPr sz="1050" b="0">
                <a:solidFill>
                  <a:srgbClr val="77736C"/>
                </a:solidFill>
                <a:latin typeface="Helvetica Neue"/>
              </a:rPr>
              <a:t>Nothing</a:t>
            </a:r>
          </a:p>
        </p:txBody>
      </p:sp>
      <p:sp>
        <p:nvSpPr>
          <p:cNvPr id="37" name="Rectangle 36"/>
          <p:cNvSpPr/>
          <p:nvPr/>
        </p:nvSpPr>
        <p:spPr>
          <a:xfrm>
            <a:off x="761969" y="6053328"/>
            <a:ext cx="10267979"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TextBox 1"/>
          <p:cNvSpPr txBox="1"/>
          <p:nvPr/>
        </p:nvSpPr>
        <p:spPr>
          <a:xfrm>
            <a:off x="761969" y="6291072"/>
            <a:ext cx="5334015" cy="274320"/>
          </a:xfrm>
          <a:prstGeom prst="rect">
            <a:avLst/>
          </a:prstGeom>
          <a:noFill/>
        </p:spPr>
        <p:txBody>
          <a:bodyPr wrap="square" anchor="t" lIns="0" rIns="0" tIns="0" bIns="0">
            <a:spAutoFit/>
          </a:bodyPr>
          <a:lstStyle/>
          <a:p>
            <a:pPr algn="l">
              <a:lnSpc>
                <a:spcPct val="120000"/>
              </a:lnSpc>
              <a:spcAft>
                <a:spcPts val="0"/>
              </a:spcAft>
            </a:pPr>
            <a:r>
              <a:rPr sz="850" b="0">
                <a:solidFill>
                  <a:srgbClr val="77736C"/>
                </a:solidFill>
                <a:latin typeface="Helvetica Neue"/>
              </a:rPr>
              <a:t>Acon x Dell Pro Max GB10</a:t>
            </a:r>
          </a:p>
        </p:txBody>
      </p:sp>
      <p:sp>
        <p:nvSpPr>
          <p:cNvPr id="3" name="TextBox 2"/>
          <p:cNvSpPr txBox="1"/>
          <p:nvPr/>
        </p:nvSpPr>
        <p:spPr>
          <a:xfrm>
            <a:off x="10096496" y="6291072"/>
            <a:ext cx="1333503" cy="274320"/>
          </a:xfrm>
          <a:prstGeom prst="rect">
            <a:avLst/>
          </a:prstGeom>
          <a:noFill/>
        </p:spPr>
        <p:txBody>
          <a:bodyPr wrap="square" anchor="t" lIns="0" rIns="0" tIns="0" bIns="0">
            <a:spAutoFit/>
          </a:bodyPr>
          <a:lstStyle/>
          <a:p>
            <a:pPr algn="r">
              <a:lnSpc>
                <a:spcPct val="120000"/>
              </a:lnSpc>
              <a:spcAft>
                <a:spcPts val="0"/>
              </a:spcAft>
            </a:pPr>
            <a:r>
              <a:rPr sz="850" b="0">
                <a:solidFill>
                  <a:srgbClr val="77736C"/>
                </a:solidFill>
                <a:latin typeface="Helvetica Neue"/>
              </a:rPr>
              <a:t>22</a:t>
            </a:r>
          </a:p>
        </p:txBody>
      </p:sp>
      <p:sp>
        <p:nvSpPr>
          <p:cNvPr id="4" name="TextBox 3"/>
          <p:cNvSpPr txBox="1"/>
          <p:nvPr/>
        </p:nvSpPr>
        <p:spPr>
          <a:xfrm>
            <a:off x="761969" y="761969"/>
            <a:ext cx="6667519" cy="274320"/>
          </a:xfrm>
          <a:prstGeom prst="rect">
            <a:avLst/>
          </a:prstGeom>
          <a:noFill/>
        </p:spPr>
        <p:txBody>
          <a:bodyPr wrap="square" anchor="t" lIns="0" rIns="0" tIns="0" bIns="0">
            <a:spAutoFit/>
          </a:bodyPr>
          <a:lstStyle/>
          <a:p>
            <a:pPr algn="l">
              <a:lnSpc>
                <a:spcPct val="120000"/>
              </a:lnSpc>
              <a:spcAft>
                <a:spcPts val="0"/>
              </a:spcAft>
            </a:pPr>
            <a:r>
              <a:rPr sz="950" b="1">
                <a:solidFill>
                  <a:srgbClr val="0F766E"/>
                </a:solidFill>
                <a:latin typeface="Helvetica Neue"/>
              </a:rPr>
              <a:t>IN SHORT</a:t>
            </a:r>
          </a:p>
        </p:txBody>
      </p:sp>
      <p:sp>
        <p:nvSpPr>
          <p:cNvPr id="5" name="TextBox 4"/>
          <p:cNvSpPr txBox="1"/>
          <p:nvPr/>
        </p:nvSpPr>
        <p:spPr>
          <a:xfrm>
            <a:off x="761969" y="2377440"/>
            <a:ext cx="2384114" cy="914400"/>
          </a:xfrm>
          <a:prstGeom prst="rect">
            <a:avLst/>
          </a:prstGeom>
          <a:noFill/>
        </p:spPr>
        <p:txBody>
          <a:bodyPr wrap="square" anchor="t" lIns="0" rIns="0" tIns="0" bIns="0">
            <a:spAutoFit/>
          </a:bodyPr>
          <a:lstStyle/>
          <a:p>
            <a:pPr algn="l">
              <a:lnSpc>
                <a:spcPct val="102000"/>
              </a:lnSpc>
              <a:spcAft>
                <a:spcPts val="0"/>
              </a:spcAft>
            </a:pPr>
            <a:r>
              <a:rPr sz="3800" b="1">
                <a:solidFill>
                  <a:srgbClr val="141413"/>
                </a:solidFill>
                <a:latin typeface="Helvetica Neue"/>
              </a:rPr>
              <a:t>128 GB</a:t>
            </a:r>
          </a:p>
        </p:txBody>
      </p:sp>
      <p:sp>
        <p:nvSpPr>
          <p:cNvPr id="6" name="Rectangle 5"/>
          <p:cNvSpPr/>
          <p:nvPr/>
        </p:nvSpPr>
        <p:spPr>
          <a:xfrm>
            <a:off x="761969" y="3429000"/>
            <a:ext cx="2109794"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1969" y="3611880"/>
            <a:ext cx="2246954" cy="822960"/>
          </a:xfrm>
          <a:prstGeom prst="rect">
            <a:avLst/>
          </a:prstGeom>
          <a:noFill/>
        </p:spPr>
        <p:txBody>
          <a:bodyPr wrap="square" anchor="t" lIns="0" rIns="0" tIns="0" bIns="0">
            <a:spAutoFit/>
          </a:bodyPr>
          <a:lstStyle/>
          <a:p>
            <a:pPr algn="l">
              <a:lnSpc>
                <a:spcPct val="120000"/>
              </a:lnSpc>
              <a:spcAft>
                <a:spcPts val="0"/>
              </a:spcAft>
            </a:pPr>
            <a:r>
              <a:rPr sz="1100" b="0">
                <a:solidFill>
                  <a:srgbClr val="77736C"/>
                </a:solidFill>
                <a:latin typeface="Helvetica Neue"/>
              </a:rPr>
              <a:t>Memory for large models</a:t>
            </a:r>
          </a:p>
        </p:txBody>
      </p:sp>
      <p:sp>
        <p:nvSpPr>
          <p:cNvPr id="8" name="TextBox 7"/>
          <p:cNvSpPr txBox="1"/>
          <p:nvPr/>
        </p:nvSpPr>
        <p:spPr>
          <a:xfrm>
            <a:off x="3328964" y="2377440"/>
            <a:ext cx="2384114" cy="914400"/>
          </a:xfrm>
          <a:prstGeom prst="rect">
            <a:avLst/>
          </a:prstGeom>
          <a:noFill/>
        </p:spPr>
        <p:txBody>
          <a:bodyPr wrap="square" anchor="t" lIns="0" rIns="0" tIns="0" bIns="0">
            <a:spAutoFit/>
          </a:bodyPr>
          <a:lstStyle/>
          <a:p>
            <a:pPr algn="l">
              <a:lnSpc>
                <a:spcPct val="102000"/>
              </a:lnSpc>
              <a:spcAft>
                <a:spcPts val="0"/>
              </a:spcAft>
            </a:pPr>
            <a:r>
              <a:rPr sz="3800" b="1">
                <a:solidFill>
                  <a:srgbClr val="141413"/>
                </a:solidFill>
                <a:latin typeface="Helvetica Neue"/>
              </a:rPr>
              <a:t>1</a:t>
            </a:r>
          </a:p>
        </p:txBody>
      </p:sp>
      <p:sp>
        <p:nvSpPr>
          <p:cNvPr id="9" name="Rectangle 8"/>
          <p:cNvSpPr/>
          <p:nvPr/>
        </p:nvSpPr>
        <p:spPr>
          <a:xfrm>
            <a:off x="3328964" y="3429000"/>
            <a:ext cx="2109794"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28964" y="3611880"/>
            <a:ext cx="2246954" cy="822960"/>
          </a:xfrm>
          <a:prstGeom prst="rect">
            <a:avLst/>
          </a:prstGeom>
          <a:noFill/>
        </p:spPr>
        <p:txBody>
          <a:bodyPr wrap="square" anchor="t" lIns="0" rIns="0" tIns="0" bIns="0">
            <a:spAutoFit/>
          </a:bodyPr>
          <a:lstStyle/>
          <a:p>
            <a:pPr algn="l">
              <a:lnSpc>
                <a:spcPct val="120000"/>
              </a:lnSpc>
              <a:spcAft>
                <a:spcPts val="0"/>
              </a:spcAft>
            </a:pPr>
            <a:r>
              <a:rPr sz="1100" b="0">
                <a:solidFill>
                  <a:srgbClr val="77736C"/>
                </a:solidFill>
                <a:latin typeface="Helvetica Neue"/>
              </a:rPr>
              <a:t>Machine, in our office</a:t>
            </a:r>
          </a:p>
        </p:txBody>
      </p:sp>
      <p:sp>
        <p:nvSpPr>
          <p:cNvPr id="11" name="TextBox 10"/>
          <p:cNvSpPr txBox="1"/>
          <p:nvPr/>
        </p:nvSpPr>
        <p:spPr>
          <a:xfrm>
            <a:off x="5895959" y="2377440"/>
            <a:ext cx="2384114" cy="914400"/>
          </a:xfrm>
          <a:prstGeom prst="rect">
            <a:avLst/>
          </a:prstGeom>
          <a:noFill/>
        </p:spPr>
        <p:txBody>
          <a:bodyPr wrap="square" anchor="t" lIns="0" rIns="0" tIns="0" bIns="0">
            <a:spAutoFit/>
          </a:bodyPr>
          <a:lstStyle/>
          <a:p>
            <a:pPr algn="l">
              <a:lnSpc>
                <a:spcPct val="102000"/>
              </a:lnSpc>
              <a:spcAft>
                <a:spcPts val="0"/>
              </a:spcAft>
            </a:pPr>
            <a:r>
              <a:rPr sz="3800" b="1">
                <a:solidFill>
                  <a:srgbClr val="141413"/>
                </a:solidFill>
                <a:latin typeface="Helvetica Neue"/>
              </a:rPr>
              <a:t>0</a:t>
            </a:r>
          </a:p>
        </p:txBody>
      </p:sp>
      <p:sp>
        <p:nvSpPr>
          <p:cNvPr id="12" name="Rectangle 11"/>
          <p:cNvSpPr/>
          <p:nvPr/>
        </p:nvSpPr>
        <p:spPr>
          <a:xfrm>
            <a:off x="5895959" y="3429000"/>
            <a:ext cx="2109794"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95959" y="3611880"/>
            <a:ext cx="2246954" cy="822960"/>
          </a:xfrm>
          <a:prstGeom prst="rect">
            <a:avLst/>
          </a:prstGeom>
          <a:noFill/>
        </p:spPr>
        <p:txBody>
          <a:bodyPr wrap="square" anchor="t" lIns="0" rIns="0" tIns="0" bIns="0">
            <a:spAutoFit/>
          </a:bodyPr>
          <a:lstStyle/>
          <a:p>
            <a:pPr algn="l">
              <a:lnSpc>
                <a:spcPct val="120000"/>
              </a:lnSpc>
              <a:spcAft>
                <a:spcPts val="0"/>
              </a:spcAft>
            </a:pPr>
            <a:r>
              <a:rPr sz="1100" b="0">
                <a:solidFill>
                  <a:srgbClr val="77736C"/>
                </a:solidFill>
                <a:latin typeface="Helvetica Neue"/>
              </a:rPr>
              <a:t>Drawings leaving the firm</a:t>
            </a:r>
          </a:p>
        </p:txBody>
      </p:sp>
      <p:sp>
        <p:nvSpPr>
          <p:cNvPr id="14" name="TextBox 13"/>
          <p:cNvSpPr txBox="1"/>
          <p:nvPr/>
        </p:nvSpPr>
        <p:spPr>
          <a:xfrm>
            <a:off x="8462954" y="2377440"/>
            <a:ext cx="2384114" cy="914400"/>
          </a:xfrm>
          <a:prstGeom prst="rect">
            <a:avLst/>
          </a:prstGeom>
          <a:noFill/>
        </p:spPr>
        <p:txBody>
          <a:bodyPr wrap="square" anchor="t" lIns="0" rIns="0" tIns="0" bIns="0">
            <a:spAutoFit/>
          </a:bodyPr>
          <a:lstStyle/>
          <a:p>
            <a:pPr algn="l">
              <a:lnSpc>
                <a:spcPct val="102000"/>
              </a:lnSpc>
              <a:spcAft>
                <a:spcPts val="0"/>
              </a:spcAft>
            </a:pPr>
            <a:r>
              <a:rPr sz="3800" b="1">
                <a:solidFill>
                  <a:srgbClr val="141413"/>
                </a:solidFill>
                <a:latin typeface="Helvetica Neue"/>
              </a:rPr>
              <a:t>0</a:t>
            </a:r>
          </a:p>
        </p:txBody>
      </p:sp>
      <p:sp>
        <p:nvSpPr>
          <p:cNvPr id="15" name="Rectangle 14"/>
          <p:cNvSpPr/>
          <p:nvPr/>
        </p:nvSpPr>
        <p:spPr>
          <a:xfrm>
            <a:off x="8462954" y="3429000"/>
            <a:ext cx="2109794"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62954" y="3611880"/>
            <a:ext cx="2246954" cy="822960"/>
          </a:xfrm>
          <a:prstGeom prst="rect">
            <a:avLst/>
          </a:prstGeom>
          <a:noFill/>
        </p:spPr>
        <p:txBody>
          <a:bodyPr wrap="square" anchor="t" lIns="0" rIns="0" tIns="0" bIns="0">
            <a:spAutoFit/>
          </a:bodyPr>
          <a:lstStyle/>
          <a:p>
            <a:pPr algn="l">
              <a:lnSpc>
                <a:spcPct val="120000"/>
              </a:lnSpc>
              <a:spcAft>
                <a:spcPts val="0"/>
              </a:spcAft>
            </a:pPr>
            <a:r>
              <a:rPr sz="1100" b="0">
                <a:solidFill>
                  <a:srgbClr val="77736C"/>
                </a:solidFill>
                <a:latin typeface="Helvetica Neue"/>
              </a:rPr>
              <a:t>Cost per revision</a:t>
            </a:r>
          </a:p>
        </p:txBody>
      </p:sp>
      <p:sp>
        <p:nvSpPr>
          <p:cNvPr id="17" name="TextBox 16"/>
          <p:cNvSpPr txBox="1"/>
          <p:nvPr/>
        </p:nvSpPr>
        <p:spPr>
          <a:xfrm>
            <a:off x="761969" y="5806440"/>
            <a:ext cx="9067825" cy="457200"/>
          </a:xfrm>
          <a:prstGeom prst="rect">
            <a:avLst/>
          </a:prstGeom>
          <a:noFill/>
        </p:spPr>
        <p:txBody>
          <a:bodyPr wrap="square" anchor="t" lIns="0" rIns="0" tIns="0" bIns="0">
            <a:spAutoFit/>
          </a:bodyPr>
          <a:lstStyle/>
          <a:p>
            <a:pPr algn="l">
              <a:lnSpc>
                <a:spcPct val="120000"/>
              </a:lnSpc>
              <a:spcAft>
                <a:spcPts val="0"/>
              </a:spcAft>
            </a:pPr>
            <a:r>
              <a:rPr sz="1000" b="0">
                <a:solidFill>
                  <a:srgbClr val="77736C"/>
                </a:solidFill>
                <a:latin typeface="Helvetica Neue"/>
              </a:rPr>
              <a:t>Machine figures as published by Dell and NVIDIA.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TextBox 1"/>
          <p:cNvSpPr txBox="1"/>
          <p:nvPr/>
        </p:nvSpPr>
        <p:spPr>
          <a:xfrm>
            <a:off x="761969" y="6291072"/>
            <a:ext cx="5334015" cy="274320"/>
          </a:xfrm>
          <a:prstGeom prst="rect">
            <a:avLst/>
          </a:prstGeom>
          <a:noFill/>
        </p:spPr>
        <p:txBody>
          <a:bodyPr wrap="square" anchor="t" lIns="0" rIns="0" tIns="0" bIns="0">
            <a:spAutoFit/>
          </a:bodyPr>
          <a:lstStyle/>
          <a:p>
            <a:pPr algn="l">
              <a:lnSpc>
                <a:spcPct val="120000"/>
              </a:lnSpc>
              <a:spcAft>
                <a:spcPts val="0"/>
              </a:spcAft>
            </a:pPr>
            <a:r>
              <a:rPr sz="850" b="0">
                <a:solidFill>
                  <a:srgbClr val="77736C"/>
                </a:solidFill>
                <a:latin typeface="Helvetica Neue"/>
              </a:rPr>
              <a:t>Acon x Dell Pro Max GB10</a:t>
            </a:r>
          </a:p>
        </p:txBody>
      </p:sp>
      <p:sp>
        <p:nvSpPr>
          <p:cNvPr id="3" name="TextBox 2"/>
          <p:cNvSpPr txBox="1"/>
          <p:nvPr/>
        </p:nvSpPr>
        <p:spPr>
          <a:xfrm>
            <a:off x="10096496" y="6291072"/>
            <a:ext cx="1333503" cy="274320"/>
          </a:xfrm>
          <a:prstGeom prst="rect">
            <a:avLst/>
          </a:prstGeom>
          <a:noFill/>
        </p:spPr>
        <p:txBody>
          <a:bodyPr wrap="square" anchor="t" lIns="0" rIns="0" tIns="0" bIns="0">
            <a:spAutoFit/>
          </a:bodyPr>
          <a:lstStyle/>
          <a:p>
            <a:pPr algn="r">
              <a:lnSpc>
                <a:spcPct val="120000"/>
              </a:lnSpc>
              <a:spcAft>
                <a:spcPts val="0"/>
              </a:spcAft>
            </a:pPr>
            <a:r>
              <a:rPr sz="850" b="0">
                <a:solidFill>
                  <a:srgbClr val="77736C"/>
                </a:solidFill>
                <a:latin typeface="Helvetica Neue"/>
              </a:rPr>
              <a:t>23</a:t>
            </a:r>
          </a:p>
        </p:txBody>
      </p:sp>
      <p:sp>
        <p:nvSpPr>
          <p:cNvPr id="4" name="TextBox 3"/>
          <p:cNvSpPr txBox="1"/>
          <p:nvPr/>
        </p:nvSpPr>
        <p:spPr>
          <a:xfrm>
            <a:off x="761969" y="761969"/>
            <a:ext cx="6667519" cy="274320"/>
          </a:xfrm>
          <a:prstGeom prst="rect">
            <a:avLst/>
          </a:prstGeom>
          <a:noFill/>
        </p:spPr>
        <p:txBody>
          <a:bodyPr wrap="square" anchor="t" lIns="0" rIns="0" tIns="0" bIns="0">
            <a:spAutoFit/>
          </a:bodyPr>
          <a:lstStyle/>
          <a:p>
            <a:pPr algn="l">
              <a:lnSpc>
                <a:spcPct val="120000"/>
              </a:lnSpc>
              <a:spcAft>
                <a:spcPts val="0"/>
              </a:spcAft>
            </a:pPr>
            <a:r>
              <a:rPr sz="950" b="1">
                <a:solidFill>
                  <a:srgbClr val="0F766E"/>
                </a:solidFill>
                <a:latin typeface="Helvetica Neue"/>
              </a:rPr>
              <a:t>06 — BEING REALISTIC</a:t>
            </a:r>
          </a:p>
        </p:txBody>
      </p:sp>
      <p:sp>
        <p:nvSpPr>
          <p:cNvPr id="5" name="TextBox 4"/>
          <p:cNvSpPr txBox="1"/>
          <p:nvPr/>
        </p:nvSpPr>
        <p:spPr>
          <a:xfrm>
            <a:off x="761969" y="1188720"/>
            <a:ext cx="7334270" cy="822960"/>
          </a:xfrm>
          <a:prstGeom prst="rect">
            <a:avLst/>
          </a:prstGeom>
          <a:noFill/>
        </p:spPr>
        <p:txBody>
          <a:bodyPr wrap="square" anchor="t" lIns="0" rIns="0" tIns="0" bIns="0">
            <a:spAutoFit/>
          </a:bodyPr>
          <a:lstStyle/>
          <a:p>
            <a:pPr algn="l">
              <a:lnSpc>
                <a:spcPct val="102000"/>
              </a:lnSpc>
              <a:spcAft>
                <a:spcPts val="0"/>
              </a:spcAft>
            </a:pPr>
            <a:r>
              <a:rPr sz="2600" b="1">
                <a:solidFill>
                  <a:srgbClr val="141413"/>
                </a:solidFill>
                <a:latin typeface="Helvetica Neue"/>
              </a:rPr>
              <a:t>What to be realistic about.</a:t>
            </a:r>
          </a:p>
        </p:txBody>
      </p:sp>
      <p:sp>
        <p:nvSpPr>
          <p:cNvPr id="6" name="Rectangle 5"/>
          <p:cNvSpPr/>
          <p:nvPr/>
        </p:nvSpPr>
        <p:spPr>
          <a:xfrm>
            <a:off x="761969" y="2468880"/>
            <a:ext cx="2957330" cy="201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1969" y="2697480"/>
            <a:ext cx="2884178" cy="457200"/>
          </a:xfrm>
          <a:prstGeom prst="rect">
            <a:avLst/>
          </a:prstGeom>
          <a:noFill/>
        </p:spPr>
        <p:txBody>
          <a:bodyPr wrap="square" anchor="t" lIns="0" rIns="0" tIns="0" bIns="0">
            <a:spAutoFit/>
          </a:bodyPr>
          <a:lstStyle/>
          <a:p>
            <a:pPr algn="l">
              <a:lnSpc>
                <a:spcPct val="120000"/>
              </a:lnSpc>
              <a:spcAft>
                <a:spcPts val="0"/>
              </a:spcAft>
            </a:pPr>
            <a:r>
              <a:rPr sz="1200" b="1">
                <a:solidFill>
                  <a:srgbClr val="141413"/>
                </a:solidFill>
                <a:latin typeface="Helvetica Neue"/>
              </a:rPr>
              <a:t>Fast, not infinite</a:t>
            </a:r>
          </a:p>
        </p:txBody>
      </p:sp>
      <p:sp>
        <p:nvSpPr>
          <p:cNvPr id="8" name="TextBox 7"/>
          <p:cNvSpPr txBox="1"/>
          <p:nvPr/>
        </p:nvSpPr>
        <p:spPr>
          <a:xfrm>
            <a:off x="761969" y="3291840"/>
            <a:ext cx="2838458" cy="2194560"/>
          </a:xfrm>
          <a:prstGeom prst="rect">
            <a:avLst/>
          </a:prstGeom>
          <a:noFill/>
        </p:spPr>
        <p:txBody>
          <a:bodyPr wrap="square" anchor="t" lIns="0" rIns="0" tIns="0" bIns="0">
            <a:spAutoFit/>
          </a:bodyPr>
          <a:lstStyle/>
          <a:p>
            <a:pPr algn="l">
              <a:lnSpc>
                <a:spcPct val="120000"/>
              </a:lnSpc>
              <a:spcAft>
                <a:spcPts val="0"/>
              </a:spcAft>
            </a:pPr>
            <a:r>
              <a:rPr sz="1100" b="0">
                <a:solidFill>
                  <a:srgbClr val="77736C"/>
                </a:solidFill>
                <a:latin typeface="Helvetica Neue"/>
              </a:rPr>
              <a:t>One machine comfortably serves a team, not the whole firm at once. If use grows, we add a second.</a:t>
            </a:r>
          </a:p>
        </p:txBody>
      </p:sp>
      <p:sp>
        <p:nvSpPr>
          <p:cNvPr id="9" name="Rectangle 8"/>
          <p:cNvSpPr/>
          <p:nvPr/>
        </p:nvSpPr>
        <p:spPr>
          <a:xfrm>
            <a:off x="3989048" y="2468880"/>
            <a:ext cx="2957330" cy="201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89048" y="2697480"/>
            <a:ext cx="2884178" cy="457200"/>
          </a:xfrm>
          <a:prstGeom prst="rect">
            <a:avLst/>
          </a:prstGeom>
          <a:noFill/>
        </p:spPr>
        <p:txBody>
          <a:bodyPr wrap="square" anchor="t" lIns="0" rIns="0" tIns="0" bIns="0">
            <a:spAutoFit/>
          </a:bodyPr>
          <a:lstStyle/>
          <a:p>
            <a:pPr algn="l">
              <a:lnSpc>
                <a:spcPct val="120000"/>
              </a:lnSpc>
              <a:spcAft>
                <a:spcPts val="0"/>
              </a:spcAft>
            </a:pPr>
            <a:r>
              <a:rPr sz="1200" b="1">
                <a:solidFill>
                  <a:srgbClr val="141413"/>
                </a:solidFill>
                <a:latin typeface="Helvetica Neue"/>
              </a:rPr>
              <a:t>A specialist machine</a:t>
            </a:r>
          </a:p>
        </p:txBody>
      </p:sp>
      <p:sp>
        <p:nvSpPr>
          <p:cNvPr id="11" name="TextBox 10"/>
          <p:cNvSpPr txBox="1"/>
          <p:nvPr/>
        </p:nvSpPr>
        <p:spPr>
          <a:xfrm>
            <a:off x="3989048" y="3291840"/>
            <a:ext cx="2838458" cy="2194560"/>
          </a:xfrm>
          <a:prstGeom prst="rect">
            <a:avLst/>
          </a:prstGeom>
          <a:noFill/>
        </p:spPr>
        <p:txBody>
          <a:bodyPr wrap="square" anchor="t" lIns="0" rIns="0" tIns="0" bIns="0">
            <a:spAutoFit/>
          </a:bodyPr>
          <a:lstStyle/>
          <a:p>
            <a:pPr algn="l">
              <a:lnSpc>
                <a:spcPct val="120000"/>
              </a:lnSpc>
              <a:spcAft>
                <a:spcPts val="0"/>
              </a:spcAft>
            </a:pPr>
            <a:r>
              <a:rPr sz="1100" b="0">
                <a:solidFill>
                  <a:srgbClr val="77736C"/>
                </a:solidFill>
                <a:latin typeface="Helvetica Neue"/>
              </a:rPr>
              <a:t>It is set up for AI work rather than everyday office software, so installing it properly takes a little time.</a:t>
            </a:r>
          </a:p>
        </p:txBody>
      </p:sp>
      <p:sp>
        <p:nvSpPr>
          <p:cNvPr id="12" name="Rectangle 11"/>
          <p:cNvSpPr/>
          <p:nvPr/>
        </p:nvSpPr>
        <p:spPr>
          <a:xfrm>
            <a:off x="7216127" y="2468880"/>
            <a:ext cx="2957330" cy="201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16127" y="2697480"/>
            <a:ext cx="2884178" cy="457200"/>
          </a:xfrm>
          <a:prstGeom prst="rect">
            <a:avLst/>
          </a:prstGeom>
          <a:noFill/>
        </p:spPr>
        <p:txBody>
          <a:bodyPr wrap="square" anchor="t" lIns="0" rIns="0" tIns="0" bIns="0">
            <a:spAutoFit/>
          </a:bodyPr>
          <a:lstStyle/>
          <a:p>
            <a:pPr algn="l">
              <a:lnSpc>
                <a:spcPct val="120000"/>
              </a:lnSpc>
              <a:spcAft>
                <a:spcPts val="0"/>
              </a:spcAft>
            </a:pPr>
            <a:r>
              <a:rPr sz="1200" b="1">
                <a:solidFill>
                  <a:srgbClr val="141413"/>
                </a:solidFill>
                <a:latin typeface="Helvetica Neue"/>
              </a:rPr>
              <a:t>Reading drawings needs checking</a:t>
            </a:r>
          </a:p>
        </p:txBody>
      </p:sp>
      <p:sp>
        <p:nvSpPr>
          <p:cNvPr id="14" name="TextBox 13"/>
          <p:cNvSpPr txBox="1"/>
          <p:nvPr/>
        </p:nvSpPr>
        <p:spPr>
          <a:xfrm>
            <a:off x="7216127" y="3291840"/>
            <a:ext cx="2838458" cy="2194560"/>
          </a:xfrm>
          <a:prstGeom prst="rect">
            <a:avLst/>
          </a:prstGeom>
          <a:noFill/>
        </p:spPr>
        <p:txBody>
          <a:bodyPr wrap="square" anchor="t" lIns="0" rIns="0" tIns="0" bIns="0">
            <a:spAutoFit/>
          </a:bodyPr>
          <a:lstStyle/>
          <a:p>
            <a:pPr algn="l">
              <a:lnSpc>
                <a:spcPct val="120000"/>
              </a:lnSpc>
              <a:spcAft>
                <a:spcPts val="0"/>
              </a:spcAft>
            </a:pPr>
            <a:r>
              <a:rPr sz="1100" b="0">
                <a:solidFill>
                  <a:srgbClr val="77736C"/>
                </a:solidFill>
                <a:latin typeface="Helvetica Neue"/>
              </a:rPr>
              <a:t>Messy scans and handwritten dimensions are where these models make mistakes. We test against drawings with known answers before anyone relies on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TextBox 1"/>
          <p:cNvSpPr txBox="1"/>
          <p:nvPr/>
        </p:nvSpPr>
        <p:spPr>
          <a:xfrm>
            <a:off x="761969" y="6291072"/>
            <a:ext cx="5334015" cy="274320"/>
          </a:xfrm>
          <a:prstGeom prst="rect">
            <a:avLst/>
          </a:prstGeom>
          <a:noFill/>
        </p:spPr>
        <p:txBody>
          <a:bodyPr wrap="square" anchor="t" lIns="0" rIns="0" tIns="0" bIns="0">
            <a:spAutoFit/>
          </a:bodyPr>
          <a:lstStyle/>
          <a:p>
            <a:pPr algn="l">
              <a:lnSpc>
                <a:spcPct val="120000"/>
              </a:lnSpc>
              <a:spcAft>
                <a:spcPts val="0"/>
              </a:spcAft>
            </a:pPr>
            <a:r>
              <a:rPr sz="850" b="0">
                <a:solidFill>
                  <a:srgbClr val="77736C"/>
                </a:solidFill>
                <a:latin typeface="Helvetica Neue"/>
              </a:rPr>
              <a:t>Acon x Dell Pro Max GB10</a:t>
            </a:r>
          </a:p>
        </p:txBody>
      </p:sp>
      <p:sp>
        <p:nvSpPr>
          <p:cNvPr id="3" name="TextBox 2"/>
          <p:cNvSpPr txBox="1"/>
          <p:nvPr/>
        </p:nvSpPr>
        <p:spPr>
          <a:xfrm>
            <a:off x="10096496" y="6291072"/>
            <a:ext cx="1333503" cy="274320"/>
          </a:xfrm>
          <a:prstGeom prst="rect">
            <a:avLst/>
          </a:prstGeom>
          <a:noFill/>
        </p:spPr>
        <p:txBody>
          <a:bodyPr wrap="square" anchor="t" lIns="0" rIns="0" tIns="0" bIns="0">
            <a:spAutoFit/>
          </a:bodyPr>
          <a:lstStyle/>
          <a:p>
            <a:pPr algn="r">
              <a:lnSpc>
                <a:spcPct val="120000"/>
              </a:lnSpc>
              <a:spcAft>
                <a:spcPts val="0"/>
              </a:spcAft>
            </a:pPr>
            <a:r>
              <a:rPr sz="850" b="0">
                <a:solidFill>
                  <a:srgbClr val="77736C"/>
                </a:solidFill>
                <a:latin typeface="Helvetica Neue"/>
              </a:rPr>
              <a:t>24</a:t>
            </a:r>
          </a:p>
        </p:txBody>
      </p:sp>
      <p:sp>
        <p:nvSpPr>
          <p:cNvPr id="4" name="TextBox 3"/>
          <p:cNvSpPr txBox="1"/>
          <p:nvPr/>
        </p:nvSpPr>
        <p:spPr>
          <a:xfrm>
            <a:off x="761969" y="761969"/>
            <a:ext cx="6667519" cy="274320"/>
          </a:xfrm>
          <a:prstGeom prst="rect">
            <a:avLst/>
          </a:prstGeom>
          <a:noFill/>
        </p:spPr>
        <p:txBody>
          <a:bodyPr wrap="square" anchor="t" lIns="0" rIns="0" tIns="0" bIns="0">
            <a:spAutoFit/>
          </a:bodyPr>
          <a:lstStyle/>
          <a:p>
            <a:pPr algn="l">
              <a:lnSpc>
                <a:spcPct val="120000"/>
              </a:lnSpc>
              <a:spcAft>
                <a:spcPts val="0"/>
              </a:spcAft>
            </a:pPr>
            <a:r>
              <a:rPr sz="950" b="1">
                <a:solidFill>
                  <a:srgbClr val="0F766E"/>
                </a:solidFill>
                <a:latin typeface="Helvetica Neue"/>
              </a:rPr>
              <a:t>06 — HOW WE'LL KNOW</a:t>
            </a:r>
          </a:p>
        </p:txBody>
      </p:sp>
      <p:sp>
        <p:nvSpPr>
          <p:cNvPr id="5" name="TextBox 4"/>
          <p:cNvSpPr txBox="1"/>
          <p:nvPr/>
        </p:nvSpPr>
        <p:spPr>
          <a:xfrm>
            <a:off x="761969" y="1188720"/>
            <a:ext cx="6134117" cy="1188720"/>
          </a:xfrm>
          <a:prstGeom prst="rect">
            <a:avLst/>
          </a:prstGeom>
          <a:noFill/>
        </p:spPr>
        <p:txBody>
          <a:bodyPr wrap="square" anchor="t" lIns="0" rIns="0" tIns="0" bIns="0">
            <a:spAutoFit/>
          </a:bodyPr>
          <a:lstStyle/>
          <a:p>
            <a:pPr algn="l">
              <a:lnSpc>
                <a:spcPct val="102000"/>
              </a:lnSpc>
              <a:spcAft>
                <a:spcPts val="0"/>
              </a:spcAft>
            </a:pPr>
            <a:r>
              <a:rPr sz="2600" b="1">
                <a:solidFill>
                  <a:srgbClr val="141413"/>
                </a:solidFill>
                <a:latin typeface="Helvetica Neue"/>
              </a:rPr>
              <a:t>How we'll know it works.</a:t>
            </a:r>
          </a:p>
        </p:txBody>
      </p:sp>
      <p:sp>
        <p:nvSpPr>
          <p:cNvPr id="6" name="Rectangle 5"/>
          <p:cNvSpPr/>
          <p:nvPr/>
        </p:nvSpPr>
        <p:spPr>
          <a:xfrm>
            <a:off x="761969" y="2487168"/>
            <a:ext cx="8801125"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1969" y="2606040"/>
            <a:ext cx="8534424" cy="502920"/>
          </a:xfrm>
          <a:prstGeom prst="rect">
            <a:avLst/>
          </a:prstGeom>
          <a:noFill/>
        </p:spPr>
        <p:txBody>
          <a:bodyPr wrap="square" anchor="t" lIns="0" rIns="0" tIns="0" bIns="0">
            <a:spAutoFit/>
          </a:bodyPr>
          <a:lstStyle/>
          <a:p>
            <a:pPr algn="l">
              <a:lnSpc>
                <a:spcPct val="120000"/>
              </a:lnSpc>
              <a:spcAft>
                <a:spcPts val="0"/>
              </a:spcAft>
            </a:pPr>
            <a:r>
              <a:rPr sz="1200" b="0">
                <a:solidFill>
                  <a:srgbClr val="77736C"/>
                </a:solidFill>
                <a:latin typeface="Helvetica Neue"/>
              </a:rPr>
              <a:t>The same requests, side by side: what the office machine produces against what the outside service produces today.</a:t>
            </a:r>
          </a:p>
        </p:txBody>
      </p:sp>
      <p:sp>
        <p:nvSpPr>
          <p:cNvPr id="8" name="Rectangle 7"/>
          <p:cNvSpPr/>
          <p:nvPr/>
        </p:nvSpPr>
        <p:spPr>
          <a:xfrm>
            <a:off x="761969" y="3200400"/>
            <a:ext cx="8801125"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1969" y="3319272"/>
            <a:ext cx="8534424" cy="502920"/>
          </a:xfrm>
          <a:prstGeom prst="rect">
            <a:avLst/>
          </a:prstGeom>
          <a:noFill/>
        </p:spPr>
        <p:txBody>
          <a:bodyPr wrap="square" anchor="t" lIns="0" rIns="0" tIns="0" bIns="0">
            <a:spAutoFit/>
          </a:bodyPr>
          <a:lstStyle/>
          <a:p>
            <a:pPr algn="l">
              <a:lnSpc>
                <a:spcPct val="120000"/>
              </a:lnSpc>
              <a:spcAft>
                <a:spcPts val="0"/>
              </a:spcAft>
            </a:pPr>
            <a:r>
              <a:rPr sz="1200" b="0">
                <a:solidFill>
                  <a:srgbClr val="77736C"/>
                </a:solidFill>
                <a:latin typeface="Helvetica Neue"/>
              </a:rPr>
              <a:t>Real drawing sets with known dimensions, marked for accuracy by the people who model them now.</a:t>
            </a:r>
          </a:p>
        </p:txBody>
      </p:sp>
      <p:sp>
        <p:nvSpPr>
          <p:cNvPr id="10" name="Rectangle 9"/>
          <p:cNvSpPr/>
          <p:nvPr/>
        </p:nvSpPr>
        <p:spPr>
          <a:xfrm>
            <a:off x="761969" y="3913632"/>
            <a:ext cx="8801125"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1969" y="4032504"/>
            <a:ext cx="8534424" cy="502920"/>
          </a:xfrm>
          <a:prstGeom prst="rect">
            <a:avLst/>
          </a:prstGeom>
          <a:noFill/>
        </p:spPr>
        <p:txBody>
          <a:bodyPr wrap="square" anchor="t" lIns="0" rIns="0" tIns="0" bIns="0">
            <a:spAutoFit/>
          </a:bodyPr>
          <a:lstStyle/>
          <a:p>
            <a:pPr algn="l">
              <a:lnSpc>
                <a:spcPct val="120000"/>
              </a:lnSpc>
              <a:spcAft>
                <a:spcPts val="0"/>
              </a:spcAft>
            </a:pPr>
            <a:r>
              <a:rPr sz="1200" b="0">
                <a:solidFill>
                  <a:srgbClr val="77736C"/>
                </a:solidFill>
                <a:latin typeface="Helvetica Neue"/>
              </a:rPr>
              <a:t>How long a request takes, measured honestly rather than demonstrated.</a:t>
            </a:r>
          </a:p>
        </p:txBody>
      </p:sp>
      <p:sp>
        <p:nvSpPr>
          <p:cNvPr id="12" name="Rectangle 11"/>
          <p:cNvSpPr/>
          <p:nvPr/>
        </p:nvSpPr>
        <p:spPr>
          <a:xfrm>
            <a:off x="761969" y="4626864"/>
            <a:ext cx="8801125" cy="10972"/>
          </a:xfrm>
          <a:prstGeom prst="rect">
            <a:avLst/>
          </a:prstGeom>
          <a:solidFill>
            <a:srgbClr val="D3C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1969" y="4745736"/>
            <a:ext cx="8534424" cy="502920"/>
          </a:xfrm>
          <a:prstGeom prst="rect">
            <a:avLst/>
          </a:prstGeom>
          <a:noFill/>
        </p:spPr>
        <p:txBody>
          <a:bodyPr wrap="square" anchor="t" lIns="0" rIns="0" tIns="0" bIns="0">
            <a:spAutoFit/>
          </a:bodyPr>
          <a:lstStyle/>
          <a:p>
            <a:pPr algn="l">
              <a:lnSpc>
                <a:spcPct val="120000"/>
              </a:lnSpc>
              <a:spcAft>
                <a:spcPts val="0"/>
              </a:spcAft>
            </a:pPr>
            <a:r>
              <a:rPr sz="1200" b="0">
                <a:solidFill>
                  <a:srgbClr val="77736C"/>
                </a:solidFill>
                <a:latin typeface="Helvetica Neue"/>
              </a:rPr>
              <a:t>How often it gets something wrong — and whether the mistake is caught before anyone sees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TextBox 1"/>
          <p:cNvSpPr txBox="1"/>
          <p:nvPr/>
        </p:nvSpPr>
        <p:spPr>
          <a:xfrm>
            <a:off x="761969" y="6291072"/>
            <a:ext cx="5334015" cy="274320"/>
          </a:xfrm>
          <a:prstGeom prst="rect">
            <a:avLst/>
          </a:prstGeom>
          <a:noFill/>
        </p:spPr>
        <p:txBody>
          <a:bodyPr wrap="square" anchor="t" lIns="0" rIns="0" tIns="0" bIns="0">
            <a:spAutoFit/>
          </a:bodyPr>
          <a:lstStyle/>
          <a:p>
            <a:pPr algn="l">
              <a:lnSpc>
                <a:spcPct val="120000"/>
              </a:lnSpc>
              <a:spcAft>
                <a:spcPts val="0"/>
              </a:spcAft>
            </a:pPr>
            <a:r>
              <a:rPr sz="850" b="0">
                <a:solidFill>
                  <a:srgbClr val="77736C"/>
                </a:solidFill>
                <a:latin typeface="Helvetica Neue"/>
              </a:rPr>
              <a:t>Acon x Dell Pro Max GB10</a:t>
            </a:r>
          </a:p>
        </p:txBody>
      </p:sp>
      <p:sp>
        <p:nvSpPr>
          <p:cNvPr id="3" name="TextBox 2"/>
          <p:cNvSpPr txBox="1"/>
          <p:nvPr/>
        </p:nvSpPr>
        <p:spPr>
          <a:xfrm>
            <a:off x="10096496" y="6291072"/>
            <a:ext cx="1333503" cy="274320"/>
          </a:xfrm>
          <a:prstGeom prst="rect">
            <a:avLst/>
          </a:prstGeom>
          <a:noFill/>
        </p:spPr>
        <p:txBody>
          <a:bodyPr wrap="square" anchor="t" lIns="0" rIns="0" tIns="0" bIns="0">
            <a:spAutoFit/>
          </a:bodyPr>
          <a:lstStyle/>
          <a:p>
            <a:pPr algn="r">
              <a:lnSpc>
                <a:spcPct val="120000"/>
              </a:lnSpc>
              <a:spcAft>
                <a:spcPts val="0"/>
              </a:spcAft>
            </a:pPr>
            <a:r>
              <a:rPr sz="850" b="0">
                <a:solidFill>
                  <a:srgbClr val="77736C"/>
                </a:solidFill>
                <a:latin typeface="Helvetica Neue"/>
              </a:rPr>
              <a:t>25</a:t>
            </a:r>
          </a:p>
        </p:txBody>
      </p:sp>
      <p:sp>
        <p:nvSpPr>
          <p:cNvPr id="4" name="TextBox 3"/>
          <p:cNvSpPr txBox="1"/>
          <p:nvPr/>
        </p:nvSpPr>
        <p:spPr>
          <a:xfrm>
            <a:off x="761969" y="761969"/>
            <a:ext cx="6667519" cy="274320"/>
          </a:xfrm>
          <a:prstGeom prst="rect">
            <a:avLst/>
          </a:prstGeom>
          <a:noFill/>
        </p:spPr>
        <p:txBody>
          <a:bodyPr wrap="square" anchor="t" lIns="0" rIns="0" tIns="0" bIns="0">
            <a:spAutoFit/>
          </a:bodyPr>
          <a:lstStyle/>
          <a:p>
            <a:pPr algn="l">
              <a:lnSpc>
                <a:spcPct val="120000"/>
              </a:lnSpc>
              <a:spcAft>
                <a:spcPts val="0"/>
              </a:spcAft>
            </a:pPr>
            <a:r>
              <a:rPr sz="950" b="1">
                <a:solidFill>
                  <a:srgbClr val="0F766E"/>
                </a:solidFill>
                <a:latin typeface="Helvetica Neue"/>
              </a:rPr>
              <a:t>06 — THE PLAN</a:t>
            </a:r>
          </a:p>
        </p:txBody>
      </p:sp>
      <p:sp>
        <p:nvSpPr>
          <p:cNvPr id="5" name="TextBox 4"/>
          <p:cNvSpPr txBox="1"/>
          <p:nvPr/>
        </p:nvSpPr>
        <p:spPr>
          <a:xfrm>
            <a:off x="761969" y="1188720"/>
            <a:ext cx="6667519" cy="731520"/>
          </a:xfrm>
          <a:prstGeom prst="rect">
            <a:avLst/>
          </a:prstGeom>
          <a:noFill/>
        </p:spPr>
        <p:txBody>
          <a:bodyPr wrap="square" anchor="t" lIns="0" rIns="0" tIns="0" bIns="0">
            <a:spAutoFit/>
          </a:bodyPr>
          <a:lstStyle/>
          <a:p>
            <a:pPr algn="l">
              <a:lnSpc>
                <a:spcPct val="102000"/>
              </a:lnSpc>
              <a:spcAft>
                <a:spcPts val="0"/>
              </a:spcAft>
            </a:pPr>
            <a:r>
              <a:rPr sz="2600" b="1">
                <a:solidFill>
                  <a:srgbClr val="141413"/>
                </a:solidFill>
                <a:latin typeface="Helvetica Neue"/>
              </a:rPr>
              <a:t>Prove it, then rely on it.</a:t>
            </a:r>
          </a:p>
        </p:txBody>
      </p:sp>
      <p:sp>
        <p:nvSpPr>
          <p:cNvPr id="6" name="Rectangle 5"/>
          <p:cNvSpPr/>
          <p:nvPr/>
        </p:nvSpPr>
        <p:spPr>
          <a:xfrm>
            <a:off x="761969" y="2423160"/>
            <a:ext cx="10267979" cy="12801"/>
          </a:xfrm>
          <a:prstGeom prst="rect">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1969" y="2606040"/>
            <a:ext cx="2338394" cy="320040"/>
          </a:xfrm>
          <a:prstGeom prst="rect">
            <a:avLst/>
          </a:prstGeom>
          <a:noFill/>
        </p:spPr>
        <p:txBody>
          <a:bodyPr wrap="square" anchor="t" lIns="0" rIns="0" tIns="0" bIns="0">
            <a:spAutoFit/>
          </a:bodyPr>
          <a:lstStyle/>
          <a:p>
            <a:pPr algn="l">
              <a:lnSpc>
                <a:spcPct val="120000"/>
              </a:lnSpc>
              <a:spcAft>
                <a:spcPts val="0"/>
              </a:spcAft>
            </a:pPr>
            <a:r>
              <a:rPr sz="900" b="1">
                <a:solidFill>
                  <a:srgbClr val="0F766E"/>
                </a:solidFill>
                <a:latin typeface="Helvetica Neue"/>
              </a:rPr>
              <a:t>NOW</a:t>
            </a:r>
          </a:p>
        </p:txBody>
      </p:sp>
      <p:sp>
        <p:nvSpPr>
          <p:cNvPr id="8" name="TextBox 7"/>
          <p:cNvSpPr txBox="1"/>
          <p:nvPr/>
        </p:nvSpPr>
        <p:spPr>
          <a:xfrm>
            <a:off x="761969" y="2971800"/>
            <a:ext cx="2338394" cy="457200"/>
          </a:xfrm>
          <a:prstGeom prst="rect">
            <a:avLst/>
          </a:prstGeom>
          <a:noFill/>
        </p:spPr>
        <p:txBody>
          <a:bodyPr wrap="square" anchor="t" lIns="0" rIns="0" tIns="0" bIns="0">
            <a:spAutoFit/>
          </a:bodyPr>
          <a:lstStyle/>
          <a:p>
            <a:pPr algn="l">
              <a:lnSpc>
                <a:spcPct val="120000"/>
              </a:lnSpc>
              <a:spcAft>
                <a:spcPts val="0"/>
              </a:spcAft>
            </a:pPr>
            <a:r>
              <a:rPr sz="1400" b="1">
                <a:solidFill>
                  <a:srgbClr val="141413"/>
                </a:solidFill>
                <a:latin typeface="Helvetica Neue"/>
              </a:rPr>
              <a:t>Set up</a:t>
            </a:r>
          </a:p>
        </p:txBody>
      </p:sp>
      <p:sp>
        <p:nvSpPr>
          <p:cNvPr id="9" name="TextBox 8"/>
          <p:cNvSpPr txBox="1"/>
          <p:nvPr/>
        </p:nvSpPr>
        <p:spPr>
          <a:xfrm>
            <a:off x="761969" y="3566160"/>
            <a:ext cx="2246954" cy="2011680"/>
          </a:xfrm>
          <a:prstGeom prst="rect">
            <a:avLst/>
          </a:prstGeom>
          <a:noFill/>
        </p:spPr>
        <p:txBody>
          <a:bodyPr wrap="square" anchor="t" lIns="0" rIns="0" tIns="0" bIns="0">
            <a:spAutoFit/>
          </a:bodyPr>
          <a:lstStyle/>
          <a:p>
            <a:pPr algn="l">
              <a:lnSpc>
                <a:spcPct val="120000"/>
              </a:lnSpc>
              <a:spcAft>
                <a:spcPts val="0"/>
              </a:spcAft>
            </a:pPr>
            <a:r>
              <a:rPr sz="1050" b="0">
                <a:solidFill>
                  <a:srgbClr val="77736C"/>
                </a:solidFill>
                <a:latin typeface="Helvetica Neue"/>
              </a:rPr>
              <a:t>The machine in the office, the model running on it, and one complete building produced with the outside service switched off.</a:t>
            </a:r>
          </a:p>
        </p:txBody>
      </p:sp>
      <p:sp>
        <p:nvSpPr>
          <p:cNvPr id="10" name="TextBox 9"/>
          <p:cNvSpPr txBox="1"/>
          <p:nvPr/>
        </p:nvSpPr>
        <p:spPr>
          <a:xfrm>
            <a:off x="3328964" y="2606040"/>
            <a:ext cx="2338394" cy="320040"/>
          </a:xfrm>
          <a:prstGeom prst="rect">
            <a:avLst/>
          </a:prstGeom>
          <a:noFill/>
        </p:spPr>
        <p:txBody>
          <a:bodyPr wrap="square" anchor="t" lIns="0" rIns="0" tIns="0" bIns="0">
            <a:spAutoFit/>
          </a:bodyPr>
          <a:lstStyle/>
          <a:p>
            <a:pPr algn="l">
              <a:lnSpc>
                <a:spcPct val="120000"/>
              </a:lnSpc>
              <a:spcAft>
                <a:spcPts val="0"/>
              </a:spcAft>
            </a:pPr>
            <a:r>
              <a:rPr sz="900" b="1">
                <a:solidFill>
                  <a:srgbClr val="0F766E"/>
                </a:solidFill>
                <a:latin typeface="Helvetica Neue"/>
              </a:rPr>
              <a:t>NEXT</a:t>
            </a:r>
          </a:p>
        </p:txBody>
      </p:sp>
      <p:sp>
        <p:nvSpPr>
          <p:cNvPr id="11" name="TextBox 10"/>
          <p:cNvSpPr txBox="1"/>
          <p:nvPr/>
        </p:nvSpPr>
        <p:spPr>
          <a:xfrm>
            <a:off x="3328964" y="2971800"/>
            <a:ext cx="2338394" cy="457200"/>
          </a:xfrm>
          <a:prstGeom prst="rect">
            <a:avLst/>
          </a:prstGeom>
          <a:noFill/>
        </p:spPr>
        <p:txBody>
          <a:bodyPr wrap="square" anchor="t" lIns="0" rIns="0" tIns="0" bIns="0">
            <a:spAutoFit/>
          </a:bodyPr>
          <a:lstStyle/>
          <a:p>
            <a:pPr algn="l">
              <a:lnSpc>
                <a:spcPct val="120000"/>
              </a:lnSpc>
              <a:spcAft>
                <a:spcPts val="0"/>
              </a:spcAft>
            </a:pPr>
            <a:r>
              <a:rPr sz="1400" b="1">
                <a:solidFill>
                  <a:srgbClr val="141413"/>
                </a:solidFill>
                <a:latin typeface="Helvetica Neue"/>
              </a:rPr>
              <a:t>Switch over</a:t>
            </a:r>
          </a:p>
        </p:txBody>
      </p:sp>
      <p:sp>
        <p:nvSpPr>
          <p:cNvPr id="12" name="TextBox 11"/>
          <p:cNvSpPr txBox="1"/>
          <p:nvPr/>
        </p:nvSpPr>
        <p:spPr>
          <a:xfrm>
            <a:off x="3328964" y="3566160"/>
            <a:ext cx="2246954" cy="2011680"/>
          </a:xfrm>
          <a:prstGeom prst="rect">
            <a:avLst/>
          </a:prstGeom>
          <a:noFill/>
        </p:spPr>
        <p:txBody>
          <a:bodyPr wrap="square" anchor="t" lIns="0" rIns="0" tIns="0" bIns="0">
            <a:spAutoFit/>
          </a:bodyPr>
          <a:lstStyle/>
          <a:p>
            <a:pPr algn="l">
              <a:lnSpc>
                <a:spcPct val="120000"/>
              </a:lnSpc>
              <a:spcAft>
                <a:spcPts val="0"/>
              </a:spcAft>
            </a:pPr>
            <a:r>
              <a:rPr sz="1050" b="0">
                <a:solidFill>
                  <a:srgbClr val="77736C"/>
                </a:solidFill>
                <a:latin typeface="Helvetica Neue"/>
              </a:rPr>
              <a:t>The office machine becomes the normal way Acon works. The outside service becomes optional.</a:t>
            </a:r>
          </a:p>
        </p:txBody>
      </p:sp>
      <p:sp>
        <p:nvSpPr>
          <p:cNvPr id="13" name="TextBox 12"/>
          <p:cNvSpPr txBox="1"/>
          <p:nvPr/>
        </p:nvSpPr>
        <p:spPr>
          <a:xfrm>
            <a:off x="5895959" y="2606040"/>
            <a:ext cx="2338394" cy="320040"/>
          </a:xfrm>
          <a:prstGeom prst="rect">
            <a:avLst/>
          </a:prstGeom>
          <a:noFill/>
        </p:spPr>
        <p:txBody>
          <a:bodyPr wrap="square" anchor="t" lIns="0" rIns="0" tIns="0" bIns="0">
            <a:spAutoFit/>
          </a:bodyPr>
          <a:lstStyle/>
          <a:p>
            <a:pPr algn="l">
              <a:lnSpc>
                <a:spcPct val="120000"/>
              </a:lnSpc>
              <a:spcAft>
                <a:spcPts val="0"/>
              </a:spcAft>
            </a:pPr>
            <a:r>
              <a:rPr sz="900" b="1">
                <a:solidFill>
                  <a:srgbClr val="0F766E"/>
                </a:solidFill>
                <a:latin typeface="Helvetica Neue"/>
              </a:rPr>
              <a:t>THEN</a:t>
            </a:r>
          </a:p>
        </p:txBody>
      </p:sp>
      <p:sp>
        <p:nvSpPr>
          <p:cNvPr id="14" name="TextBox 13"/>
          <p:cNvSpPr txBox="1"/>
          <p:nvPr/>
        </p:nvSpPr>
        <p:spPr>
          <a:xfrm>
            <a:off x="5895959" y="2971800"/>
            <a:ext cx="2338394" cy="457200"/>
          </a:xfrm>
          <a:prstGeom prst="rect">
            <a:avLst/>
          </a:prstGeom>
          <a:noFill/>
        </p:spPr>
        <p:txBody>
          <a:bodyPr wrap="square" anchor="t" lIns="0" rIns="0" tIns="0" bIns="0">
            <a:spAutoFit/>
          </a:bodyPr>
          <a:lstStyle/>
          <a:p>
            <a:pPr algn="l">
              <a:lnSpc>
                <a:spcPct val="120000"/>
              </a:lnSpc>
              <a:spcAft>
                <a:spcPts val="0"/>
              </a:spcAft>
            </a:pPr>
            <a:r>
              <a:rPr sz="1400" b="1">
                <a:solidFill>
                  <a:srgbClr val="141413"/>
                </a:solidFill>
                <a:latin typeface="Helvetica Neue"/>
              </a:rPr>
              <a:t>Sharpen</a:t>
            </a:r>
          </a:p>
        </p:txBody>
      </p:sp>
      <p:sp>
        <p:nvSpPr>
          <p:cNvPr id="15" name="TextBox 14"/>
          <p:cNvSpPr txBox="1"/>
          <p:nvPr/>
        </p:nvSpPr>
        <p:spPr>
          <a:xfrm>
            <a:off x="5895959" y="3566160"/>
            <a:ext cx="2246954" cy="2011680"/>
          </a:xfrm>
          <a:prstGeom prst="rect">
            <a:avLst/>
          </a:prstGeom>
          <a:noFill/>
        </p:spPr>
        <p:txBody>
          <a:bodyPr wrap="square" anchor="t" lIns="0" rIns="0" tIns="0" bIns="0">
            <a:spAutoFit/>
          </a:bodyPr>
          <a:lstStyle/>
          <a:p>
            <a:pPr algn="l">
              <a:lnSpc>
                <a:spcPct val="120000"/>
              </a:lnSpc>
              <a:spcAft>
                <a:spcPts val="0"/>
              </a:spcAft>
            </a:pPr>
            <a:r>
              <a:rPr sz="1050" b="0">
                <a:solidFill>
                  <a:srgbClr val="77736C"/>
                </a:solidFill>
                <a:latin typeface="Helvetica Neue"/>
              </a:rPr>
              <a:t>A larger model if the drawing tests call for it, with accuracy signed off by the modelling team.</a:t>
            </a:r>
          </a:p>
        </p:txBody>
      </p:sp>
      <p:sp>
        <p:nvSpPr>
          <p:cNvPr id="16" name="TextBox 15"/>
          <p:cNvSpPr txBox="1"/>
          <p:nvPr/>
        </p:nvSpPr>
        <p:spPr>
          <a:xfrm>
            <a:off x="8462954" y="2606040"/>
            <a:ext cx="2338394" cy="320040"/>
          </a:xfrm>
          <a:prstGeom prst="rect">
            <a:avLst/>
          </a:prstGeom>
          <a:noFill/>
        </p:spPr>
        <p:txBody>
          <a:bodyPr wrap="square" anchor="t" lIns="0" rIns="0" tIns="0" bIns="0">
            <a:spAutoFit/>
          </a:bodyPr>
          <a:lstStyle/>
          <a:p>
            <a:pPr algn="l">
              <a:lnSpc>
                <a:spcPct val="120000"/>
              </a:lnSpc>
              <a:spcAft>
                <a:spcPts val="0"/>
              </a:spcAft>
            </a:pPr>
            <a:r>
              <a:rPr sz="900" b="1">
                <a:solidFill>
                  <a:srgbClr val="0F766E"/>
                </a:solidFill>
                <a:latin typeface="Helvetica Neue"/>
              </a:rPr>
              <a:t>LATER</a:t>
            </a:r>
          </a:p>
        </p:txBody>
      </p:sp>
      <p:sp>
        <p:nvSpPr>
          <p:cNvPr id="17" name="TextBox 16"/>
          <p:cNvSpPr txBox="1"/>
          <p:nvPr/>
        </p:nvSpPr>
        <p:spPr>
          <a:xfrm>
            <a:off x="8462954" y="2971800"/>
            <a:ext cx="2338394" cy="457200"/>
          </a:xfrm>
          <a:prstGeom prst="rect">
            <a:avLst/>
          </a:prstGeom>
          <a:noFill/>
        </p:spPr>
        <p:txBody>
          <a:bodyPr wrap="square" anchor="t" lIns="0" rIns="0" tIns="0" bIns="0">
            <a:spAutoFit/>
          </a:bodyPr>
          <a:lstStyle/>
          <a:p>
            <a:pPr algn="l">
              <a:lnSpc>
                <a:spcPct val="120000"/>
              </a:lnSpc>
              <a:spcAft>
                <a:spcPts val="0"/>
              </a:spcAft>
            </a:pPr>
            <a:r>
              <a:rPr sz="1400" b="1">
                <a:solidFill>
                  <a:srgbClr val="141413"/>
                </a:solidFill>
                <a:latin typeface="Helvetica Neue"/>
              </a:rPr>
              <a:t>Grow</a:t>
            </a:r>
          </a:p>
        </p:txBody>
      </p:sp>
      <p:sp>
        <p:nvSpPr>
          <p:cNvPr id="18" name="TextBox 17"/>
          <p:cNvSpPr txBox="1"/>
          <p:nvPr/>
        </p:nvSpPr>
        <p:spPr>
          <a:xfrm>
            <a:off x="8462954" y="3566160"/>
            <a:ext cx="2246954" cy="2011680"/>
          </a:xfrm>
          <a:prstGeom prst="rect">
            <a:avLst/>
          </a:prstGeom>
          <a:noFill/>
        </p:spPr>
        <p:txBody>
          <a:bodyPr wrap="square" anchor="t" lIns="0" rIns="0" tIns="0" bIns="0">
            <a:spAutoFit/>
          </a:bodyPr>
          <a:lstStyle/>
          <a:p>
            <a:pPr algn="l">
              <a:lnSpc>
                <a:spcPct val="120000"/>
              </a:lnSpc>
              <a:spcAft>
                <a:spcPts val="0"/>
              </a:spcAft>
            </a:pPr>
            <a:r>
              <a:rPr sz="1050" b="0">
                <a:solidFill>
                  <a:srgbClr val="77736C"/>
                </a:solidFill>
                <a:latin typeface="Helvetica Neue"/>
              </a:rPr>
              <a:t>A second machine, or the same setup on a firm server, if demand grows. Nothing needs rewriting.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2ED"/>
        </a:solidFill>
        <a:effectLst/>
      </p:bgPr>
    </p:bg>
    <p:spTree>
      <p:nvGrpSpPr>
        <p:cNvPr id="1" name=""/>
        <p:cNvGrpSpPr/>
        <p:nvPr/>
      </p:nvGrpSpPr>
      <p:grpSpPr/>
      <p:sp>
        <p:nvSpPr>
          <p:cNvPr id="2" name="TextBox 1"/>
          <p:cNvSpPr txBox="1"/>
          <p:nvPr/>
        </p:nvSpPr>
        <p:spPr>
          <a:xfrm>
            <a:off x="761969" y="6291072"/>
            <a:ext cx="5334015" cy="274320"/>
          </a:xfrm>
          <a:prstGeom prst="rect">
            <a:avLst/>
          </a:prstGeom>
          <a:noFill/>
        </p:spPr>
        <p:txBody>
          <a:bodyPr wrap="square" anchor="t" lIns="0" rIns="0" tIns="0" bIns="0">
            <a:spAutoFit/>
          </a:bodyPr>
          <a:lstStyle/>
          <a:p>
            <a:pPr algn="l">
              <a:lnSpc>
                <a:spcPct val="120000"/>
              </a:lnSpc>
              <a:spcAft>
                <a:spcPts val="0"/>
              </a:spcAft>
            </a:pPr>
            <a:r>
              <a:rPr sz="850" b="0">
                <a:solidFill>
                  <a:srgbClr val="77736C"/>
                </a:solidFill>
                <a:latin typeface="Helvetica Neue"/>
              </a:rPr>
              <a:t>Acon x Dell Pro Max GB10</a:t>
            </a:r>
          </a:p>
        </p:txBody>
      </p:sp>
      <p:sp>
        <p:nvSpPr>
          <p:cNvPr id="3" name="TextBox 2"/>
          <p:cNvSpPr txBox="1"/>
          <p:nvPr/>
        </p:nvSpPr>
        <p:spPr>
          <a:xfrm>
            <a:off x="10096496" y="6291072"/>
            <a:ext cx="1333503" cy="274320"/>
          </a:xfrm>
          <a:prstGeom prst="rect">
            <a:avLst/>
          </a:prstGeom>
          <a:noFill/>
        </p:spPr>
        <p:txBody>
          <a:bodyPr wrap="square" anchor="t" lIns="0" rIns="0" tIns="0" bIns="0">
            <a:spAutoFit/>
          </a:bodyPr>
          <a:lstStyle/>
          <a:p>
            <a:pPr algn="r">
              <a:lnSpc>
                <a:spcPct val="120000"/>
              </a:lnSpc>
              <a:spcAft>
                <a:spcPts val="0"/>
              </a:spcAft>
            </a:pPr>
            <a:r>
              <a:rPr sz="850" b="0">
                <a:solidFill>
                  <a:srgbClr val="77736C"/>
                </a:solidFill>
                <a:latin typeface="Helvetica Neue"/>
              </a:rPr>
              <a:t>26</a:t>
            </a:r>
          </a:p>
        </p:txBody>
      </p:sp>
      <p:sp>
        <p:nvSpPr>
          <p:cNvPr id="4" name="TextBox 3"/>
          <p:cNvSpPr txBox="1"/>
          <p:nvPr/>
        </p:nvSpPr>
        <p:spPr>
          <a:xfrm>
            <a:off x="761969" y="761969"/>
            <a:ext cx="6667519" cy="274320"/>
          </a:xfrm>
          <a:prstGeom prst="rect">
            <a:avLst/>
          </a:prstGeom>
          <a:noFill/>
        </p:spPr>
        <p:txBody>
          <a:bodyPr wrap="square" anchor="t" lIns="0" rIns="0" tIns="0" bIns="0">
            <a:spAutoFit/>
          </a:bodyPr>
          <a:lstStyle/>
          <a:p>
            <a:pPr algn="l">
              <a:lnSpc>
                <a:spcPct val="120000"/>
              </a:lnSpc>
              <a:spcAft>
                <a:spcPts val="0"/>
              </a:spcAft>
            </a:pPr>
            <a:r>
              <a:rPr sz="950" b="1">
                <a:solidFill>
                  <a:srgbClr val="0F766E"/>
                </a:solidFill>
                <a:latin typeface="Helvetica Neue"/>
              </a:rPr>
              <a:t>06 — THE ASK</a:t>
            </a:r>
          </a:p>
        </p:txBody>
      </p:sp>
      <p:sp>
        <p:nvSpPr>
          <p:cNvPr id="5" name="TextBox 4"/>
          <p:cNvSpPr txBox="1"/>
          <p:nvPr/>
        </p:nvSpPr>
        <p:spPr>
          <a:xfrm>
            <a:off x="761969" y="1188720"/>
            <a:ext cx="7334270" cy="822960"/>
          </a:xfrm>
          <a:prstGeom prst="rect">
            <a:avLst/>
          </a:prstGeom>
          <a:noFill/>
        </p:spPr>
        <p:txBody>
          <a:bodyPr wrap="square" anchor="t" lIns="0" rIns="0" tIns="0" bIns="0">
            <a:spAutoFit/>
          </a:bodyPr>
          <a:lstStyle/>
          <a:p>
            <a:pPr algn="l">
              <a:lnSpc>
                <a:spcPct val="102000"/>
              </a:lnSpc>
              <a:spcAft>
                <a:spcPts val="0"/>
              </a:spcAft>
            </a:pPr>
            <a:r>
              <a:rPr sz="2600" b="1">
                <a:solidFill>
                  <a:srgbClr val="141413"/>
                </a:solidFill>
                <a:latin typeface="Helvetica Neue"/>
              </a:rPr>
              <a:t>What we need.</a:t>
            </a:r>
          </a:p>
        </p:txBody>
      </p:sp>
      <p:sp>
        <p:nvSpPr>
          <p:cNvPr id="6" name="Rectangle 5"/>
          <p:cNvSpPr/>
          <p:nvPr/>
        </p:nvSpPr>
        <p:spPr>
          <a:xfrm>
            <a:off x="761969" y="2468880"/>
            <a:ext cx="2190566" cy="201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1969" y="2697480"/>
            <a:ext cx="2117414" cy="457200"/>
          </a:xfrm>
          <a:prstGeom prst="rect">
            <a:avLst/>
          </a:prstGeom>
          <a:noFill/>
        </p:spPr>
        <p:txBody>
          <a:bodyPr wrap="square" anchor="t" lIns="0" rIns="0" tIns="0" bIns="0">
            <a:spAutoFit/>
          </a:bodyPr>
          <a:lstStyle/>
          <a:p>
            <a:pPr algn="l">
              <a:lnSpc>
                <a:spcPct val="120000"/>
              </a:lnSpc>
              <a:spcAft>
                <a:spcPts val="0"/>
              </a:spcAft>
            </a:pPr>
            <a:r>
              <a:rPr sz="1200" b="1">
                <a:solidFill>
                  <a:srgbClr val="141413"/>
                </a:solidFill>
                <a:latin typeface="Helvetica Neue"/>
              </a:rPr>
              <a:t>The machine</a:t>
            </a:r>
          </a:p>
        </p:txBody>
      </p:sp>
      <p:sp>
        <p:nvSpPr>
          <p:cNvPr id="8" name="TextBox 7"/>
          <p:cNvSpPr txBox="1"/>
          <p:nvPr/>
        </p:nvSpPr>
        <p:spPr>
          <a:xfrm>
            <a:off x="761969" y="3291840"/>
            <a:ext cx="2071694" cy="2194560"/>
          </a:xfrm>
          <a:prstGeom prst="rect">
            <a:avLst/>
          </a:prstGeom>
          <a:noFill/>
        </p:spPr>
        <p:txBody>
          <a:bodyPr wrap="square" anchor="t" lIns="0" rIns="0" tIns="0" bIns="0">
            <a:spAutoFit/>
          </a:bodyPr>
          <a:lstStyle/>
          <a:p>
            <a:pPr algn="l">
              <a:lnSpc>
                <a:spcPct val="120000"/>
              </a:lnSpc>
              <a:spcAft>
                <a:spcPts val="0"/>
              </a:spcAft>
            </a:pPr>
            <a:r>
              <a:rPr sz="1100" b="0">
                <a:solidFill>
                  <a:srgbClr val="77736C"/>
                </a:solidFill>
                <a:latin typeface="Helvetica Neue"/>
              </a:rPr>
              <a:t>One Dell Pro Max with GB10, connected to the office network.</a:t>
            </a:r>
          </a:p>
        </p:txBody>
      </p:sp>
      <p:sp>
        <p:nvSpPr>
          <p:cNvPr id="9" name="Rectangle 8"/>
          <p:cNvSpPr/>
          <p:nvPr/>
        </p:nvSpPr>
        <p:spPr>
          <a:xfrm>
            <a:off x="3222284" y="2468880"/>
            <a:ext cx="2190566" cy="201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22284" y="2697480"/>
            <a:ext cx="2117414" cy="457200"/>
          </a:xfrm>
          <a:prstGeom prst="rect">
            <a:avLst/>
          </a:prstGeom>
          <a:noFill/>
        </p:spPr>
        <p:txBody>
          <a:bodyPr wrap="square" anchor="t" lIns="0" rIns="0" tIns="0" bIns="0">
            <a:spAutoFit/>
          </a:bodyPr>
          <a:lstStyle/>
          <a:p>
            <a:pPr algn="l">
              <a:lnSpc>
                <a:spcPct val="120000"/>
              </a:lnSpc>
              <a:spcAft>
                <a:spcPts val="0"/>
              </a:spcAft>
            </a:pPr>
            <a:r>
              <a:rPr sz="1200" b="1">
                <a:solidFill>
                  <a:srgbClr val="141413"/>
                </a:solidFill>
                <a:latin typeface="Helvetica Neue"/>
              </a:rPr>
              <a:t>Setup time</a:t>
            </a:r>
          </a:p>
        </p:txBody>
      </p:sp>
      <p:sp>
        <p:nvSpPr>
          <p:cNvPr id="11" name="TextBox 10"/>
          <p:cNvSpPr txBox="1"/>
          <p:nvPr/>
        </p:nvSpPr>
        <p:spPr>
          <a:xfrm>
            <a:off x="3222284" y="3291840"/>
            <a:ext cx="2071694" cy="2194560"/>
          </a:xfrm>
          <a:prstGeom prst="rect">
            <a:avLst/>
          </a:prstGeom>
          <a:noFill/>
        </p:spPr>
        <p:txBody>
          <a:bodyPr wrap="square" anchor="t" lIns="0" rIns="0" tIns="0" bIns="0">
            <a:spAutoFit/>
          </a:bodyPr>
          <a:lstStyle/>
          <a:p>
            <a:pPr algn="l">
              <a:lnSpc>
                <a:spcPct val="120000"/>
              </a:lnSpc>
              <a:spcAft>
                <a:spcPts val="0"/>
              </a:spcAft>
            </a:pPr>
            <a:r>
              <a:rPr sz="1100" b="0">
                <a:solidFill>
                  <a:srgbClr val="77736C"/>
                </a:solidFill>
                <a:latin typeface="Helvetica Neue"/>
              </a:rPr>
              <a:t>A couple of days to install it and get the model running properly.</a:t>
            </a:r>
          </a:p>
        </p:txBody>
      </p:sp>
      <p:sp>
        <p:nvSpPr>
          <p:cNvPr id="12" name="Rectangle 11"/>
          <p:cNvSpPr/>
          <p:nvPr/>
        </p:nvSpPr>
        <p:spPr>
          <a:xfrm>
            <a:off x="5682598" y="2468880"/>
            <a:ext cx="2190566" cy="201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82598" y="2697480"/>
            <a:ext cx="2117414" cy="457200"/>
          </a:xfrm>
          <a:prstGeom prst="rect">
            <a:avLst/>
          </a:prstGeom>
          <a:noFill/>
        </p:spPr>
        <p:txBody>
          <a:bodyPr wrap="square" anchor="t" lIns="0" rIns="0" tIns="0" bIns="0">
            <a:spAutoFit/>
          </a:bodyPr>
          <a:lstStyle/>
          <a:p>
            <a:pPr algn="l">
              <a:lnSpc>
                <a:spcPct val="120000"/>
              </a:lnSpc>
              <a:spcAft>
                <a:spcPts val="0"/>
              </a:spcAft>
            </a:pPr>
            <a:r>
              <a:rPr sz="1200" b="1">
                <a:solidFill>
                  <a:srgbClr val="141413"/>
                </a:solidFill>
                <a:latin typeface="Helvetica Neue"/>
              </a:rPr>
              <a:t>Drawings to test with</a:t>
            </a:r>
          </a:p>
        </p:txBody>
      </p:sp>
      <p:sp>
        <p:nvSpPr>
          <p:cNvPr id="14" name="TextBox 13"/>
          <p:cNvSpPr txBox="1"/>
          <p:nvPr/>
        </p:nvSpPr>
        <p:spPr>
          <a:xfrm>
            <a:off x="5682598" y="3291840"/>
            <a:ext cx="2071694" cy="2194560"/>
          </a:xfrm>
          <a:prstGeom prst="rect">
            <a:avLst/>
          </a:prstGeom>
          <a:noFill/>
        </p:spPr>
        <p:txBody>
          <a:bodyPr wrap="square" anchor="t" lIns="0" rIns="0" tIns="0" bIns="0">
            <a:spAutoFit/>
          </a:bodyPr>
          <a:lstStyle/>
          <a:p>
            <a:pPr algn="l">
              <a:lnSpc>
                <a:spcPct val="120000"/>
              </a:lnSpc>
              <a:spcAft>
                <a:spcPts val="0"/>
              </a:spcAft>
            </a:pPr>
            <a:r>
              <a:rPr sz="1100" b="0">
                <a:solidFill>
                  <a:srgbClr val="77736C"/>
                </a:solidFill>
                <a:latin typeface="Helvetica Neue"/>
              </a:rPr>
              <a:t>Around ten real sets, already checked by hand, cleared for internal use.</a:t>
            </a:r>
          </a:p>
        </p:txBody>
      </p:sp>
      <p:sp>
        <p:nvSpPr>
          <p:cNvPr id="15" name="Rectangle 14"/>
          <p:cNvSpPr/>
          <p:nvPr/>
        </p:nvSpPr>
        <p:spPr>
          <a:xfrm>
            <a:off x="8142913" y="2468880"/>
            <a:ext cx="2190566" cy="201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42913" y="2697480"/>
            <a:ext cx="2117414" cy="457200"/>
          </a:xfrm>
          <a:prstGeom prst="rect">
            <a:avLst/>
          </a:prstGeom>
          <a:noFill/>
        </p:spPr>
        <p:txBody>
          <a:bodyPr wrap="square" anchor="t" lIns="0" rIns="0" tIns="0" bIns="0">
            <a:spAutoFit/>
          </a:bodyPr>
          <a:lstStyle/>
          <a:p>
            <a:pPr algn="l">
              <a:lnSpc>
                <a:spcPct val="120000"/>
              </a:lnSpc>
              <a:spcAft>
                <a:spcPts val="0"/>
              </a:spcAft>
            </a:pPr>
            <a:r>
              <a:rPr sz="1200" b="1">
                <a:solidFill>
                  <a:srgbClr val="141413"/>
                </a:solidFill>
                <a:latin typeface="Helvetica Neue"/>
              </a:rPr>
              <a:t>A decision</a:t>
            </a:r>
          </a:p>
        </p:txBody>
      </p:sp>
      <p:sp>
        <p:nvSpPr>
          <p:cNvPr id="17" name="TextBox 16"/>
          <p:cNvSpPr txBox="1"/>
          <p:nvPr/>
        </p:nvSpPr>
        <p:spPr>
          <a:xfrm>
            <a:off x="8142913" y="3291840"/>
            <a:ext cx="2071694" cy="2194560"/>
          </a:xfrm>
          <a:prstGeom prst="rect">
            <a:avLst/>
          </a:prstGeom>
          <a:noFill/>
        </p:spPr>
        <p:txBody>
          <a:bodyPr wrap="square" anchor="t" lIns="0" rIns="0" tIns="0" bIns="0">
            <a:spAutoFit/>
          </a:bodyPr>
          <a:lstStyle/>
          <a:p>
            <a:pPr algn="l">
              <a:lnSpc>
                <a:spcPct val="120000"/>
              </a:lnSpc>
              <a:spcAft>
                <a:spcPts val="0"/>
              </a:spcAft>
            </a:pPr>
            <a:r>
              <a:rPr sz="1100" b="0">
                <a:solidFill>
                  <a:srgbClr val="77736C"/>
                </a:solidFill>
                <a:latin typeface="Helvetica Neue"/>
              </a:rPr>
              <a:t>Approval to make the office machine the normal way this runs, and retire the outside service.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41413"/>
        </a:solidFill>
        <a:effectLst/>
      </p:bgPr>
    </p:bg>
    <p:spTree>
      <p:nvGrpSpPr>
        <p:cNvPr id="1" name=""/>
        <p:cNvGrpSpPr/>
        <p:nvPr/>
      </p:nvGrpSpPr>
      <p:grpSpPr/>
      <p:sp>
        <p:nvSpPr>
          <p:cNvPr id="2" name="TextBox 1"/>
          <p:cNvSpPr txBox="1"/>
          <p:nvPr/>
        </p:nvSpPr>
        <p:spPr>
          <a:xfrm>
            <a:off x="761969" y="2468880"/>
            <a:ext cx="8001022" cy="1280160"/>
          </a:xfrm>
          <a:prstGeom prst="rect">
            <a:avLst/>
          </a:prstGeom>
          <a:noFill/>
        </p:spPr>
        <p:txBody>
          <a:bodyPr wrap="square" anchor="t" lIns="0" rIns="0" tIns="0" bIns="0">
            <a:spAutoFit/>
          </a:bodyPr>
          <a:lstStyle/>
          <a:p>
            <a:pPr algn="l">
              <a:lnSpc>
                <a:spcPct val="102000"/>
              </a:lnSpc>
              <a:spcAft>
                <a:spcPts val="0"/>
              </a:spcAft>
            </a:pPr>
            <a:r>
              <a:rPr sz="5800" b="1">
                <a:solidFill>
                  <a:srgbClr val="F4F2ED"/>
                </a:solidFill>
                <a:latin typeface="Helvetica Neue"/>
              </a:rPr>
              <a:t>In-house.</a:t>
            </a:r>
          </a:p>
        </p:txBody>
      </p:sp>
      <p:sp>
        <p:nvSpPr>
          <p:cNvPr id="3" name="Rectangle 2"/>
          <p:cNvSpPr/>
          <p:nvPr/>
        </p:nvSpPr>
        <p:spPr>
          <a:xfrm>
            <a:off x="761969" y="3977639"/>
            <a:ext cx="1600204" cy="2743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1969" y="4297680"/>
            <a:ext cx="8001022" cy="731520"/>
          </a:xfrm>
          <a:prstGeom prst="rect">
            <a:avLst/>
          </a:prstGeom>
          <a:noFill/>
        </p:spPr>
        <p:txBody>
          <a:bodyPr wrap="square" anchor="t" lIns="0" rIns="0" tIns="0" bIns="0">
            <a:spAutoFit/>
          </a:bodyPr>
          <a:lstStyle/>
          <a:p>
            <a:pPr algn="l">
              <a:lnSpc>
                <a:spcPct val="120000"/>
              </a:lnSpc>
              <a:spcAft>
                <a:spcPts val="0"/>
              </a:spcAft>
            </a:pPr>
            <a:r>
              <a:rPr sz="1250" b="0">
                <a:solidFill>
                  <a:srgbClr val="A9A59C"/>
                </a:solidFill>
                <a:latin typeface="Helvetica Neue"/>
              </a:rPr>
              <a:t>Acon — automatic building generation on our own hardware. Nothing leaves the office.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